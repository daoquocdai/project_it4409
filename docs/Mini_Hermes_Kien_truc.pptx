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giới thiệu Mini-Hermes, ứng dụng chat web gồm chat nhóm realtime và chat 1-1 mã hóa đầu cuối. Em đi từ phạm vi và công nghệ tới kiến trúc tổng thể, dữ liệu, xác thực, rồi theo dõi một tin nhắn qua bước lưu và phát realtime. Sau đó em giải thích X3DH để tạo khóa phiên và phần E2EE và cách mở lại lịch sử trên máy mới, trước khi demo và trao đổi các đánh đổi.</a:t>
            </a:r>
          </a:p>
          <a:p>
            <a:endParaRPr/>
          </a:p>
          <a:p>
            <a:r>
              <a:t>Phần chính có 17 slide, dự kiến khoảng 19–24 phút, gồm một demo ngắn. Năm slide phụ lục dùng khi mentor hỏi sâu về membership, unread, nhiều gateway hoặc lý do chọn Redis. Nếu thời gian ngắn hơn, em giải thích sơ lược phần phân tầng và dữ liệu, dành thời gian cho luồng gửi tin, E2EE và demo.</a:t>
            </a:r>
          </a:p>
          <a:p>
            <a:endParaRPr/>
          </a:p>
          <a:p>
            <a:r>
              <a:t>Phạm vi kiến trúc phản ánh commit ghi trên slide. Phần triển khai Windows và Cloudflare Tunnel mô tả môi trường demo đã cấu hình riêng, còn repo chứa cấu hình local mẫu.</a:t>
            </a:r>
          </a:p>
          <a:p>
            <a:endParaRPr/>
          </a:p>
          <a:p>
            <a:r>
              <a:t>Nguồn:</a:t>
            </a:r>
          </a:p>
          <a:p>
            <a:r>
              <a:t>https://github.com/daoquocdai/chat-api/blob/580c4595042c7f766381a89660242e8ff4912d06/README.md</a:t>
            </a:r>
          </a:p>
          <a:p>
            <a:r>
              <a:t>https://github.com/daoquocdai/chat-api/blob/580c4595042c7f766381a89660242e8ff4912d06/docs/project-flows.md</a:t>
            </a:r>
          </a:p>
          <a:p>
            <a:r>
              <a:t>https://github.com/daoquocdai/chat-api/blob/580c4595042c7f766381a89660242e8ff4912d06/docs/adr/001-gateway-and-stream.md</a:t>
            </a:r>
          </a:p>
          <a:p>
            <a:r>
              <a:t>https://github.com/daoquocdai/chat-api/blob/580c4595042c7f766381a89660242e8ff4912d06/docs/adr/005-recoverable-e2ee-sessions.md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Bài toán không dừng ở việc A gửi một chuỗi sang B. Ứng dụng cần lưu lịch sử, hỗ trợ nhiều tab, xử lý kết nối gián đoạn và giới hạn ai được đọc tin nhóm. Với chat 1-1, nội dung cần được mã hóa trước khi rời browser, đồng thời người dùng đăng nhập bằng mật khẩu trên profile mới vẫn mở được lịch sử.</a:t>
            </a:r>
          </a:p>
          <a:p>
            <a:endParaRPr/>
          </a:p>
          <a:p>
            <a:r>
              <a:t>Nhóm hiện giới hạn 100 người và lưu plaintext. Admin quản lý thành viên, thành viên có thể rời nhóm. Direct bắt buộc e2ee_v2. Text và system message cùng dùng sequence của thread. Từ các yêu cầu này, em chọn transaction PostgreSQL để giữ dữ liệu nhất quán, Redis Stream và gateway để phát realtime, và Go/WASM cho crypto tại client.</a:t>
            </a:r>
          </a:p>
          <a:p>
            <a:endParaRPr/>
          </a:p>
          <a:p>
            <a:r>
              <a:t>Một bản tin đã lưu có thể đi qua HTTP, WebSocket và REST history. Client gộp theo UUID nên người dùng chỉ thấy một bản. Tuyên bố này nói về định danh và hiển thị, không cam kết exactly-once trên đường truyền.</a:t>
            </a:r>
          </a:p>
          <a:p>
            <a:endParaRPr/>
          </a:p>
          <a:p>
            <a:r>
              <a:t>Nguồn:</a:t>
            </a:r>
          </a:p>
          <a:p>
            <a:r>
              <a:t>https://github.com/daoquocdai/chat-api/blob/580c4595042c7f766381a89660242e8ff4912d06/internal/route/router.go</a:t>
            </a:r>
          </a:p>
          <a:p>
            <a:r>
              <a:t>https://github.com/daoquocdai/chat-api/blob/580c4595042c7f766381a89660242e8ff4912d06/internal/module/thread/service/groups.go</a:t>
            </a:r>
          </a:p>
          <a:p>
            <a:r>
              <a:t>https://github.com/daoquocdai/chat-api/blob/580c4595042c7f766381a89660242e8ff4912d06/internal/module/message/repository/postgres.go</a:t>
            </a:r>
          </a:p>
          <a:p>
            <a:r>
              <a:t>https://github.com/daoquocdai/chat-api/blob/580c4595042c7f766381a89660242e8ff4912d06/web/app.js</a:t>
            </a:r>
          </a:p>
          <a:p>
            <a:r>
              <a:t>https://github.com/daoquocdai/chat-api/blob/580c4595042c7f766381a89660242e8ff4912d06/docs/project-flows.md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 là ngôn ngữ của API, gateway và phần crypto dùng ở browser sau khi build WASM. Gin xử lý routing, middleware và HTTP JSON của chat-api. Gateway dùng net/http và coder/websocket, không dùng Gin. Goroutine và channel hỗ trợ vòng đọc event, queue từng socket và vòng ghi riêng. Không có số liệu benchmark để suy ra tốc độ chỉ từ lựa chọn ngôn ngữ.</a:t>
            </a:r>
          </a:p>
          <a:p>
            <a:endParaRPr/>
          </a:p>
          <a:p>
            <a:r>
              <a:t>PostgreSQL giữ dữ liệu nguồn, quan hệ và transaction. pgx là driver và pool, sqlc sinh Go có kiểu từ SQL viết tay, goose quản lý migration. Compose dùng postgres:16-alpine và redis:7-alpine. Redis có ba vai trò riêng: Stream nối API với gateway, ticket ngắn hạn có TTL và GETDEL, cùng cache snapshot thành viên. Chọn Stream vì gateway cần pending và ACK, thay vì chỉ nhận các bản phát đang online của Pub/Sub. Phụ lục D giải thích sâu hơn.</a:t>
            </a:r>
          </a:p>
          <a:p>
            <a:endParaRPr/>
          </a:p>
          <a:p>
            <a:r>
              <a:t>WebSocket là giao thức phát event tới browser, còn request gửi tin và đọc lịch sử dùng REST. JavaScript xử lý UI, HTTP, WebSocket và đồng bộ cache. Go/WASM xử lý KDF, khóa và mã hóa/giải mã ngay trong browser. API phục vụ file WASM giống các file frontend khác. Việc tải file từ API không làm crypto chạy tại server.</a:t>
            </a:r>
          </a:p>
          <a:p>
            <a:endParaRPr/>
          </a:p>
          <a:p>
            <a:r>
              <a:t>X25519 phục vụ thỏa thuận bí mật trong bước X3DH. HKDF-SHA256 dẫn xuất các khóa theo nhãn và context. AES-256-GCM mã hóa có xác thực. Argon2id xử lý mật khẩu trước khi tách credential và VK. JWT HS256 xác thực HTTP, bcrypt bảo vệ credential ở server. Dùng go.mau.fi/libsignal ở thao tác chữ ký prekey không có nghĩa dự án triển khai toàn bộ Signal Protocol. Make gom các lệnh chạy, build WASM, test và migration.</a:t>
            </a:r>
          </a:p>
          <a:p>
            <a:endParaRPr/>
          </a:p>
          <a:p>
            <a:r>
              <a:t>Nguồn:</a:t>
            </a:r>
          </a:p>
          <a:p>
            <a:r>
              <a:t>https://github.com/daoquocdai/chat-api/blob/580c4595042c7f766381a89660242e8ff4912d06/go.mod</a:t>
            </a:r>
          </a:p>
          <a:p>
            <a:r>
              <a:t>https://github.com/daoquocdai/chat-api/blob/580c4595042c7f766381a89660242e8ff4912d06/docker-compose.yml</a:t>
            </a:r>
          </a:p>
          <a:p>
            <a:r>
              <a:t>https://github.com/daoquocdai/chat-api/blob/580c4595042c7f766381a89660242e8ff4912d06/Makefile</a:t>
            </a:r>
          </a:p>
          <a:p>
            <a:r>
              <a:t>https://github.com/daoquocdai/chat-api/blob/580c4595042c7f766381a89660242e8ff4912d06/sqlc.yaml</a:t>
            </a:r>
          </a:p>
          <a:p>
            <a:r>
              <a:t>https://github.com/daoquocdai/chat-api/blob/580c4595042c7f766381a89660242e8ff4912d06/cmd/main.go</a:t>
            </a:r>
          </a:p>
          <a:p>
            <a:r>
              <a:t>https://github.com/daoquocdai/chat-api/blob/580c4595042c7f766381a89660242e8ff4912d06/cmd/ws-gateway/main.go</a:t>
            </a:r>
          </a:p>
          <a:p>
            <a:r>
              <a:t>https://github.com/daoquocdai/chat-api/blob/580c4595042c7f766381a89660242e8ff4912d06/internal/e2ee/account.go</a:t>
            </a:r>
          </a:p>
          <a:p>
            <a:r>
              <a:t>https://github.com/daoquocdai/chat-api/blob/580c4595042c7f766381a89660242e8ff4912d06/internal/e2ee/messages.go</a:t>
            </a:r>
          </a:p>
          <a:p>
            <a:r>
              <a:t>https://github.com/daoquocdai/chat-api/blob/580c4595042c7f766381a89660242e8ff4912d06/internal/token/jwt.go</a:t>
            </a:r>
          </a:p>
          <a:p>
            <a:r>
              <a:t>https://github.com/daoquocdai/chat-api/blob/580c4595042c7f766381a89660242e8ff4912d06/internal/route/router.go</a:t>
            </a:r>
          </a:p>
          <a:p>
            <a:r>
              <a:t>https://redis.io/docs/latest/commands/xreadgroup/</a:t>
            </a:r>
          </a:p>
          <a:p>
            <a:r>
              <a:t>https://redis.io/docs/latest/develop/pubsub/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tách hai loại công việc có vòng đời khác nhau. chat-api nhận request HTTP, kiểm tra nghiệp vụ và thực hiện transaction ngắn. ws-gateway giữ các kết nối WebSocket dài hạn, đọc event và phát tới các socket. Gateway không truy vấn PostgreSQL.</a:t>
            </a:r>
          </a:p>
          <a:p>
            <a:endParaRPr/>
          </a:p>
          <a:p>
            <a:r>
              <a:t>Browser gửi và tải lịch sử bằng HTTP. Khi lưu xong, API phát message.created qua Redis Stream. Gateway đọc event bằng XREADGROUP, tìm các kết nối trong Hub theo user UUID và đưa dữ liệu vào queue. Một user có thể có nhiều tab hoặc thiết bị, bao gồm cả người gửi.</a:t>
            </a:r>
          </a:p>
          <a:p>
            <a:endParaRPr/>
          </a:p>
          <a:p>
            <a:r>
              <a:t>Redis còn giữ vé WebSocket một lần và cache snapshot thành viên. PostgreSQL giữ lịch sử có thể dùng để lấy bù khi realtime gián đoạn. Trong thiết kế hiện tại direct bắt buộc e2ee_v2, nhóm dùng plaintext.</a:t>
            </a:r>
          </a:p>
          <a:p>
            <a:endParaRPr/>
          </a:p>
          <a:p>
            <a:r>
              <a:t>Nếu mentor hỏi có phải CQRS đầy đủ: em tách đường ghi HTTP và đường phát realtime, còn API đọc/ghi vẫn dùng chung PostgreSQL. Hai tiến trình chưa đồng nghĩa với đã hỗ trợ scale gateway nhiều instance.</a:t>
            </a:r>
          </a:p>
          <a:p>
            <a:endParaRPr/>
          </a:p>
          <a:p>
            <a:r>
              <a:t>PostgreSQL là nguồn dữ liệu và lịch sử. Giới hạn nhóm 100 người là phạm vi triển khai hiện tại, chưa có số liệu tải để suy rộng tới nhóm lớn hơn.</a:t>
            </a:r>
          </a:p>
          <a:p>
            <a:endParaRPr/>
          </a:p>
          <a:p>
            <a:r>
              <a:t>Code và quyết định thiết kế:</a:t>
            </a:r>
          </a:p>
          <a:p>
            <a:r>
              <a:t>https://github.com/daoquocdai/chat-api/blob/580c4595042c7f766381a89660242e8ff4912d06/cmd/main.go</a:t>
            </a:r>
          </a:p>
          <a:p>
            <a:r>
              <a:t>https://github.com/daoquocdai/chat-api/blob/580c4595042c7f766381a89660242e8ff4912d06/cmd/ws-gateway/main.go</a:t>
            </a:r>
          </a:p>
          <a:p>
            <a:r>
              <a:t>https://github.com/daoquocdai/chat-api/blob/580c4595042c7f766381a89660242e8ff4912d06/internal/gateway/hub.go</a:t>
            </a:r>
          </a:p>
          <a:p>
            <a:r>
              <a:t>https://github.com/daoquocdai/chat-api/blob/580c4595042c7f766381a89660242e8ff4912d06/internal/route/router.go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request đi vào, handler chỉ xử lý giao thức: đọc body, lấy actor từ middleware, gọi service, rồi chuyển kết quả hoặc lỗi thành response. Service không import Gin. Service biết quy tắc như định dạng nội dung, giới hạn độ dài và việc publish sau khi repository hoàn tất.</a:t>
            </a:r>
          </a:p>
          <a:p>
            <a:endParaRPr/>
          </a:p>
          <a:p>
            <a:r>
              <a:t>Repository làm việc với PostgreSQL qua pgx và sqlc. Những quy tắc phụ thuộc trạng thái đồng thời, ví dụ membership đang active và tăng sequence, được kiểm tra trong transaction ở repository. Nhờ interface, service có thể được kiểm thử bằng dependency giả mà không cần HTTP hoặc database thật.</a:t>
            </a:r>
          </a:p>
          <a:p>
            <a:endParaRPr/>
          </a:p>
          <a:p>
            <a:r>
              <a:t>Em chọn PostgreSQL vì bài toán cần transaction nhiều bước, row lock để cấp thứ tự, quan hệ membership và các ràng buộc duy nhất. Đây là lý do phù hợp với dự án, không phải khẳng định mọi DB khác đều kém hơn. sqlc giữ SQL rõ ràng và sinh kiểu Go, goose quản lý migration. Redis Streams giữ event và trạng thái consumer/pending phục vụ phát lại.</a:t>
            </a:r>
          </a:p>
          <a:p>
            <a:endParaRPr/>
          </a:p>
          <a:p>
            <a:r>
              <a:t>main tạo pool, service, repository, publisher và handler rồi đăng ký router. Các module chính là user, thread, message và E2EE. Crypto Go trong internal/e2ee được build thành WASM để chạy tại browser. Server cũng dùng parser/validator của package này cho dữ liệu công khai, không lấy được khóa giải mã từ việc dùng chung package.</a:t>
            </a:r>
          </a:p>
          <a:p>
            <a:endParaRPr/>
          </a:p>
          <a:p>
            <a:r>
              <a:t>Code và quyết định thiết kế:</a:t>
            </a:r>
          </a:p>
          <a:p>
            <a:r>
              <a:t>https://github.com/daoquocdai/chat-api/blob/580c4595042c7f766381a89660242e8ff4912d06/cmd/main.go</a:t>
            </a:r>
          </a:p>
          <a:p>
            <a:r>
              <a:t>https://github.com/daoquocdai/chat-api/blob/580c4595042c7f766381a89660242e8ff4912d06/internal/module/message/handler/handler.go</a:t>
            </a:r>
          </a:p>
          <a:p>
            <a:r>
              <a:t>https://github.com/daoquocdai/chat-api/blob/580c4595042c7f766381a89660242e8ff4912d06/internal/module/message/service/service.go</a:t>
            </a:r>
          </a:p>
          <a:p>
            <a:r>
              <a:t>https://github.com/daoquocdai/chat-api/blob/580c4595042c7f766381a89660242e8ff4912d06/internal/module/message/repository/postgres.go</a:t>
            </a:r>
          </a:p>
          <a:p>
            <a:r>
              <a:t>https://github.com/daoquocdai/chat-api/blob/580c4595042c7f766381a89660242e8ff4912d06/db/queries/messages.sql</a:t>
            </a:r>
          </a:p>
          <a:p>
            <a:r>
              <a:t>https://github.com/daoquocdai/chat-api/blob/580c4595042c7f766381a89660242e8ff4912d06/go.mod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Bốn bảng này mô tả nghiệp vụ chat. users là tài khoản. threads là cuộc trò chuyện và giữ last_seq. messages lưu tin text hoặc system, cùng sender và sequence. participants là bảng liên kết user với thread, đồng thời lưu role, khoảng được đọc và read marker.</a:t>
            </a:r>
          </a:p>
          <a:p>
            <a:endParaRPr/>
          </a:p>
          <a:p>
            <a:r>
              <a:t>Điểm đáng chú ý là một user có thể có nhiều dòng participants cho cùng thread khi rời rồi tham gia lại. Mỗi dòng giữ joined_seq và left_seq của lần tham gia đó. Partial unique chỉ cho phép một lần tham gia active. API lịch sử đọc hợp của các khoảng user từng ở trong nhóm.</a:t>
            </a:r>
          </a:p>
          <a:p>
            <a:endParaRPr/>
          </a:p>
          <a:p>
            <a:r>
              <a:t>UUID tin text do client tạo là khóa idempotency. PostgreSQL tự tạo UUID cho system message. UNIQUE(thread_id, seq) bảo vệ số thứ tự trong từng thread. BIGINT là ID nội bộ để join và làm FK, external_id là UUID cho API.</a:t>
            </a:r>
          </a:p>
          <a:p>
            <a:endParaRPr/>
          </a:p>
          <a:p>
            <a:r>
              <a:t>Schema đầy đủ có bảy bảng: thêm prekeys, e2ee_epochs và e2ee_epoch_backups. Vault tài khoản nằm trong users, bootstrap nằm ở epoch và backup SK nằm ở bảng backup riêng cho mỗi user.</a:t>
            </a:r>
          </a:p>
          <a:p>
            <a:endParaRPr/>
          </a:p>
          <a:p>
            <a:r>
              <a:t>Direct không còn cột direct_user_low_id/direct_user_high_id hay unique index cho cặp user. Đường CreateOrGetDirect khóa hai user theo thứ tự ID tăng dần, tra participants rồi mới tạo. Vì vậy chống trùng cặp hiện nằm ở đường ghi này. Quy tắc direct có đúng hai người và format tương ứng nằm trong runtime, không nên nói mọi quy tắc đều do CHECK của DB bảo đảm.</a:t>
            </a:r>
          </a:p>
          <a:p>
            <a:endParaRPr/>
          </a:p>
          <a:p>
            <a:r>
              <a:t>Code và quyết định thiết kế:</a:t>
            </a:r>
          </a:p>
          <a:p>
            <a:r>
              <a:t>https://github.com/daoquocdai/chat-api/blob/580c4595042c7f766381a89660242e8ff4912d06/docs/chat-api-erd.md</a:t>
            </a:r>
          </a:p>
          <a:p>
            <a:r>
              <a:t>https://github.com/daoquocdai/chat-api/blob/580c4595042c7f766381a89660242e8ff4912d06/db/migrations/20260924090000_create_direct_chat_schema.sql</a:t>
            </a:r>
          </a:p>
          <a:p>
            <a:r>
              <a:t>https://github.com/daoquocdai/chat-api/blob/580c4595042c7f766381a89660242e8ff4912d06/db/migrations/20261009100000_recoverable_e2ee.sql</a:t>
            </a:r>
          </a:p>
          <a:p>
            <a:r>
              <a:t>https://github.com/daoquocdai/chat-api/blob/580c4595042c7f766381a89660242e8ff4912d06/db/queries/threads.sql</a:t>
            </a:r>
          </a:p>
          <a:p>
            <a:r>
              <a:t>https://github.com/daoquocdai/chat-api/blob/580c4595042c7f766381a89660242e8ff4912d06/internal/module/thread/repository/postgres.go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JWT xác thực các request HTTP. Nó không phải khóa mã hóa và không dùng để mở vault. Actor là UUID trong sub, middleware xác minh token trước khi đưa request vào handler.</a:t>
            </a:r>
          </a:p>
          <a:p>
            <a:endParaRPr/>
          </a:p>
          <a:p>
            <a:r>
              <a:t>Browser WebSocket API không có tham số để đặt tùy ý Authorization header, nên web dùng vé ngắn hạn. Browser xin vé qua POST /auth/ws-ticket bằng JWT. Server sinh 32 byte ngẫu nhiên, lưu Redis bằng SETNX với TTL cấu hình, mặc định 30 giây.</a:t>
            </a:r>
          </a:p>
          <a:p>
            <a:endParaRPr/>
          </a:p>
          <a:p>
            <a:r>
              <a:t>Browser đưa vé vào URL của GET /ws. Gateway GETDEL để lấy owner và xóa vé trong cùng thao tác Redis. Vé đã dùng hoặc hết hạn không dùng lại được. Mỗi lần reconnect xin vé mới. Client ngoài browser có thể dùng Bearer JWT trong header theo code hiện tại.</a:t>
            </a:r>
          </a:p>
          <a:p>
            <a:endParaRPr/>
          </a:p>
          <a:p>
            <a:r>
              <a:t>Gateway kiểm tra origin theo cấu hình. Môi trường ngoài localhost cần HTTPS/WSS. Vé có thể xuất hiện trong URL/log nên cần giữ thời gian sống ngắn và tránh ghi thông tin nhạy cảm vào log khi triển khai. Sau kết nối, heartbeat và reconnect phục vụ phát hiện đứt kết nối, còn việc lấy bù tin vẫn qua REST.</a:t>
            </a:r>
          </a:p>
          <a:p>
            <a:endParaRPr/>
          </a:p>
          <a:p>
            <a:r>
              <a:t>Code và quyết định thiết kế:</a:t>
            </a:r>
          </a:p>
          <a:p>
            <a:r>
              <a:t>https://github.com/daoquocdai/chat-api/blob/580c4595042c7f766381a89660242e8ff4912d06/internal/wsticket/service.go</a:t>
            </a:r>
          </a:p>
          <a:p>
            <a:r>
              <a:t>https://github.com/daoquocdai/chat-api/blob/580c4595042c7f766381a89660242e8ff4912d06/internal/wsticket/redis.go</a:t>
            </a:r>
          </a:p>
          <a:p>
            <a:r>
              <a:t>https://github.com/daoquocdai/chat-api/blob/580c4595042c7f766381a89660242e8ff4912d06/internal/gateway/handler.go</a:t>
            </a:r>
          </a:p>
          <a:p>
            <a:r>
              <a:t>https://github.com/daoquocdai/chat-api/blob/580c4595042c7f766381a89660242e8ff4912d06/web/app.js</a:t>
            </a:r>
          </a:p>
          <a:p>
            <a:r>
              <a:t>https://github.com/daoquocdai/chat-api/blob/580c4595042c7f766381a89660242e8ff4912d06/internal/route/router.go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Trước hết middleware xác thực JWT và handler lấy actor đã xác thực. Service chuẩn hóa, kiểm tra payload, rồi repository mở transaction. Repository dùng FOR UPDATE trên thread và kiểm tra lại membership sau khi đã lấy được khóa. Kiểm tra lại này xử lý trường hợp thành viên bị xóa trong lúc request đang chờ khóa.</a:t>
            </a:r>
          </a:p>
          <a:p>
            <a:endParaRPr/>
          </a:p>
          <a:p>
            <a:r>
              <a:t>Nếu UUID đã tồn tại và đúng thread, sender, kind, format, content, repository trả tin cũ. Nếu là tin mới, server tăng last_seq và insert message trong cùng transaction. Nếu insert lỗi thì cả tăng sequence và insert rollback.</a:t>
            </a:r>
          </a:p>
          <a:p>
            <a:endParaRPr/>
          </a:p>
          <a:p>
            <a:r>
              <a:t>Với hai tin mới khác UUID được gửi đồng thời, các transaction trong một thread chờ cùng row lock. Request lấy khóa trước và commit thành công có seq nhỏ hơn. Đây không phải thứ tự toàn cục hoặc thứ tự thời gian tuyệt đối lúc người dùng bấm gửi. Text và system message cùng dùng sequence này.</a:t>
            </a:r>
          </a:p>
          <a:p>
            <a:endParaRPr/>
          </a:p>
          <a:p>
            <a:r>
              <a:t>Sau khi pgx.BeginFunc hoàn tất commit, service mới lấy snapshot recipient và publish. Nếu publish trước commit rồi DB rollback, browser có thể hiển thị một tin không tồn tại trong lịch sử.</a:t>
            </a:r>
          </a:p>
          <a:p>
            <a:endParaRPr/>
          </a:p>
          <a:p>
            <a:r>
              <a:t>Publish diễn ra ngoài transaction nên event seq=8 có thể đến trước seq=7. Client gộp và sắp theo seq, lấy bù khi thấy gap. Hai client có thể tạm có tập tin khác nhau, nhưng với cùng tập tin thì cùng thứ tự theo seq. HTTP response và WebSocket cũng có thể đến theo thứ tự khác nhau.</a:t>
            </a:r>
          </a:p>
          <a:p>
            <a:endParaRPr/>
          </a:p>
          <a:p>
            <a:r>
              <a:t>Khi publish thành công, API trả HTTP response chứa UUID và seq đã lưu. Gateway phát WebSocket song song với việc trả response. Người gửi có thể nhận cùng m1 từ cả hai nguồn nên client gộp theo UUID.</a:t>
            </a:r>
          </a:p>
          <a:p>
            <a:endParaRPr/>
          </a:p>
          <a:p>
            <a:r>
              <a:t>Code và quyết định thiết kế:</a:t>
            </a:r>
          </a:p>
          <a:p>
            <a:r>
              <a:t>https://github.com/daoquocdai/chat-api/blob/580c4595042c7f766381a89660242e8ff4912d06/internal/module/message/repository/postgres.go</a:t>
            </a:r>
          </a:p>
          <a:p>
            <a:r>
              <a:t>https://github.com/daoquocdai/chat-api/blob/580c4595042c7f766381a89660242e8ff4912d06/internal/module/message/service/service.go</a:t>
            </a:r>
          </a:p>
          <a:p>
            <a:r>
              <a:t>https://github.com/daoquocdai/chat-api/blob/580c4595042c7f766381a89660242e8ff4912d06/internal/module/message/service/publish.go</a:t>
            </a:r>
          </a:p>
          <a:p>
            <a:r>
              <a:t>https://github.com/daoquocdai/chat-api/blob/580c4595042c7f766381a89660242e8ff4912d06/db/queries/messages.sql</a:t>
            </a:r>
          </a:p>
          <a:p>
            <a:r>
              <a:t>https://github.com/daoquocdai/chat-api/blob/580c4595042c7f766381a89660242e8ff4912d06/docs/adr/003-message-order.md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Consumer đọc pending của consumer cố định gateway-1 bằng ID 0 trước khi đọc entry mới bằng dấu &gt;. Sau khi decode và Dispatch thành công, gateway gọi XACK. Dispatch chỉ đưa event vào queue của các socket. writeLoop là goroutine khác thực hiện ghi mạng.</a:t>
            </a:r>
          </a:p>
          <a:p>
            <a:endParaRPr/>
          </a:p>
          <a:p>
            <a:r>
              <a:t>Vì vậy ACK có thể xảy ra trước khi ghi WebSocket xong. XACK không chứng minh browser đã nhận, đã hiển thị hay đã đọc. User offline không có socket thì event vẫn được ACK. Browser lấy tin bền vững từ PostgreSQL khi kết nối lại.</a:t>
            </a:r>
          </a:p>
          <a:p>
            <a:endParaRPr/>
          </a:p>
          <a:p>
            <a:r>
              <a:t>Nếu gateway crash sau phát tin nhưng trước XACK, entry còn pending và có thể được xử lý lại lúc khởi động. Client có thể nhận lại cùng UUID. Nếu crash sau ACK nhưng trước khi ghi mạng xong, Redis không phát lại entry đã ACK, client cần catch-up REST.</a:t>
            </a:r>
          </a:p>
          <a:p>
            <a:endParaRPr/>
          </a:p>
          <a:p>
            <a:r>
              <a:t>Hub có queue 64 cho từng socket và phát non-blocking. Queue đầy hoặc ghi timeout khiến socket bị đóng, tránh một kết nối chậm chặn toàn bộ consumer.</a:t>
            </a:r>
          </a:p>
          <a:p>
            <a:endParaRPr/>
          </a:p>
          <a:p>
            <a:r>
              <a:t>Client kết nối lại bằng vé mới, tải GET /threads để đối chiếu summary, rồi tải lịch sử nếu cache thiếu. Lịch sử trả seq giảm dần với before_seq, client hiển thị tăng dần. Khi catch-up, client bắt đầu từ trang mới nhất và đi về baseline đã sync hoặc hết cursor, không có after_seq. Gap có thể do user vắng nhóm nên không được mở rộng quyền để lấp gap. Cơ chế này dựa vào sự kiện và thao tác, không polling lịch sử.</a:t>
            </a:r>
          </a:p>
          <a:p>
            <a:endParaRPr/>
          </a:p>
          <a:p>
            <a:r>
              <a:t>Code và quyết định thiết kế:</a:t>
            </a:r>
          </a:p>
          <a:p>
            <a:r>
              <a:t>https://github.com/daoquocdai/chat-api/blob/580c4595042c7f766381a89660242e8ff4912d06/internal/gateway/consumer.go</a:t>
            </a:r>
          </a:p>
          <a:p>
            <a:r>
              <a:t>https://github.com/daoquocdai/chat-api/blob/580c4595042c7f766381a89660242e8ff4912d06/internal/gateway/hub.go</a:t>
            </a:r>
          </a:p>
          <a:p>
            <a:r>
              <a:t>https://github.com/daoquocdai/chat-api/blob/580c4595042c7f766381a89660242e8ff4912d06/web/app.js</a:t>
            </a:r>
          </a:p>
          <a:p>
            <a:r>
              <a:t>https://github.com/daoquocdai/chat-api/blob/580c4595042c7f766381a89660242e8ff4912d06/web/realtime-core.js</a:t>
            </a:r>
          </a:p>
          <a:p>
            <a:r>
              <a:t>https://github.com/daoquocdai/chat-api/blob/580c4595042c7f766381a89660242e8ff4912d06/db/queries/messages.sql</a:t>
            </a:r>
          </a:p>
          <a:p>
            <a:r>
              <a:t>https://github.com/daoquocdai/chat-api/blob/580c4595042c7f766381a89660242e8ff4912d06/docs/adr/001-gateway-and-stream.md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phân biệt lưu tin và phát event. Nếu response thất lạc hoặc API trả 503 sau publish lỗi, client chưa thể kết luận tin chưa tồn tại. Client giữ pending và retry đúng UUID cùng payload. Với direct E2EE, phải giữ cả envelope đã tạo, gồm nonce và ciphertext, không mã hóa lại cùng UUID thành body mới.</a:t>
            </a:r>
          </a:p>
          <a:p>
            <a:endParaRPr/>
          </a:p>
          <a:p>
            <a:r>
              <a:t>Server tìm tin theo UUID, đối chiếu thread, sender và toàn bộ payload. Nếu khớp thì trả message cũ, giữ nguyên seq. Service vẫn PublishMessage cho tin cũ, nhờ đó retry có thể bù phần publish trước đó thất bại. Nếu payload khác thì trả 409.</a:t>
            </a:r>
          </a:p>
          <a:p>
            <a:endParaRPr/>
          </a:p>
          <a:p>
            <a:r>
              <a:t>Event có thể trùng, ví dụ XADD thành công nhưng response Redis timeout, rồi client retry. Client gộp UUID từ HTTP, WebSocket và REST history. Đây là idempotency của ghi DB, không phải exactly-once delivery.</a:t>
            </a:r>
          </a:p>
          <a:p>
            <a:endParaRPr/>
          </a:p>
          <a:p>
            <a:r>
              <a:t>Khoảng hở vẫn tồn tại nếu process chết sau commit trước XADD và không có retry. Tin còn trong DB nhưng có thể chưa có event realtime. Client có thể thấy lại khi một lần sync/reconnect/lấy lịch sử phát hiện dữ liệu mới. Bước đề xuất là transactional outbox backend và worker publish tự động. Outbox đang có trong localStorage của direct là dữ liệu retry ở browser, khác với transactional outbox backend chưa triển khai.</a:t>
            </a:r>
          </a:p>
          <a:p>
            <a:endParaRPr/>
          </a:p>
          <a:p>
            <a:r>
              <a:t>Với tin nhóm bị từ chối 400 hoặc 413 trước khi lưu, web bỏ pending nhưng giữ draft để sửa. Tạo nhóm chưa có idempotency key, nên lỗi sau commit cần đối chiếu thread đã tạo trước khi tạo lại.</a:t>
            </a:r>
          </a:p>
          <a:p>
            <a:endParaRPr/>
          </a:p>
          <a:p>
            <a:r>
              <a:t>Retry vẫn phải qua kiểm tra quyền. Nếu sender đã rời nhóm sau lần lưu tin, request gửi lại có thể bị 403. Server so sánh các trường nghiệp vụ sau validation, không so sánh cách sắp xếp trường JSON. Với E2EE, client cần giữ nguyên UUID và envelope đã tạo.</a:t>
            </a:r>
          </a:p>
          <a:p>
            <a:endParaRPr/>
          </a:p>
          <a:p>
            <a:r>
              <a:t>Code và quyết định thiết kế:</a:t>
            </a:r>
          </a:p>
          <a:p>
            <a:r>
              <a:t>https://github.com/daoquocdai/chat-api/blob/580c4595042c7f766381a89660242e8ff4912d06/internal/module/message/repository/postgres.go</a:t>
            </a:r>
          </a:p>
          <a:p>
            <a:r>
              <a:t>https://github.com/daoquocdai/chat-api/blob/580c4595042c7f766381a89660242e8ff4912d06/internal/module/message/service/service.go</a:t>
            </a:r>
          </a:p>
          <a:p>
            <a:r>
              <a:t>https://github.com/daoquocdai/chat-api/blob/580c4595042c7f766381a89660242e8ff4912d06/internal/module/message/handler/handler.go</a:t>
            </a:r>
          </a:p>
          <a:p>
            <a:r>
              <a:t>https://github.com/daoquocdai/chat-api/blob/580c4595042c7f766381a89660242e8ff4912d06/web/e2ee.js</a:t>
            </a:r>
          </a:p>
          <a:p>
            <a:r>
              <a:t>https://github.com/daoquocdai/chat-api/blob/580c4595042c7f766381a89660242e8ff4912d06/web/e2ee-state.js</a:t>
            </a:r>
          </a:p>
          <a:p>
            <a:r>
              <a:t>https://github.com/daoquocdai/chat-api/blob/580c4595042c7f766381a89660242e8ff4912d06/web/app.js</a:t>
            </a:r>
          </a:p>
          <a:p>
            <a:r>
              <a:t>https://github.com/daoquocdai/chat-api/blob/580c4595042c7f766381a89660242e8ff4912d06/docs/adr/001-gateway-and-stream.md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X3DH là Extended Triple Diffie-Hellman, bước thiết lập bí mật chung trước khi mã hóa tin. B đã công bố public identity key, signed prekey có chữ ký và các public one-time prekey lên server. Vì vậy A lấy được bundle để khởi tạo dù B chưa online.</a:t>
            </a:r>
          </a:p>
          <a:p>
            <a:endParaRPr/>
          </a:p>
          <a:p>
            <a:r>
              <a:t>IK là identity key. EK là ephemeral key A sinh cho lần khởi tạo. SPK là signed prekey của B. OPK là one-time prekey của B nếu bundle còn. A xác minh chữ ký SPK bằng public IK của B trước khi làm các phép DH. Chữ ký ràng buộc SPK với IK được nhận, không thay thế việc xác minh IK thuộc đúng người qua fingerprint.</a:t>
            </a:r>
          </a:p>
          <a:p>
            <a:endParaRPr/>
          </a:p>
          <a:p>
            <a:r>
              <a:t>Trong bảng, DH nhận private key của phía đang tính và public key của đối phương. A lần lượt dùng IK_A với SPK_B, EK_A với IK_B, EK_A với SPK_B. Nếu có OPK_B thì thêm EK_A với OPK_B. B dùng các cặp khóa tương ứng ở chiều ngược: SPK_B với IK_A, IK_B với EK_A, SPK_B với EK_A và tùy chọn OPK_B với EK_A. Tính chất X25519 làm từng cặp cho cùng bí mật ở cả hai phía. A không cần private key của B, B không cần private key của A.</a:t>
            </a:r>
          </a:p>
          <a:p>
            <a:endParaRPr/>
          </a:p>
          <a:p>
            <a:r>
              <a:t>Hai phía nối DH1, DH2, DH3 và DH4 nếu có theo cùng thứ tự rồi dẫn xuất SK. KDF trong công thức là cách viết tắt: deriveKey trong repo thêm tiền tố F gồm 32 byte 0xff, dùng HKDF-SHA256 với salt 32 byte 0 và info Mini-Hermes/X3DH/v1, cho SK 32 byte. Ba DH là phần nền; one-time prekey thêm DH thứ tư nếu có, nên tên Triple không có nghĩa mọi lần đều đúng ba phép.</a:t>
            </a:r>
          </a:p>
          <a:p>
            <a:endParaRPr/>
          </a:p>
          <a:p>
            <a:r>
              <a:t>CreateEpoch xác minh bundle, sinh ephemeral key, tạo SK và confirmation, rồi xóa ephemeral private key tạm. OpenEpoch dùng private keys đã mở từ vault và public keys trong bootstrap để tính lại SK, sau đó xác minh confirmation. Server giữ bootstrap và các bản khóa mã hóa, không nhận SK dạng rõ.</a:t>
            </a:r>
          </a:p>
          <a:p>
            <a:endParaRPr/>
          </a:p>
          <a:p>
            <a:r>
              <a:t>Đây là profile của dự án, không tuyên bố tương thích đầy đủ Signal. Chữ ký prekey dùng biến thể sign-bit của thư viện libsignal theo crypto.go. Direct giữ một SK cố định và backup để khôi phục lịch sử, chưa có Double Ratchet hoặc rekey. Các bảo đảm phụ thuộc cả xác minh danh tính, lưu và xóa khóa; không suy ra bảo vệ lịch sử hoàn chỉnh chỉ từ việc có X3DH.</a:t>
            </a:r>
          </a:p>
          <a:p>
            <a:endParaRPr/>
          </a:p>
          <a:p>
            <a:r>
              <a:t>Chuyển ý: X3DH giải thích hai phía tính cùng SK. Tiếp theo em theo dõi cách ứng dụng lưu bootstrap, epoch và backup để phía còn lại mở lại phiên.</a:t>
            </a:r>
          </a:p>
          <a:p>
            <a:endParaRPr/>
          </a:p>
          <a:p>
            <a:r>
              <a:t>Nguồn:</a:t>
            </a:r>
          </a:p>
          <a:p>
            <a:r>
              <a:t>https://github.com/daoquocdai/chat-api/blob/580c4595042c7f766381a89660242e8ff4912d06/internal/e2ee/epoch.go</a:t>
            </a:r>
          </a:p>
          <a:p>
            <a:r>
              <a:t>https://github.com/daoquocdai/chat-api/blob/580c4595042c7f766381a89660242e8ff4912d06/internal/e2ee/crypto.go</a:t>
            </a:r>
          </a:p>
          <a:p>
            <a:r>
              <a:t>https://github.com/daoquocdai/chat-api/blob/580c4595042c7f766381a89660242e8ff4912d06/docs/adr/005-recoverable-e2ee-sessions.md</a:t>
            </a:r>
          </a:p>
          <a:p>
            <a:r>
              <a:t>https://signal.org/docs/specifications/x3dh/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slide trước, hai bên dùng X3DH để tính cùng SK. Slide này theo dõi phần tích hợp vào ứng dụng: claim bundle, tạo bootstrap, lưu epoch và backup, rồi recipient mở và xác minh phiên khi online.</a:t>
            </a:r>
          </a:p>
          <a:p>
            <a:endParaRPr/>
          </a:p>
          <a:p>
            <a:r>
              <a:t>Khi direct chưa có epoch, A claim public bundle của B. Bundle gồm identity public key, signed prekey và chữ ký, cùng một public one-time prekey nếu còn. A xác minh bundle, sinh ephemeral key, thực hiện các phép X25519 rồi HKDF để tạo SK 32 byte. Có OPK dùng bốn DH, hết OPK dùng ba DH. Đây là khởi tạo bất đồng bộ nên B có thể offline.</a:t>
            </a:r>
          </a:p>
          <a:p>
            <a:endParaRPr/>
          </a:p>
          <a:p>
            <a:r>
              <a:t>A tạo bootstrap chứa ID thread/epoch, hai bên, public keys, ID prekey và bản mã confirmation. SK không xuất hiện ở dạng rõ trong bootstrap. A dùng BK của tài khoản mình để mã hóa SK thành backup A. Backend commit epoch, con trỏ current_epoch_id và backup A cùng transaction.</a:t>
            </a:r>
          </a:p>
          <a:p>
            <a:endParaRPr/>
          </a:p>
          <a:p>
            <a:r>
              <a:t>B dùng private keys trong vault cùng public keys của bootstrap để tính lại SK. B mở confirmation, kiểm tra đúng chuỗi xác nhận, rồi lưu backup riêng của mình. Client mở bản backup server trả về và đối chiếu SK trước khi dùng. A và B có cùng SK nhưng backup khác nhau vì BK thuộc từng tài khoản.</a:t>
            </a:r>
          </a:p>
          <a:p>
            <a:endParaRPr/>
          </a:p>
          <a:p>
            <a:r>
              <a:t>Nếu hai client cùng đề xuất phiên, row lock chọn epoch đầu. Bên thua nhận 409 kèm epoch canonical và khôi phục epoch đó, không gửi bằng SK của đề xuất thua. Mỗi cặp epoch/user giữ backup ghi đầu tiên.</a:t>
            </a:r>
          </a:p>
          <a:p>
            <a:endParaRPr/>
          </a:p>
          <a:p>
            <a:r>
              <a:t>Hiện tại chỉ khởi tạo một lần cho mỗi direct, không rekey và không Double Ratchet. Khi B trả lời, SK vẫn giữ nguyên. Khóa từng tin khác nhau nhờ context có message UUID và chiều gửi. Đây là profile dự án dùng cơ chế X3DH, không tuyên bố tương thích đầy đủ giao thức Signal.</a:t>
            </a:r>
          </a:p>
          <a:p>
            <a:endParaRPr/>
          </a:p>
          <a:p>
            <a:r>
              <a:t>Hai loại dữ liệu lưu riêng: e2ee_epochs giữ bootstrap, e2ee_epoch_backups giữ bản sao SK đã mã hóa theo (epoch_id, user_id). SK là khóa phiên. Bootstrap là dữ liệu công khai cộng bản mã confirmation, đủ để recipient tính và xác minh SK bằng private keys trong vault.</a:t>
            </a:r>
          </a:p>
          <a:p>
            <a:endParaRPr/>
          </a:p>
          <a:p>
            <a:r>
              <a:t>Code và quyết định thiết kế:</a:t>
            </a:r>
          </a:p>
          <a:p>
            <a:r>
              <a:t>https://github.com/daoquocdai/chat-api/blob/580c4595042c7f766381a89660242e8ff4912d06/internal/e2ee/epoch.go</a:t>
            </a:r>
          </a:p>
          <a:p>
            <a:r>
              <a:t>https://github.com/daoquocdai/chat-api/blob/580c4595042c7f766381a89660242e8ff4912d06/internal/e2ee/crypto.go</a:t>
            </a:r>
          </a:p>
          <a:p>
            <a:r>
              <a:t>https://github.com/daoquocdai/chat-api/blob/580c4595042c7f766381a89660242e8ff4912d06/internal/module/e2ee/repository/postgres.go</a:t>
            </a:r>
          </a:p>
          <a:p>
            <a:r>
              <a:t>https://github.com/daoquocdai/chat-api/blob/580c4595042c7f766381a89660242e8ff4912d06/web/e2ee.js</a:t>
            </a:r>
          </a:p>
          <a:p>
            <a:r>
              <a:t>https://github.com/daoquocdai/chat-api/blob/580c4595042c7f766381a89660242e8ff4912d06/db/queries/epochs.sql</a:t>
            </a:r>
          </a:p>
          <a:p>
            <a:r>
              <a:t>https://github.com/daoquocdai/chat-api/blob/580c4595042c7f766381a89660242e8ff4912d06/docs/adr/005-recoverable-e2ee-sessions.md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Mỗi tin có context gồm thread_id, epoch_id, message_id, sender_id và recipient_id. Client đóng gói context theo thứ tự cố định thành AAD, rồi dùng HKDF-SHA256 dẫn xuất MK từ SK và nhãn gắn AAD. Cùng SK và cùng context tạo lại cùng MK ở hai bên. Chiều gửi đảo thì sender và recipient đổi, nên MK khác.</a:t>
            </a:r>
          </a:p>
          <a:p>
            <a:endParaRPr/>
          </a:p>
          <a:p>
            <a:r>
              <a:t>Client dùng AES-256-GCM với MK, nonce ngẫu nhiên 12 byte và AAD để mã hóa plaintext. Ciphertext có tag xác thực 16 byte. Envelope version 2 gồm epoch_id, recipient_id, nonce và ciphertext. Các byte được đưa vào JSON bằng Base64. Base64 chỉ là biểu diễn dữ liệu.</a:t>
            </a:r>
          </a:p>
          <a:p>
            <a:endParaRPr/>
          </a:p>
          <a:p>
            <a:r>
              <a:t>Server kiểm tra định dạng envelope, quyền actor, recipient đúng peer và epoch thuộc đúng thread. Server không mở ciphertext và không có SK/MK. Server vẫn cấp seq để sắp thứ tự, nhưng seq được cấp sau mã hóa nên không nằm trong context/AAD.</a:t>
            </a:r>
          </a:p>
          <a:p>
            <a:endParaRPr/>
          </a:p>
          <a:p>
            <a:r>
              <a:t>Khi nhận qua WebSocket hoặc lịch sử, browser dựng context, lấy SK đúng epoch, tạo lại MK, kiểm tra tag và giải mã. Client kiểm tra UTF-8, độ dài và NUL trước khi hiển thị. Tag sai hoặc thiếu khóa thì báo lỗi, không tăng read marker thay cho tin chưa giải mã thành công.</a:t>
            </a:r>
          </a:p>
          <a:p>
            <a:endParaRPr/>
          </a:p>
          <a:p>
            <a:r>
              <a:t>Kẻ chỉ đọc toàn bộ DB có thể thấy plaintext nhóm, metadata direct, public keys, ciphertext, vault và backup đã mã hóa. Việc có ciphertext không tự cho phép đọc plaintext direct. Tuy vậy có dữ liệu để thử mật khẩu offline, và lộ mật khẩu/VK/BK hoặc SK có thể lộ lịch sử. Chưa có fingerprint verification trên UI, nên đây không phải bảo đảm chống mọi dạng server/frontend bị xâm nhập. Recipient trong envelope là peer theo chiều gửi, khác recipient_id ngoài WebSocket event là user được phát event.</a:t>
            </a:r>
          </a:p>
          <a:p>
            <a:endParaRPr/>
          </a:p>
          <a:p>
            <a:r>
              <a:t>Code và quyết định thiết kế:</a:t>
            </a:r>
          </a:p>
          <a:p>
            <a:r>
              <a:t>https://github.com/daoquocdai/chat-api/blob/580c4595042c7f766381a89660242e8ff4912d06/internal/e2ee/messages.go</a:t>
            </a:r>
          </a:p>
          <a:p>
            <a:r>
              <a:t>https://github.com/daoquocdai/chat-api/blob/580c4595042c7f766381a89660242e8ff4912d06/internal/e2ee/records.go</a:t>
            </a:r>
          </a:p>
          <a:p>
            <a:r>
              <a:t>https://github.com/daoquocdai/chat-api/blob/580c4595042c7f766381a89660242e8ff4912d06/internal/module/message/repository/postgres.go</a:t>
            </a:r>
          </a:p>
          <a:p>
            <a:r>
              <a:t>https://github.com/daoquocdai/chat-api/blob/580c4595042c7f766381a89660242e8ff4912d06/cmd/e2ee-wasm/session_js.go</a:t>
            </a:r>
          </a:p>
          <a:p>
            <a:r>
              <a:t>https://github.com/daoquocdai/chat-api/blob/580c4595042c7f766381a89660242e8ff4912d06/web/e2ee.js</a:t>
            </a:r>
          </a:p>
          <a:p>
            <a:r>
              <a:t>https://github.com/daoquocdai/chat-api/blob/580c4595042c7f766381a89660242e8ff4912d06/docs/adr/005-recoverable-e2ee-sessions.md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đăng nhập trên máy mới, browser lấy salt và profile KDF theo username. Mật khẩu chạy Argon2id tạo master tạm, sau đó HKDF với các nhãn riêng tách credential và VK. Credential gửi cho server để kiểm tra bcrypt. VK giữ phía client để mở account vault. Từ VK, HKDF tiếp tục tạo BK dùng cho backup epoch.</a:t>
            </a:r>
          </a:p>
          <a:p>
            <a:endParaRPr/>
          </a:p>
          <a:p>
            <a:r>
              <a:t>Vault chứa bộ private keys gốc của tài khoản. Backup chứa SK của một direct. Hai đối tượng có phạm vi khác nhau nên cần cả hai: vault dùng để khôi phục identity/prekeys và mở epoch khi recipient chưa có backup, còn backup dùng lại SK đã thiết lập, đặc biệt sender đã xóa ephemeral private key.</a:t>
            </a:r>
          </a:p>
          <a:p>
            <a:endParaRPr/>
          </a:p>
          <a:p>
            <a:r>
              <a:t>Sau khi mở backup, client xác minh confirmation và thông tin thread/epoch/owner trước khi dùng SK. Server chỉ trả backup của chính actor. Nếu B chưa có backup, B dùng private keys trong vault cùng bootstrap tính lại SK rồi lưu/mở bản canonical. Sender cần backup của phiên đã khởi tạo.</a:t>
            </a:r>
          </a:p>
          <a:p>
            <a:endParaRPr/>
          </a:p>
          <a:p>
            <a:r>
              <a:t>Đăng nhập, reload, reconnect và đổi thiết bị dùng lại epoch. Các tab không cần một tab độc quyền giữ state để khôi phục. Private keys và SK ở RAM tab. VK và JWT được giữ trong sessionStorage để reload cùng phiên. Outbox direct chứa UUID/context/body/envelope trong localStorage, không chứa plaintext của tin.</a:t>
            </a:r>
          </a:p>
          <a:p>
            <a:endParaRPr/>
          </a:p>
          <a:p>
            <a:r>
              <a:t>Đánh đổi là giữ archive SK và private prekeys giúp đọc lịch sử nhưng giảm lợi ích từ xóa khóa. Quên mật khẩu và mất mọi khóa đã mở thì không phục hồi được. Lộ VK có thể mở các backup nên nhiều lịch sử có thể bị lộ. Hiện chưa có đổi mật khẩu hoặc cơ chế post-compromise recovery của Double Ratchet.</a:t>
            </a:r>
          </a:p>
          <a:p>
            <a:endParaRPr/>
          </a:p>
          <a:p>
            <a:r>
              <a:t>Code và quyết định thiết kế:</a:t>
            </a:r>
          </a:p>
          <a:p>
            <a:r>
              <a:t>https://github.com/daoquocdai/chat-api/blob/580c4595042c7f766381a89660242e8ff4912d06/internal/e2ee/account.go</a:t>
            </a:r>
          </a:p>
          <a:p>
            <a:r>
              <a:t>https://github.com/daoquocdai/chat-api/blob/580c4595042c7f766381a89660242e8ff4912d06/internal/e2ee/epoch.go</a:t>
            </a:r>
          </a:p>
          <a:p>
            <a:r>
              <a:t>https://github.com/daoquocdai/chat-api/blob/580c4595042c7f766381a89660242e8ff4912d06/internal/module/user/service/service.go</a:t>
            </a:r>
          </a:p>
          <a:p>
            <a:r>
              <a:t>https://github.com/daoquocdai/chat-api/blob/580c4595042c7f766381a89660242e8ff4912d06/web/e2ee.js</a:t>
            </a:r>
          </a:p>
          <a:p>
            <a:r>
              <a:t>https://github.com/daoquocdai/chat-api/blob/580c4595042c7f766381a89660242e8ff4912d06/web/e2ee-state.js</a:t>
            </a:r>
          </a:p>
          <a:p>
            <a:r>
              <a:t>https://github.com/daoquocdai/chat-api/blob/580c4595042c7f766381a89660242e8ff4912d06/web/app.js</a:t>
            </a:r>
          </a:p>
          <a:p>
            <a:r>
              <a:t>https://github.com/daoquocdai/chat-api/blob/580c4595042c7f766381a89660242e8ff4912d06/docs/adr/005-recoverable-e2ee-sessions.md</a:t>
            </a:r>
          </a:p>
          <a:p>
            <a:endParaRPr/>
          </a:p>
          <a:p>
            <a:r>
              <a:t>VK là Vault Key, BK là Backup Key. IK là identity key, SPK là signed prekey, OPK là one-time prekey. HKDF còn gắn username đã chuẩn hóa và nhãn riêng để tách credential khỏi VK. BK bảo vệ bản sao SK, không tạo ra SK. SK do hai bên thiết lập bằng X3DH. Khi máy mới mở đúng backup, nó dùng lại epoch hiện có, không khởi tạo một epoch mới cho từng thiết bị.</a:t>
            </a:r>
          </a:p>
          <a:p>
            <a:endParaRPr/>
          </a:p>
          <a:p>
            <a:r>
              <a:t>Trường hợp recipient chưa từng tạo backup: recipient còn có thể tính SK từ private keys đã mở trong vault và bootstrap, xác minh rồi lưu backup riêng. Điều kiện quan trọng là dữ liệu khóa đã mã hóa và bootstrap tương ứng vẫn còn trên server.</a:t>
            </a:r>
          </a:p>
          <a:p>
            <a:endParaRPr/>
          </a:p>
          <a:p>
            <a:r>
              <a:t>Chuyển sang demo: Như vậy, một máy mới có thể dùng mật khẩu để mở lại khóa và tiếp tục cùng cuộc trò chuyện. Tiếp theo em minh họa các luồng đã trình bày: realtime và lấy bù lịch sử, quyền trong nhóm, rồi E2EE trên profile mới.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dùng cùng ứng dụng để kiểm tra các cơ chế vừa giải thích. API và gateway chạy trên máy Windows, truy cập qua Cloudflare Tunnel. Sơ đồ định tuyến đầy đủ ở phụ lục E, có thể mở nếu mentor hỏi về triển khai.</a:t>
            </a:r>
          </a:p>
          <a:p>
            <a:endParaRPr/>
          </a:p>
          <a:p>
            <a:r>
              <a:t>Đầu tiên, em mở B ở hai tab rồi gửi tin từ A. Cùng một UUID có thể xuất hiện trên HTTP response và WebSocket event, nhưng mỗi tab chỉ hiển thị một bản. Em ngắt WS của B, gửi một tin khi B offline rồi kết nối lại để quan sát REST lấy bù phần lịch sử bị lỡ. Cần chuẩn bị trước cách ngắt WS để không vô tình làm mất cả kết nối HTTP.</a:t>
            </a:r>
          </a:p>
          <a:p>
            <a:endParaRPr/>
          </a:p>
          <a:p>
            <a:r>
              <a:t>Tiếp theo, em tạo nhóm A/B/C, cho C rời rồi gửi thêm tin. C nhận tin hệ thống tại mốc rời, nhưng không nhận và không đọc tin sau mốc đó. Snapshot thành viên và quyền đọc lịch sử được giải thích sâu ở phụ lục A.</a:t>
            </a:r>
          </a:p>
          <a:p>
            <a:endParaRPr/>
          </a:p>
          <a:p>
            <a:r>
              <a:t>Cuối cùng, em mở Network cho một tin direct để thấy content_format e2ee_v2 và envelope có ciphertext. Em đăng nhập một tài khoản ở profile browser mới, rồi đọc lại tin hai chiều. Đây là tình huống gắn trực tiếp với vault, backup và epoch ở phần trước.</a:t>
            </a:r>
          </a:p>
          <a:p>
            <a:endParaRPr/>
          </a:p>
          <a:p>
            <a:r>
              <a:t>Chuyển sang đánh đổi: Các thao tác trên minh họa hành vi trong phạm vi hiện tại. Để tăng độ bền phát event, chạy nhiều gateway hoặc tăng khả năng bảo vệ khi lộ khóa, kiến trúc còn các điểm cần phát triển.</a:t>
            </a:r>
          </a:p>
          <a:p>
            <a:endParaRPr/>
          </a:p>
          <a:p>
            <a:r>
              <a:t>Chuẩn bị kiểm thử trước bảo vệ: repo có Go unit, Go integration với PostgreSQL/Redis và Node/WASM. Chỉ có file test chưa có nghĩa test đã chạy thành công. Go integration bỏ qua nếu chưa bật CHAT_API_INTEGRATION. Round trip Node bỏ qua nếu chưa đặt CHAT_API_TEST_URL. Cần build WASM phù hợp trước khi chạy node --test web/e2ee-client.test.cjs và kiểm tra các bài bị skip. Không ghi kết quả pass hoặc số liệu hiệu năng khi chưa có log tương ứng.</a:t>
            </a:r>
          </a:p>
          <a:p>
            <a:endParaRPr/>
          </a:p>
          <a:p>
            <a:r>
              <a:t>Nguồn:</a:t>
            </a:r>
          </a:p>
          <a:p>
            <a:r>
              <a:t>https://github.com/daoquocdai/chat-api/blob/580c4595042c7f766381a89660242e8ff4912d06/web/app.js</a:t>
            </a:r>
          </a:p>
          <a:p>
            <a:r>
              <a:t>https://github.com/daoquocdai/chat-api/blob/580c4595042c7f766381a89660242e8ff4912d06/web/realtime-core.js</a:t>
            </a:r>
          </a:p>
          <a:p>
            <a:r>
              <a:t>https://github.com/daoquocdai/chat-api/blob/580c4595042c7f766381a89660242e8ff4912d06/web/e2ee.js</a:t>
            </a:r>
          </a:p>
          <a:p>
            <a:r>
              <a:t>https://github.com/daoquocdai/chat-api/blob/580c4595042c7f766381a89660242e8ff4912d06/internal/module/message/service/service_test.go</a:t>
            </a:r>
          </a:p>
          <a:p>
            <a:r>
              <a:t>https://github.com/daoquocdai/chat-api/blob/580c4595042c7f766381a89660242e8ff4912d06/internal/gateway/consumer_test.go</a:t>
            </a:r>
          </a:p>
          <a:p>
            <a:r>
              <a:t>https://github.com/daoquocdai/chat-api/blob/580c4595042c7f766381a89660242e8ff4912d06/internal/e2ee/session_test.go</a:t>
            </a:r>
          </a:p>
          <a:p>
            <a:r>
              <a:t>https://github.com/daoquocdai/chat-api/blob/580c4595042c7f766381a89660242e8ff4912d06/internal/route/recovery_integration_test.go</a:t>
            </a:r>
          </a:p>
          <a:p>
            <a:r>
              <a:t>https://github.com/daoquocdai/chat-api/blob/580c4595042c7f766381a89660242e8ff4912d06/web/e2ee-client.test.cjs</a:t>
            </a:r>
          </a:p>
          <a:p>
            <a:r>
              <a:t>https://github.com/daoquocdai/chat-api/blob/580c4595042c7f766381a89660242e8ff4912d06/Makefile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Sau demo, em quay lại phạm vi bảo đảm của các cơ chế đã trình bày. Các hướng ở cột cuối là phần cần phát triển thêm.</a:t>
            </a:r>
          </a:p>
          <a:p>
            <a:endParaRPr/>
          </a:p>
          <a:p>
            <a:r>
              <a:t>Commit trước XADD giúp tránh phát một tin sẽ rollback, nhưng hai hệ thống chưa commit nguyên tử. Nếu process chết ở giữa, DB còn tin nhưng có thể thiếu event. Transactional outbox backend là hướng để lưu message và event trong cùng transaction rồi có worker publish lại. Publish trùng vẫn có thể xảy ra, nên client tiếp tục gộp UUID.</a:t>
            </a:r>
          </a:p>
          <a:p>
            <a:endParaRPr/>
          </a:p>
          <a:p>
            <a:r>
              <a:t>Một gateway đơn giản hóa quản lý socket và replay pending. Muốn chạy thêm node, cần fan-out tới từng gateway hoặc routing theo user/node vì consumer group hiện tại chỉ giao mỗi entry cho một consumer. Đó là giới hạn scale của mô hình hiện tại, chưa phải một lỗi trong phạm vi một instance.</a:t>
            </a:r>
          </a:p>
          <a:p>
            <a:endParaRPr/>
          </a:p>
          <a:p>
            <a:r>
              <a:t>SK cố định và backup giúp các thiết bị mở lại cùng lịch sử. Đánh đổi là lộ khóa tài khoản hoặc SK có thể lộ nhiều lịch sử. Thêm rekey hay Double Ratchet cần thiết kế lại state, nhiều thiết bị và chính sách lưu backup, không thể giữ nguyên mọi cơ chế hiện tại rồi chỉ thay hàm mã hóa.</a:t>
            </a:r>
          </a:p>
          <a:p>
            <a:endParaRPr/>
          </a:p>
          <a:p>
            <a:r>
              <a:t>UI chưa có đối chiếu fingerprint là một điểm riêng về xác minh danh tính. Fingerprint không thay thế rekey/Ratchet và không giải quyết hậu quả lộ SK. Khi nói về bảo mật, cần phân biệt hai bài toán đó.</a:t>
            </a:r>
          </a:p>
          <a:p>
            <a:endParaRPr/>
          </a:p>
          <a:p>
            <a:r>
              <a:t>Giới hạn nhóm 100 người là scope, đã nêu ở phần tổng thể. Nếu mentor hỏi nhóm 10.000: code hiện từ chối kích thước đó. Nếu bỏ giới hạn, cần đo fan-out, queue, lock thread nóng và COUNT unread trước khi kết luận nút thắt. Membership cache giảm đọc danh sách nhưng không loại bỏ chi phí fan-out.</a:t>
            </a:r>
          </a:p>
          <a:p>
            <a:endParaRPr/>
          </a:p>
          <a:p>
            <a:r>
              <a:t>Nếu tiếp tục phát triển, em ưu tiên transactional outbox để xử lý khoảng hở giữa commit và publish ngay trong mô hình một gateway. Fan-out nhiều gateway và rekey hoặc Ratchet cần thiết kế thêm theo yêu cầu quy mô và mức bảo vệ.</a:t>
            </a:r>
          </a:p>
          <a:p>
            <a:endParaRPr/>
          </a:p>
          <a:p>
            <a:r>
              <a:t>Chuyển sang tổng kết: Trong phạm vi hiện tại, các quyết định kiến trúc đã tách rõ phần dữ liệu, phần realtime và phần bảo vệ nội dung tại client. Em chốt lại ba trách nhiệm đó trước khi trao đổi câu hỏi.</a:t>
            </a:r>
          </a:p>
          <a:p>
            <a:endParaRPr/>
          </a:p>
          <a:p>
            <a:r>
              <a:t>Code và quyết định thiết kế:</a:t>
            </a:r>
          </a:p>
          <a:p>
            <a:r>
              <a:t>https://github.com/daoquocdai/chat-api/blob/580c4595042c7f766381a89660242e8ff4912d06/docs/adr/001-gateway-and-stream.md</a:t>
            </a:r>
          </a:p>
          <a:p>
            <a:r>
              <a:t>https://github.com/daoquocdai/chat-api/blob/580c4595042c7f766381a89660242e8ff4912d06/docs/adr/003-message-order.md</a:t>
            </a:r>
          </a:p>
          <a:p>
            <a:r>
              <a:t>https://github.com/daoquocdai/chat-api/blob/580c4595042c7f766381a89660242e8ff4912d06/docs/adr/005-recoverable-e2ee-sessions.md</a:t>
            </a:r>
          </a:p>
          <a:p>
            <a:r>
              <a:t>https://github.com/daoquocdai/chat-api/blob/580c4595042c7f766381a89660242e8ff4912d06/internal/gateway/consumer.go</a:t>
            </a:r>
          </a:p>
          <a:p>
            <a:r>
              <a:t>https://github.com/daoquocdai/chat-api/blob/580c4595042c7f766381a89660242e8ff4912d06/internal/module/thread/service/groups.go</a:t>
            </a:r>
          </a:p>
          <a:p>
            <a:r>
              <a:t>https://github.com/daoquocdai/chat-api/blob/580c4595042c7f766381a89660242e8ff4912d06/db/queries/threads.sql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xin chốt lại kiến trúc bằng trách nhiệm của từng phần. PostgreSQL quyết định dữ liệu đã lưu, thứ tự trong thread và quyền truy cập. Redis Stream cùng gateway chuyển event tới các kết nối đang online. Nếu realtime bị gián đoạn, browser lấy bù từ lịch sử theo quyền của mình.</a:t>
            </a:r>
          </a:p>
          <a:p>
            <a:endParaRPr/>
          </a:p>
          <a:p>
            <a:r>
              <a:t>Với direct, Go/WASM xử lý nội dung rõ và khóa bí mật trong browser. Backend kiểm tra quyền, quản lý metadata và lưu hoặc chuyển tiếp dữ liệu mã hóa. Vault và backup cho phép máy mới mở lại khóa để đọc lịch sử. Khả năng khôi phục đó đi cùng đánh đổi về khóa cố định đã nêu ở slide trước.</a:t>
            </a:r>
          </a:p>
          <a:p>
            <a:endParaRPr/>
          </a:p>
          <a:p>
            <a:r>
              <a:t>Đây là điểm kết thúc phần trình bày chính. Em xin trao đổi các câu hỏi với anh. Chỉ mở phần phụ lục khi cần giải thích sâu một vấn đề cụ thể: A về snapshot thành viên, B về unread, C về nhiều gateway, D về Redis và E về triển khai. Không cần trình bày tuần tự tất cả phụ lục sau câu kết.</a:t>
            </a:r>
          </a:p>
          <a:p>
            <a:endParaRPr/>
          </a:p>
          <a:p>
            <a:r>
              <a:t>Nguồn:</a:t>
            </a:r>
          </a:p>
          <a:p>
            <a:r>
              <a:t>https://github.com/daoquocdai/chat-api/blob/580c4595042c7f766381a89660242e8ff4912d06/docs/project-flows.md</a:t>
            </a:r>
          </a:p>
          <a:p>
            <a:r>
              <a:t>https://github.com/daoquocdai/chat-api/blob/580c4595042c7f766381a89660242e8ff4912d06/internal/module/message/repository/postgres.go</a:t>
            </a:r>
          </a:p>
          <a:p>
            <a:r>
              <a:t>https://github.com/daoquocdai/chat-api/blob/580c4595042c7f766381a89660242e8ff4912d06/internal/module/message/service/publish.go</a:t>
            </a:r>
          </a:p>
          <a:p>
            <a:r>
              <a:t>https://github.com/daoquocdai/chat-api/blob/580c4595042c7f766381a89660242e8ff4912d06/internal/gateway/consumer.go</a:t>
            </a:r>
          </a:p>
          <a:p>
            <a:r>
              <a:t>https://github.com/daoquocdai/chat-api/blob/580c4595042c7f766381a89660242e8ff4912d06/internal/e2ee/messages.go</a:t>
            </a:r>
          </a:p>
          <a:p>
            <a:r>
              <a:t>https://github.com/daoquocdai/chat-api/blob/580c4595042c7f766381a89660242e8ff4912d06/internal/e2ee/account.go</a:t>
            </a:r>
          </a:p>
          <a:p>
            <a:r>
              <a:t>https://github.com/daoquocdai/chat-api/blob/580c4595042c7f766381a89660242e8ff4912d06/internal/e2ee/epoch.go</a:t>
            </a:r>
          </a:p>
          <a:p>
            <a:r>
              <a:t>https://github.com/daoquocdai/chat-api/blob/580c4595042c7f766381a89660242e8ff4912d06/web/app.js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dùng danh sách thành viên hiện tại để phát lại tin cũ, server có thể phát sai người. Ví dụ tin seq=7 được lưu khi C vẫn là thành viên. Sau đó C rời ở seq=8. Retry publish tin số 7 vẫn cần snapshot A/B/C.</a:t>
            </a:r>
          </a:p>
          <a:p>
            <a:endParaRPr/>
          </a:p>
          <a:p>
            <a:r>
              <a:t>Membership lưu joined_seq và left_seq theo từng lần tham gia. Khoảng có cả system message thêm hoặc rời. Vì vậy C nhận system message số 8, nhưng không có trong snapshot từ số 9. Tham gia lại tạo khoảng mới, lịch sử chỉ nằm trong các khoảng được phép.</a:t>
            </a:r>
          </a:p>
          <a:p>
            <a:endParaRPr/>
          </a:p>
          <a:p>
            <a:r>
              <a:t>Sau commit, API hỏi PostgreSQL mốc lớn nhất không vượt message.seq trong các boundary joined_seq hoặc left_seq+1. Redis key gồm thread UUID và version đó. Nhiều tin trong cùng mốc dùng lại một danh sách. TTL là 15 phút. GET và SET cache có timeout 100 ms trong tổng publish timeout. Miss, dữ liệu cache lỗi hoặc GET lỗi dẫn đến fallback DB. SET lỗi chỉ log.</a:t>
            </a:r>
          </a:p>
          <a:p>
            <a:endParaRPr/>
          </a:p>
          <a:p>
            <a:r>
              <a:t>Cache giảm việc đọc toàn bộ danh sách, nhưng mỗi publish vẫn truy vấn version từ DB. Cache cũng không xóa chi phí fan-out theo số recipient. Quyền gửi, role và đọc lịch sử vẫn kiểm tra tại PostgreSQL. Không nên nói Redis cache là nguồn quyết định quyền hoặc hoàn toàn loại bỏ DB query. Group hiện tối đa 100 người, creator là admin. Membership và system message commit trong cùng transaction, dùng cùng row lock và sequence với text.</a:t>
            </a:r>
          </a:p>
          <a:p>
            <a:endParaRPr/>
          </a:p>
          <a:p>
            <a:r>
              <a:t>Code và quyết định thiết kế:</a:t>
            </a:r>
          </a:p>
          <a:p>
            <a:r>
              <a:t>https://github.com/daoquocdai/chat-api/blob/580c4595042c7f766381a89660242e8ff4912d06/internal/module/message/service/publish.go</a:t>
            </a:r>
          </a:p>
          <a:p>
            <a:r>
              <a:t>https://github.com/daoquocdai/chat-api/blob/580c4595042c7f766381a89660242e8ff4912d06/internal/module/thread/membership/redis.go</a:t>
            </a:r>
          </a:p>
          <a:p>
            <a:r>
              <a:t>https://github.com/daoquocdai/chat-api/blob/580c4595042c7f766381a89660242e8ff4912d06/db/queries/messages.sql</a:t>
            </a:r>
          </a:p>
          <a:p>
            <a:r>
              <a:t>https://github.com/daoquocdai/chat-api/blob/580c4595042c7f766381a89660242e8ff4912d06/db/queries/groups.sql</a:t>
            </a:r>
          </a:p>
          <a:p>
            <a:r>
              <a:t>https://github.com/daoquocdai/chat-api/blob/580c4595042c7f766381a89660242e8ff4912d06/internal/module/thread/repository/groups.go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marker là seq cao nhất user đã đánh dấu đọc trong membership active, lưu ở participants. Server khóa thread, kiểm tra quyền và bounds rồi cập nhật bằng GREATEST, nên request cũ không kéo marker lùi lại.</a:t>
            </a:r>
          </a:p>
          <a:p>
            <a:endParaRPr/>
          </a:p>
          <a:p>
            <a:r>
              <a:t>Client chỉ gửi marker khi tab visible, đang ở cuối chat, tin đã được render và không vượt baseline đã sync. Với direct, mọi ciphertext đã tải phải giải mã/render thành công. Browser nhận tin hoặc gateway ACK không đồng nghĩa với đã đọc.</a:t>
            </a:r>
          </a:p>
          <a:p>
            <a:endParaRPr/>
          </a:p>
          <a:p>
            <a:r>
              <a:t>Unread là COUNT message có sender khác user, seq sau marker và từ joined_seq của lần tham gia hiện tại. Tin người dùng tự gửi cũng tăng last_seq, nên hiệu last_seq trừ last_read_seq sẽ đếm sai. System message có sender là actor và cùng tham gia phép đếm theo sender. Khi rejoin thì membership và marker mới độc lập với các khoảng cũ.</a:t>
            </a:r>
          </a:p>
          <a:p>
            <a:endParaRPr/>
          </a:p>
          <a:p>
            <a:r>
              <a:t>Sau commit marker, service publish thread.updated. Trong group recipient chỉ là actor, nên các tab B đồng bộ unread. Trong direct có thêm peer A để A cập nhật trạng thái đã đọc của B. Event này không phải message, không tăng sequence. Client debounce các thông báo gần nhau rồi gọi GET /threads.</a:t>
            </a:r>
          </a:p>
          <a:p>
            <a:endParaRPr/>
          </a:p>
          <a:p>
            <a:r>
              <a:t>Nếu publish notification lỗi, server log và vẫn trả marker đã commit. Khi realtime bỏ lỡ notification, summary có thể cũ đến lần tải lại tiếp theo.</a:t>
            </a:r>
          </a:p>
          <a:p>
            <a:endParaRPr/>
          </a:p>
          <a:p>
            <a:r>
              <a:t>Code và quyết định thiết kế:</a:t>
            </a:r>
          </a:p>
          <a:p>
            <a:r>
              <a:t>https://github.com/daoquocdai/chat-api/blob/580c4595042c7f766381a89660242e8ff4912d06/internal/module/thread/service/service.go</a:t>
            </a:r>
          </a:p>
          <a:p>
            <a:r>
              <a:t>https://github.com/daoquocdai/chat-api/blob/580c4595042c7f766381a89660242e8ff4912d06/internal/module/thread/repository/postgres.go</a:t>
            </a:r>
          </a:p>
          <a:p>
            <a:r>
              <a:t>https://github.com/daoquocdai/chat-api/blob/580c4595042c7f766381a89660242e8ff4912d06/db/queries/threads.sql</a:t>
            </a:r>
          </a:p>
          <a:p>
            <a:r>
              <a:t>https://github.com/daoquocdai/chat-api/blob/580c4595042c7f766381a89660242e8ff4912d06/internal/gateway/consumer.go</a:t>
            </a:r>
          </a:p>
          <a:p>
            <a:r>
              <a:t>https://github.com/daoquocdai/chat-api/blob/580c4595042c7f766381a89660242e8ff4912d06/web/app.js</a:t>
            </a:r>
          </a:p>
          <a:p>
            <a:r>
              <a:t>https://github.com/daoquocdai/chat-api/blob/580c4595042c7f766381a89660242e8ff4912d06/docs/adr/002-unread-count.md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hiện tại hỗ trợ một gateway, consumer name gateway-1 ổn định để replay pending của chính nó. Nếu chạy hai instance mà giữ nguyên tên, cùng một consumer name không làm Hub được chia sẻ giữa hai tiến trình. Nếu đổi consumer name nhưng vẫn dùng cùng group, Redis cũng chỉ giao mỗi entry cho một consumer trong group. Vì mỗi Hub chỉ biết socket local, người nhận nối ở gateway khác có thể bỏ lỡ realtime.</a:t>
            </a:r>
          </a:p>
          <a:p>
            <a:endParaRPr/>
          </a:p>
          <a:p>
            <a:r>
              <a:t>Một phương án nhỏ là mỗi gateway có group riêng trên cùng Stream. Mỗi group đọc đầy đủ event, node chỉ dispatch tới kết nối local. Sơ đồ bên phải là đề xuất, chưa có trong repo. Cần quản lý vòng đời group, điểm bắt đầu đọc, pending sau crash, retention/trimming và entry đã xử lý để tránh tăng dữ liệu vô hạn. UUID dedup và REST catch-up vẫn cần.</a:t>
            </a:r>
          </a:p>
          <a:p>
            <a:endParaRPr/>
          </a:p>
          <a:p>
            <a:r>
              <a:t>Chi phí đọc và decode tăng theo số gateway. Ở quy mô lớn hơn, có thể tách dispatcher theo dõi user đang nối node nào và route event tới các node liên quan. Redis Pub/Sub có thể làm lớp broadcast nhưng không giữ pending/replay như Stream, nên cần hiểu đánh đổi và giữ lịch sử/catch-up.</a:t>
            </a:r>
          </a:p>
          <a:p>
            <a:endParaRPr/>
          </a:p>
          <a:p>
            <a:r>
              <a:t>Nếu mentor hỏi một tin đẩy xuống mấy lần: hiện một entry giao một consumer, rồi Hub phát một frame tới mỗi socket của mỗi recipient. Một user nhiều socket sẽ nhận nhiều bản trên các socket khác nhau. Retry hoặc replay có thể tạo thêm event/frame trùng. Cơ chế phía browser gộp theo UUID.</a:t>
            </a:r>
          </a:p>
          <a:p>
            <a:endParaRPr/>
          </a:p>
          <a:p>
            <a:r>
              <a:t>Code và quyết định thiết kế:</a:t>
            </a:r>
          </a:p>
          <a:p>
            <a:r>
              <a:t>https://github.com/daoquocdai/chat-api/blob/580c4595042c7f766381a89660242e8ff4912d06/internal/gateway/consumer.go</a:t>
            </a:r>
          </a:p>
          <a:p>
            <a:r>
              <a:t>https://github.com/daoquocdai/chat-api/blob/580c4595042c7f766381a89660242e8ff4912d06/internal/gateway/hub.go</a:t>
            </a:r>
          </a:p>
          <a:p>
            <a:r>
              <a:t>https://github.com/daoquocdai/chat-api/blob/580c4595042c7f766381a89660242e8ff4912d06/cmd/ws-gateway/main.go</a:t>
            </a:r>
          </a:p>
          <a:p>
            <a:r>
              <a:t>https://github.com/daoquocdai/chat-api/blob/580c4595042c7f766381a89660242e8ff4912d06/docs/adr/001-gateway-and-stream.md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E38D1E3-B6F1-4003-8DC2-3148E5406F3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8FD44D5F-CE11-4A3E-B20E-4B8F4CFEBB8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FC95D39-51F8-414D-9D01-9C9EBE9CC23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09B56CF-2B0A-4AFE-9545-8044F9A23E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B970E1FA-7AF6-4165-8FDE-6DF9B3BAAFA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A8E0BA4-0EC4-4834-90A3-CD77F3F5681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B918A25F-7C74-4DB4-B32F-0CB6D1635E6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452EB61B-682F-4FFA-9AAD-6C3205390DE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AD4DACD-3024-4E00-884D-E6506EAF136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B4F21D08-25C3-4566-91EE-BCE36FEAA15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238"/>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FEA6F68E-DB2F-4FA6-A362-BD9682D9A4CB}"/>
              </a:ext>
            </a:extLst>
          </p:cNvPr>
          <p:cNvSpPr>
            <a:spLocks noGrp="1"/>
          </p:cNvSpPr>
          <p:nvPr/>
        </p:nvSpPr>
        <p:spPr>
          <a:xfrm>
            <a:off x="704850" y="1790700"/>
            <a:ext cx="10725150" cy="1066800"/>
          </a:xfrm>
          <a:prstGeom prst="rect">
            <a:avLst/>
          </a:prstGeom>
          <a:noFill/>
          <a:ln w="0">
            <a:noFill/>
            <a:prstDash val="solid"/>
          </a:ln>
        </p:spPr>
        <p:txBody>
          <a:bodyPr wrap="square" lIns="0" tIns="0" rIns="0" bIns="0" anchor="t">
            <a:noAutofit/>
          </a:bodyPr>
          <a:lstStyle>
            <a:defPPr algn="l">
              <a:defRPr sz="6600" b="1">
                <a:solidFill>
                  <a:srgbClr val="FFFFFF"/>
                </a:solidFill>
                <a:latin typeface="DejaVu Sans"/>
                <a:ea typeface="DejaVu Sans"/>
                <a:cs typeface="DejaVu Sans"/>
              </a:defRPr>
            </a:defPPr>
          </a:lstStyle>
          <a:p>
            <a:pPr algn="l">
              <a:buNone/>
              <a:defRPr sz="6600" b="1">
                <a:solidFill>
                  <a:srgbClr val="FFFFFF"/>
                </a:solidFill>
                <a:latin typeface="DejaVu Sans"/>
                <a:ea typeface="DejaVu Sans"/>
                <a:cs typeface="DejaVu Sans"/>
              </a:defRPr>
            </a:pPr>
            <a:r>
              <a:rPr sz="6600" b="1">
                <a:solidFill>
                  <a:srgbClr val="FFFFFF"/>
                </a:solidFill>
                <a:latin typeface="DejaVu Sans"/>
                <a:ea typeface="DejaVu Sans"/>
                <a:cs typeface="DejaVu Sans"/>
              </a:rPr>
              <a:t>Mini-Hermes</a:t>
            </a:r>
          </a:p>
        </p:txBody>
      </p:sp>
      <p:sp>
        <p:nvSpPr>
          <p:cNvPr id="2" name="text-2">
            <a:extLst>
              <a:ext uri="{FF2B5EF4-FFF2-40B4-BE49-F238E27FC236}">
                <a16:creationId xmlns:a16="http://schemas.microsoft.com/office/drawing/2014/main" id="{8592B59F-D867-4718-A5B0-688FF412964A}"/>
              </a:ext>
            </a:extLst>
          </p:cNvPr>
          <p:cNvSpPr>
            <a:spLocks noGrp="1"/>
          </p:cNvSpPr>
          <p:nvPr/>
        </p:nvSpPr>
        <p:spPr>
          <a:xfrm>
            <a:off x="762000" y="3105150"/>
            <a:ext cx="10572750" cy="838200"/>
          </a:xfrm>
          <a:prstGeom prst="rect">
            <a:avLst/>
          </a:prstGeom>
          <a:noFill/>
          <a:ln w="0">
            <a:noFill/>
            <a:prstDash val="solid"/>
          </a:ln>
        </p:spPr>
        <p:txBody>
          <a:bodyPr wrap="square" lIns="0" tIns="0" rIns="0" bIns="0" anchor="t">
            <a:noAutofit/>
          </a:bodyPr>
          <a:lstStyle>
            <a:defPPr algn="l">
              <a:defRPr sz="3300" b="0">
                <a:solidFill>
                  <a:srgbClr val="FFFFFF"/>
                </a:solidFill>
                <a:latin typeface="DejaVu Sans"/>
                <a:ea typeface="DejaVu Sans"/>
                <a:cs typeface="DejaVu Sans"/>
              </a:defRPr>
            </a:defPPr>
          </a:lstStyle>
          <a:p>
            <a:pPr algn="l">
              <a:buNone/>
              <a:defRPr sz="3300" b="0">
                <a:solidFill>
                  <a:srgbClr val="FFFFFF"/>
                </a:solidFill>
                <a:latin typeface="DejaVu Sans"/>
                <a:ea typeface="DejaVu Sans"/>
                <a:cs typeface="DejaVu Sans"/>
              </a:defRPr>
            </a:pPr>
            <a:r>
              <a:rPr sz="3300" b="0">
                <a:solidFill>
                  <a:srgbClr val="FFFFFF"/>
                </a:solidFill>
                <a:latin typeface="DejaVu Sans"/>
                <a:ea typeface="DejaVu Sans"/>
                <a:cs typeface="DejaVu Sans"/>
              </a:rPr>
              <a:t>Kiến trúc chat realtime và E2EE</a:t>
            </a:r>
          </a:p>
        </p:txBody>
      </p:sp>
      <p:sp>
        <p:nvSpPr>
          <p:cNvPr id="3" name="text-3">
            <a:extLst>
              <a:ext uri="{FF2B5EF4-FFF2-40B4-BE49-F238E27FC236}">
                <a16:creationId xmlns:a16="http://schemas.microsoft.com/office/drawing/2014/main" id="{4E2114D2-83CA-4834-A95A-46DC5B438712}"/>
              </a:ext>
            </a:extLst>
          </p:cNvPr>
          <p:cNvSpPr>
            <a:spLocks noGrp="1"/>
          </p:cNvSpPr>
          <p:nvPr/>
        </p:nvSpPr>
        <p:spPr>
          <a:xfrm>
            <a:off x="762000" y="4819650"/>
            <a:ext cx="6191250" cy="685800"/>
          </a:xfrm>
          <a:prstGeom prst="rect">
            <a:avLst/>
          </a:prstGeom>
          <a:noFill/>
          <a:ln w="0">
            <a:noFill/>
            <a:prstDash val="solid"/>
          </a:ln>
        </p:spPr>
        <p:txBody>
          <a:bodyPr wrap="square" lIns="0" tIns="0" rIns="0" bIns="0" anchor="t">
            <a:noAutofit/>
          </a:bodyPr>
          <a:lstStyle>
            <a:defPPr algn="l">
              <a:defRPr sz="1950" b="0">
                <a:solidFill>
                  <a:srgbClr val="CFDCE6"/>
                </a:solidFill>
                <a:latin typeface="DejaVu Sans"/>
                <a:ea typeface="DejaVu Sans"/>
                <a:cs typeface="DejaVu Sans"/>
              </a:defRPr>
            </a:defPPr>
          </a:lstStyle>
          <a:p>
            <a:pPr algn="l">
              <a:buNone/>
              <a:defRPr sz="1950" b="0">
                <a:solidFill>
                  <a:srgbClr val="CFDCE6"/>
                </a:solidFill>
                <a:latin typeface="DejaVu Sans"/>
                <a:ea typeface="DejaVu Sans"/>
                <a:cs typeface="DejaVu Sans"/>
              </a:defRPr>
            </a:pPr>
            <a:r>
              <a:rPr sz="1950" b="0">
                <a:solidFill>
                  <a:srgbClr val="CFDCE6"/>
                </a:solidFill>
                <a:latin typeface="DejaVu Sans"/>
                <a:ea typeface="DejaVu Sans"/>
                <a:cs typeface="DejaVu Sans"/>
              </a:rPr>
              <a:t>Đào Quốc Đại</a:t>
            </a:r>
          </a:p>
        </p:txBody>
      </p:sp>
    </p:spTree>
    <p:extLst>
      <p:ext uri="{BB962C8B-B14F-4D97-AF65-F5344CB8AC3E}">
        <p14:creationId xmlns:p14="http://schemas.microsoft.com/office/powerpoint/2010/main" val="440780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defense-title-0">
            <a:extLst>
              <a:ext uri="{FF2B5EF4-FFF2-40B4-BE49-F238E27FC236}">
                <a16:creationId xmlns:a16="http://schemas.microsoft.com/office/drawing/2014/main" id="{351310A3-A9D3-476B-A444-B4D16DDF633E}"/>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Bài toán và phạm vi</a:t>
            </a:r>
          </a:p>
        </p:txBody>
      </p:sp>
      <p:sp>
        <p:nvSpPr>
          <p:cNvPr id="2" name="defense-text-1">
            <a:extLst>
              <a:ext uri="{FF2B5EF4-FFF2-40B4-BE49-F238E27FC236}">
                <a16:creationId xmlns:a16="http://schemas.microsoft.com/office/drawing/2014/main" id="{F6556366-842B-4E5B-9873-9FE5CE367A1C}"/>
              </a:ext>
            </a:extLst>
          </p:cNvPr>
          <p:cNvSpPr>
            <a:spLocks noGrp="1"/>
          </p:cNvSpPr>
          <p:nvPr/>
        </p:nvSpPr>
        <p:spPr>
          <a:xfrm>
            <a:off x="609600" y="1171575"/>
            <a:ext cx="10972800" cy="552450"/>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Ứng dụng chat web có lịch sử lưu bền và đồng bộ nhiều tab, thiết bị.</a:t>
            </a:r>
          </a:p>
        </p:txBody>
      </p:sp>
      <p:sp>
        <p:nvSpPr>
          <p:cNvPr id="3" name="defense-text-2">
            <a:extLst>
              <a:ext uri="{FF2B5EF4-FFF2-40B4-BE49-F238E27FC236}">
                <a16:creationId xmlns:a16="http://schemas.microsoft.com/office/drawing/2014/main" id="{D0ED5396-795A-4FE9-B418-4D42D8B21FB5}"/>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defense-page">
            <a:extLst>
              <a:ext uri="{FF2B5EF4-FFF2-40B4-BE49-F238E27FC236}">
                <a16:creationId xmlns:a16="http://schemas.microsoft.com/office/drawing/2014/main" id="{991CCADF-CB44-445A-B002-E0AC9F160076}"/>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02 / 17</a:t>
            </a:r>
          </a:p>
        </p:txBody>
      </p:sp>
      <p:graphicFrame>
        <p:nvGraphicFramePr>
          <p:cNvPr id="5" name="Table 4">
            <a:extLst>
              <a:ext uri="{FF2B5EF4-FFF2-40B4-BE49-F238E27FC236}">
                <a16:creationId xmlns:a16="http://schemas.microsoft.com/office/drawing/2014/main" id="{D3481FA0-34E6-427B-8743-4FDE410E232A}"/>
              </a:ext>
            </a:extLst>
          </p:cNvPr>
          <p:cNvGraphicFramePr/>
          <p:nvPr/>
        </p:nvGraphicFramePr>
        <p:xfrm>
          <a:off x="609600" y="2009775"/>
          <a:ext cx="10972800" cy="3490914"/>
        </p:xfrm>
        <a:graphic>
          <a:graphicData uri="http://schemas.openxmlformats.org/drawingml/2006/table">
            <a:tbl>
              <a:tblPr/>
              <a:tblGrid>
                <a:gridCol w="4000500">
                  <a:extLst>
                    <a:ext uri="{9D8B030D-6E8A-4147-A177-3AD203B41FA5}">
                      <a16:colId xmlns:a16="http://schemas.microsoft.com/office/drawing/2014/main" val="20000"/>
                    </a:ext>
                  </a:extLst>
                </a:gridCol>
                <a:gridCol w="6972300">
                  <a:extLst>
                    <a:ext uri="{9D8B030D-6E8A-4147-A177-3AD203B41FA5}">
                      <a16:colId xmlns:a16="http://schemas.microsoft.com/office/drawing/2014/main" val="20001"/>
                    </a:ext>
                  </a:extLst>
                </a:gridCol>
              </a:tblGrid>
              <a:tr h="523875">
                <a:tc>
                  <a:txBody>
                    <a:bodyPr/>
                    <a:lstStyle/>
                    <a:p>
                      <a:r>
                        <a:rPr sz="1875" b="1">
                          <a:solidFill>
                            <a:srgbClr val="FFFFFF"/>
                          </a:solidFill>
                          <a:latin typeface="DejaVu Sans"/>
                          <a:ea typeface="DejaVu Sans"/>
                          <a:cs typeface="DejaVu Sans"/>
                        </a:rPr>
                        <a:t>Nghiệp vụ</a:t>
                      </a:r>
                    </a:p>
                  </a:txBody>
                  <a:tcPr marL="152400" marR="152400" marT="95250" marB="85725">
                    <a:lnL w="6668">
                      <a:solidFill>
                        <a:srgbClr val="C7D5DF"/>
                      </a:solidFill>
                      <a:prstDash val="soli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875" b="1">
                          <a:solidFill>
                            <a:srgbClr val="FFFFFF"/>
                          </a:solidFill>
                          <a:latin typeface="DejaVu Sans"/>
                          <a:ea typeface="DejaVu Sans"/>
                          <a:cs typeface="DejaVu Sans"/>
                        </a:rPr>
                        <a:t>Điểm cần bảo đảm</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extLst>
                  <a:ext uri="{0D108BD9-81ED-4DB2-BD59-A6C34878D82A}">
                    <a16:rowId xmlns:a16="http://schemas.microsoft.com/office/drawing/2014/main" val="10000"/>
                  </a:ext>
                </a:extLst>
              </a:tr>
              <a:tr h="738188">
                <a:tc>
                  <a:txBody>
                    <a:bodyPr/>
                    <a:lstStyle/>
                    <a:p>
                      <a:r>
                        <a:rPr sz="1875">
                          <a:solidFill>
                            <a:srgbClr val="15253B"/>
                          </a:solidFill>
                          <a:latin typeface="DejaVu Sans"/>
                          <a:ea typeface="DejaVu Sans"/>
                          <a:cs typeface="DejaVu Sans"/>
                        </a:rPr>
                        <a:t>Tài khoản, đăng ký và đăng nhập</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Xác thực request và gắn kết nối với đúng user</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1"/>
                  </a:ext>
                </a:extLst>
              </a:tr>
              <a:tr h="738188">
                <a:tc>
                  <a:txBody>
                    <a:bodyPr/>
                    <a:lstStyle/>
                    <a:p>
                      <a:r>
                        <a:rPr sz="1875">
                          <a:solidFill>
                            <a:srgbClr val="15253B"/>
                          </a:solidFill>
                          <a:latin typeface="DejaVu Sans"/>
                          <a:ea typeface="DejaVu Sans"/>
                          <a:cs typeface="DejaVu Sans"/>
                        </a:rPr>
                        <a:t>Chat 1-1 mã hóa đầu cuối</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Browser mã hóa, máy mới mở lại được lịch sử</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2"/>
                  </a:ext>
                </a:extLst>
              </a:tr>
              <a:tr h="738188">
                <a:tc>
                  <a:txBody>
                    <a:bodyPr/>
                    <a:lstStyle/>
                    <a:p>
                      <a:r>
                        <a:rPr sz="1875">
                          <a:solidFill>
                            <a:srgbClr val="15253B"/>
                          </a:solidFill>
                          <a:latin typeface="DejaVu Sans"/>
                          <a:ea typeface="DejaVu Sans"/>
                          <a:cs typeface="DejaVu Sans"/>
                        </a:rPr>
                        <a:t>Chat nhóm tối đa 100 người</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Quản lý thành viên và quyền đọc theo thời điểm</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3"/>
                  </a:ext>
                </a:extLst>
              </a:tr>
              <a:tr h="738188">
                <a:tc>
                  <a:txBody>
                    <a:bodyPr/>
                    <a:lstStyle/>
                    <a:p>
                      <a:r>
                        <a:rPr sz="1875">
                          <a:solidFill>
                            <a:srgbClr val="15253B"/>
                          </a:solidFill>
                          <a:latin typeface="DejaVu Sans"/>
                          <a:ea typeface="DejaVu Sans"/>
                          <a:cs typeface="DejaVu Sans"/>
                        </a:rPr>
                        <a:t>Realtime, lịch sử và unread</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Tin đúng thứ tự, retry giữ một bản tin đã lưu</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defense-text-3">
            <a:extLst>
              <a:ext uri="{FF2B5EF4-FFF2-40B4-BE49-F238E27FC236}">
                <a16:creationId xmlns:a16="http://schemas.microsoft.com/office/drawing/2014/main" id="{0C90A07F-B261-4B2C-BEC8-EED6EEC8AF9F}"/>
              </a:ext>
            </a:extLst>
          </p:cNvPr>
          <p:cNvSpPr>
            <a:spLocks noGrp="1"/>
          </p:cNvSpPr>
          <p:nvPr/>
        </p:nvSpPr>
        <p:spPr>
          <a:xfrm>
            <a:off x="609600" y="5800725"/>
            <a:ext cx="10972800" cy="476250"/>
          </a:xfrm>
          <a:prstGeom prst="rect">
            <a:avLst/>
          </a:prstGeom>
          <a:noFill/>
          <a:ln w="0">
            <a:noFill/>
            <a:prstDash val="solid"/>
          </a:ln>
        </p:spPr>
        <p:txBody>
          <a:bodyPr wrap="square" lIns="0" tIns="0" rIns="0" bIns="0" anchor="t">
            <a:noAutofit/>
          </a:bodyPr>
          <a:lstStyle>
            <a:defPPr algn="l">
              <a:defRPr sz="2025" b="1">
                <a:solidFill>
                  <a:srgbClr val="007E82"/>
                </a:solidFill>
                <a:latin typeface="DejaVu Sans"/>
                <a:ea typeface="DejaVu Sans"/>
                <a:cs typeface="DejaVu Sans"/>
              </a:defRPr>
            </a:defPPr>
          </a:lstStyle>
          <a:p>
            <a:pPr algn="l">
              <a:buNone/>
              <a:defRPr sz="2025" b="1">
                <a:solidFill>
                  <a:srgbClr val="007E82"/>
                </a:solidFill>
                <a:latin typeface="DejaVu Sans"/>
                <a:ea typeface="DejaVu Sans"/>
                <a:cs typeface="DejaVu Sans"/>
              </a:defRPr>
            </a:pPr>
            <a:r>
              <a:rPr sz="2025" b="1">
                <a:solidFill>
                  <a:srgbClr val="007E82"/>
                </a:solidFill>
                <a:latin typeface="DejaVu Sans"/>
                <a:ea typeface="DejaVu Sans"/>
                <a:cs typeface="DejaVu Sans"/>
              </a:rPr>
              <a:t>Ba trọng tâm kiến trúc: lưu đúng tin, phát realtime, bảo vệ nội dung direct.</a:t>
            </a:r>
          </a:p>
        </p:txBody>
      </p:sp>
    </p:spTree>
    <p:extLst>
      <p:ext uri="{BB962C8B-B14F-4D97-AF65-F5344CB8AC3E}">
        <p14:creationId xmlns:p14="http://schemas.microsoft.com/office/powerpoint/2010/main" val="1118770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defense-title-3">
            <a:extLst>
              <a:ext uri="{FF2B5EF4-FFF2-40B4-BE49-F238E27FC236}">
                <a16:creationId xmlns:a16="http://schemas.microsoft.com/office/drawing/2014/main" id="{C3F254C7-257F-4D69-A321-70862E3820A2}"/>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Công nghệ và vai trò</a:t>
            </a:r>
          </a:p>
        </p:txBody>
      </p:sp>
      <p:sp>
        <p:nvSpPr>
          <p:cNvPr id="2" name="defense-text-4">
            <a:extLst>
              <a:ext uri="{FF2B5EF4-FFF2-40B4-BE49-F238E27FC236}">
                <a16:creationId xmlns:a16="http://schemas.microsoft.com/office/drawing/2014/main" id="{1E1CE9B8-FC0F-4905-A009-98985B292DD4}"/>
              </a:ext>
            </a:extLst>
          </p:cNvPr>
          <p:cNvSpPr>
            <a:spLocks noGrp="1"/>
          </p:cNvSpPr>
          <p:nvPr/>
        </p:nvSpPr>
        <p:spPr>
          <a:xfrm>
            <a:off x="609600" y="1171575"/>
            <a:ext cx="10972800" cy="552450"/>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Mỗi thành phần đảm nhận một phần cụ thể trong luồng chat.</a:t>
            </a:r>
          </a:p>
        </p:txBody>
      </p:sp>
      <p:sp>
        <p:nvSpPr>
          <p:cNvPr id="3" name="defense-text-5">
            <a:extLst>
              <a:ext uri="{FF2B5EF4-FFF2-40B4-BE49-F238E27FC236}">
                <a16:creationId xmlns:a16="http://schemas.microsoft.com/office/drawing/2014/main" id="{E3C61B2A-2BE1-405B-9654-ACFE537DE279}"/>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defense-page">
            <a:extLst>
              <a:ext uri="{FF2B5EF4-FFF2-40B4-BE49-F238E27FC236}">
                <a16:creationId xmlns:a16="http://schemas.microsoft.com/office/drawing/2014/main" id="{011B900F-E0F1-422D-AB23-BBC470BDFB0E}"/>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03 / 17</a:t>
            </a:r>
          </a:p>
        </p:txBody>
      </p:sp>
      <p:graphicFrame>
        <p:nvGraphicFramePr>
          <p:cNvPr id="5" name="Table 4">
            <a:extLst>
              <a:ext uri="{FF2B5EF4-FFF2-40B4-BE49-F238E27FC236}">
                <a16:creationId xmlns:a16="http://schemas.microsoft.com/office/drawing/2014/main" id="{CEA90858-96CE-45F2-82EF-D3D9ACCA13B5}"/>
              </a:ext>
            </a:extLst>
          </p:cNvPr>
          <p:cNvGraphicFramePr/>
          <p:nvPr/>
        </p:nvGraphicFramePr>
        <p:xfrm>
          <a:off x="609600" y="1943100"/>
          <a:ext cx="10972800" cy="3796665"/>
        </p:xfrm>
        <a:graphic>
          <a:graphicData uri="http://schemas.openxmlformats.org/drawingml/2006/table">
            <a:tbl>
              <a:tblPr/>
              <a:tblGrid>
                <a:gridCol w="27813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514350">
                <a:tc>
                  <a:txBody>
                    <a:bodyPr/>
                    <a:lstStyle/>
                    <a:p>
                      <a:r>
                        <a:rPr sz="1725" b="1">
                          <a:solidFill>
                            <a:srgbClr val="FFFFFF"/>
                          </a:solidFill>
                          <a:latin typeface="DejaVu Sans"/>
                          <a:ea typeface="DejaVu Sans"/>
                          <a:cs typeface="DejaVu Sans"/>
                        </a:rPr>
                        <a:t>Công nghệ</a:t>
                      </a:r>
                    </a:p>
                  </a:txBody>
                  <a:tcPr marL="152400" marR="152400" marT="95250" marB="85725">
                    <a:lnL w="6668">
                      <a:solidFill>
                        <a:srgbClr val="C7D5DF"/>
                      </a:solidFill>
                      <a:prstDash val="soli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725" b="1">
                          <a:solidFill>
                            <a:srgbClr val="FFFFFF"/>
                          </a:solidFill>
                          <a:latin typeface="DejaVu Sans"/>
                          <a:ea typeface="DejaVu Sans"/>
                          <a:cs typeface="DejaVu Sans"/>
                        </a:rPr>
                        <a:t>Vai trò trong dự án</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725" b="1">
                          <a:solidFill>
                            <a:srgbClr val="FFFFFF"/>
                          </a:solidFill>
                          <a:latin typeface="DejaVu Sans"/>
                          <a:ea typeface="DejaVu Sans"/>
                          <a:cs typeface="DejaVu Sans"/>
                        </a:rPr>
                        <a:t>Lý do phù hợp</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extLst>
                  <a:ext uri="{0D108BD9-81ED-4DB2-BD59-A6C34878D82A}">
                    <a16:rowId xmlns:a16="http://schemas.microsoft.com/office/drawing/2014/main" val="10000"/>
                  </a:ext>
                </a:extLst>
              </a:tr>
              <a:tr h="622935">
                <a:tc>
                  <a:txBody>
                    <a:bodyPr/>
                    <a:lstStyle/>
                    <a:p>
                      <a:r>
                        <a:rPr sz="1725">
                          <a:solidFill>
                            <a:srgbClr val="15253B"/>
                          </a:solidFill>
                          <a:latin typeface="DejaVu Sans"/>
                          <a:ea typeface="DejaVu Sans"/>
                          <a:cs typeface="DejaVu Sans"/>
                        </a:rPr>
                        <a:t>Go + Gin</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REST (Gin), gateway (Go)</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Tách HTTP và kết nối dài</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1"/>
                  </a:ext>
                </a:extLst>
              </a:tr>
              <a:tr h="622935">
                <a:tc>
                  <a:txBody>
                    <a:bodyPr/>
                    <a:lstStyle/>
                    <a:p>
                      <a:r>
                        <a:rPr sz="1725">
                          <a:solidFill>
                            <a:srgbClr val="15253B"/>
                          </a:solidFill>
                          <a:latin typeface="DejaVu Sans"/>
                          <a:ea typeface="DejaVu Sans"/>
                          <a:cs typeface="DejaVu Sans"/>
                        </a:rPr>
                        <a:t>PostgreSQL 16</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Dữ liệu, transaction, row lock</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Nhất quán quyền, lịch sử, seq</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2"/>
                  </a:ext>
                </a:extLst>
              </a:tr>
              <a:tr h="622935">
                <a:tc>
                  <a:txBody>
                    <a:bodyPr/>
                    <a:lstStyle/>
                    <a:p>
                      <a:r>
                        <a:rPr sz="1725">
                          <a:solidFill>
                            <a:srgbClr val="15253B"/>
                          </a:solidFill>
                          <a:latin typeface="DejaVu Sans"/>
                          <a:ea typeface="DejaVu Sans"/>
                          <a:cs typeface="DejaVu Sans"/>
                        </a:rPr>
                        <a:t>Redis 7</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Stream, vé một lần, cache</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Nối API với gateway, giữ dữ liệu tạm</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3"/>
                  </a:ext>
                </a:extLst>
              </a:tr>
              <a:tr h="622935">
                <a:tc>
                  <a:txBody>
                    <a:bodyPr/>
                    <a:lstStyle/>
                    <a:p>
                      <a:r>
                        <a:rPr sz="1725">
                          <a:solidFill>
                            <a:srgbClr val="15253B"/>
                          </a:solidFill>
                          <a:latin typeface="DejaVu Sans"/>
                          <a:ea typeface="DejaVu Sans"/>
                          <a:cs typeface="DejaVu Sans"/>
                        </a:rPr>
                        <a:t>WebSocket</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Gateway phát tới từng socket</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Cập nhật nhiều tab và thiết bị</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4"/>
                  </a:ext>
                </a:extLst>
              </a:tr>
              <a:tr h="622935">
                <a:tc>
                  <a:txBody>
                    <a:bodyPr/>
                    <a:lstStyle/>
                    <a:p>
                      <a:r>
                        <a:rPr sz="1725">
                          <a:solidFill>
                            <a:srgbClr val="15253B"/>
                          </a:solidFill>
                          <a:latin typeface="DejaVu Sans"/>
                          <a:ea typeface="DejaVu Sans"/>
                          <a:cs typeface="DejaVu Sans"/>
                        </a:rPr>
                        <a:t>JavaScript + Go/WASM</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UI, mã hóa tại browser</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Chạy crypto Go ngay tại client</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 name="defense-text-6">
            <a:extLst>
              <a:ext uri="{FF2B5EF4-FFF2-40B4-BE49-F238E27FC236}">
                <a16:creationId xmlns:a16="http://schemas.microsoft.com/office/drawing/2014/main" id="{7BD15C06-3013-47B7-A414-3AFB95B6D4D9}"/>
              </a:ext>
            </a:extLst>
          </p:cNvPr>
          <p:cNvSpPr>
            <a:spLocks noGrp="1"/>
          </p:cNvSpPr>
          <p:nvPr/>
        </p:nvSpPr>
        <p:spPr>
          <a:xfrm>
            <a:off x="609600" y="5762625"/>
            <a:ext cx="10972800" cy="285750"/>
          </a:xfrm>
          <a:prstGeom prst="rect">
            <a:avLst/>
          </a:prstGeom>
          <a:noFill/>
          <a:ln w="0">
            <a:noFill/>
            <a:prstDash val="solid"/>
          </a:ln>
        </p:spPr>
        <p:txBody>
          <a:bodyPr wrap="square" lIns="0" tIns="0" rIns="0" bIns="0" anchor="t">
            <a:noAutofit/>
          </a:bodyPr>
          <a:lstStyle>
            <a:defPPr algn="l">
              <a:defRPr sz="1725" b="0">
                <a:solidFill>
                  <a:srgbClr val="007E82"/>
                </a:solidFill>
                <a:latin typeface="DejaVu Sans"/>
                <a:ea typeface="DejaVu Sans"/>
                <a:cs typeface="DejaVu Sans"/>
              </a:defRPr>
            </a:defPPr>
          </a:lstStyle>
          <a:p>
            <a:pPr algn="l">
              <a:buNone/>
              <a:defRPr sz="1725" b="0">
                <a:solidFill>
                  <a:srgbClr val="007E82"/>
                </a:solidFill>
                <a:latin typeface="DejaVu Sans"/>
                <a:ea typeface="DejaVu Sans"/>
                <a:cs typeface="DejaVu Sans"/>
              </a:defRPr>
            </a:pPr>
            <a:r>
              <a:rPr sz="1725" b="0">
                <a:solidFill>
                  <a:srgbClr val="007E82"/>
                </a:solidFill>
                <a:latin typeface="DejaVu Sans"/>
                <a:ea typeface="DejaVu Sans"/>
                <a:cs typeface="DejaVu Sans"/>
              </a:rPr>
              <a:t>E2EE: X25519, HKDF-SHA256, AES-256-GCM và Argon2id.</a:t>
            </a:r>
          </a:p>
        </p:txBody>
      </p:sp>
      <p:sp>
        <p:nvSpPr>
          <p:cNvPr id="7" name="defense-text-7">
            <a:extLst>
              <a:ext uri="{FF2B5EF4-FFF2-40B4-BE49-F238E27FC236}">
                <a16:creationId xmlns:a16="http://schemas.microsoft.com/office/drawing/2014/main" id="{A3E5BFAF-2E9C-4EDE-AB3B-2A765C6D6A0B}"/>
              </a:ext>
            </a:extLst>
          </p:cNvPr>
          <p:cNvSpPr>
            <a:spLocks noGrp="1"/>
          </p:cNvSpPr>
          <p:nvPr/>
        </p:nvSpPr>
        <p:spPr>
          <a:xfrm>
            <a:off x="609600" y="6096000"/>
            <a:ext cx="10972800" cy="276225"/>
          </a:xfrm>
          <a:prstGeom prst="rect">
            <a:avLst/>
          </a:prstGeom>
          <a:noFill/>
          <a:ln w="0">
            <a:noFill/>
            <a:prstDash val="solid"/>
          </a:ln>
        </p:spPr>
        <p:txBody>
          <a:bodyPr wrap="square" lIns="0" tIns="0" rIns="0" bIns="0" anchor="t">
            <a:noAutofit/>
          </a:bodyPr>
          <a:lstStyle>
            <a:defPPr algn="l">
              <a:defRPr sz="1650" b="0">
                <a:solidFill>
                  <a:srgbClr val="516177"/>
                </a:solidFill>
                <a:latin typeface="DejaVu Sans"/>
                <a:ea typeface="DejaVu Sans"/>
                <a:cs typeface="DejaVu Sans"/>
              </a:defRPr>
            </a:defPPr>
          </a:lstStyle>
          <a:p>
            <a:pPr algn="l">
              <a:buNone/>
              <a:defRPr sz="1650" b="0">
                <a:solidFill>
                  <a:srgbClr val="516177"/>
                </a:solidFill>
                <a:latin typeface="DejaVu Sans"/>
                <a:ea typeface="DejaVu Sans"/>
                <a:cs typeface="DejaVu Sans"/>
              </a:defRPr>
            </a:pPr>
            <a:r>
              <a:rPr sz="1650" b="0">
                <a:solidFill>
                  <a:srgbClr val="516177"/>
                </a:solidFill>
                <a:latin typeface="DejaVu Sans"/>
                <a:ea typeface="DejaVu Sans"/>
                <a:cs typeface="DejaVu Sans"/>
              </a:rPr>
              <a:t>Công cụ: pgx, sqlc, goose, Docker Compose và Make.</a:t>
            </a:r>
          </a:p>
        </p:txBody>
      </p:sp>
    </p:spTree>
    <p:extLst>
      <p:ext uri="{BB962C8B-B14F-4D97-AF65-F5344CB8AC3E}">
        <p14:creationId xmlns:p14="http://schemas.microsoft.com/office/powerpoint/2010/main" val="84145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5">
            <a:extLst>
              <a:ext uri="{FF2B5EF4-FFF2-40B4-BE49-F238E27FC236}">
                <a16:creationId xmlns:a16="http://schemas.microsoft.com/office/drawing/2014/main" id="{7991A8CB-2569-4B31-B14D-A81A5EE77E71}"/>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Kiến trúc tổng thể</a:t>
            </a:r>
          </a:p>
        </p:txBody>
      </p:sp>
      <p:sp>
        <p:nvSpPr>
          <p:cNvPr id="2" name="text-6">
            <a:extLst>
              <a:ext uri="{FF2B5EF4-FFF2-40B4-BE49-F238E27FC236}">
                <a16:creationId xmlns:a16="http://schemas.microsoft.com/office/drawing/2014/main" id="{CC67BDD4-A936-489C-9C54-573FDC8BAE74}"/>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Chat 1-1 dùng E2EE. Nhóm tối đa 100 người dùng plaintext.</a:t>
            </a:r>
          </a:p>
        </p:txBody>
      </p:sp>
      <p:sp>
        <p:nvSpPr>
          <p:cNvPr id="3" name="text-7">
            <a:extLst>
              <a:ext uri="{FF2B5EF4-FFF2-40B4-BE49-F238E27FC236}">
                <a16:creationId xmlns:a16="http://schemas.microsoft.com/office/drawing/2014/main" id="{75BCD49C-ADBA-4AC4-9AAA-49454C8B1E79}"/>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8">
            <a:extLst>
              <a:ext uri="{FF2B5EF4-FFF2-40B4-BE49-F238E27FC236}">
                <a16:creationId xmlns:a16="http://schemas.microsoft.com/office/drawing/2014/main" id="{79A5982F-AF0F-4349-A1BD-29A819682E73}"/>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04 / 17</a:t>
            </a:r>
          </a:p>
        </p:txBody>
      </p:sp>
      <p:sp>
        <p:nvSpPr>
          <p:cNvPr id="5" name="diagram-node-9">
            <a:extLst>
              <a:ext uri="{FF2B5EF4-FFF2-40B4-BE49-F238E27FC236}">
                <a16:creationId xmlns:a16="http://schemas.microsoft.com/office/drawing/2014/main" id="{1016AFD5-BC02-48A0-AD5B-9701738882BA}"/>
              </a:ext>
            </a:extLst>
          </p:cNvPr>
          <p:cNvSpPr>
            <a:spLocks noGrp="1"/>
          </p:cNvSpPr>
          <p:nvPr/>
        </p:nvSpPr>
        <p:spPr>
          <a:xfrm>
            <a:off x="609600" y="2838450"/>
            <a:ext cx="2343150" cy="1504950"/>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875" b="0">
                <a:solidFill>
                  <a:srgbClr val="15253B"/>
                </a:solidFill>
                <a:latin typeface="DejaVu Sans"/>
                <a:ea typeface="DejaVu Sans"/>
                <a:cs typeface="DejaVu Sans"/>
              </a:defRPr>
            </a:defPPr>
          </a:lstStyle>
          <a:p>
            <a:pPr algn="ctr">
              <a:buNone/>
              <a:defRPr sz="1875" b="0">
                <a:solidFill>
                  <a:srgbClr val="15253B"/>
                </a:solidFill>
                <a:latin typeface="DejaVu Sans"/>
                <a:ea typeface="DejaVu Sans"/>
                <a:cs typeface="DejaVu Sans"/>
              </a:defRPr>
            </a:pPr>
            <a:r>
              <a:rPr sz="1875" b="0">
                <a:solidFill>
                  <a:srgbClr val="15253B"/>
                </a:solidFill>
                <a:latin typeface="DejaVu Sans"/>
                <a:ea typeface="DejaVu Sans"/>
                <a:cs typeface="DejaVu Sans"/>
              </a:rPr>
              <a:t>Browser</a:t>
            </a:r>
          </a:p>
          <a:p>
            <a:pPr algn="ctr">
              <a:buNone/>
              <a:defRPr sz="1875" b="0">
                <a:solidFill>
                  <a:srgbClr val="15253B"/>
                </a:solidFill>
                <a:latin typeface="DejaVu Sans"/>
                <a:ea typeface="DejaVu Sans"/>
                <a:cs typeface="DejaVu Sans"/>
              </a:defRPr>
            </a:pPr>
            <a:r>
              <a:rPr sz="1875" b="0">
                <a:solidFill>
                  <a:srgbClr val="15253B"/>
                </a:solidFill>
                <a:latin typeface="DejaVu Sans"/>
                <a:ea typeface="DejaVu Sans"/>
                <a:cs typeface="DejaVu Sans"/>
              </a:rPr>
              <a:t>JavaScript</a:t>
            </a:r>
            <a:br>
              <a:rPr sz="1875" b="0">
                <a:solidFill>
                  <a:srgbClr val="15253B"/>
                </a:solidFill>
                <a:latin typeface="DejaVu Sans"/>
                <a:ea typeface="DejaVu Sans"/>
                <a:cs typeface="DejaVu Sans"/>
              </a:rPr>
            </a:br>
            <a:r>
              <a:rPr sz="1875" b="0">
                <a:solidFill>
                  <a:srgbClr val="15253B"/>
                </a:solidFill>
                <a:latin typeface="DejaVu Sans"/>
                <a:ea typeface="DejaVu Sans"/>
                <a:cs typeface="DejaVu Sans"/>
              </a:rPr>
              <a:t>Go/WASM cho E2EE</a:t>
            </a:r>
          </a:p>
        </p:txBody>
      </p:sp>
      <p:sp>
        <p:nvSpPr>
          <p:cNvPr id="6" name="diagram-node-10">
            <a:extLst>
              <a:ext uri="{FF2B5EF4-FFF2-40B4-BE49-F238E27FC236}">
                <a16:creationId xmlns:a16="http://schemas.microsoft.com/office/drawing/2014/main" id="{55728798-0C6A-4004-AFE9-BE55DF8A60B7}"/>
              </a:ext>
            </a:extLst>
          </p:cNvPr>
          <p:cNvSpPr>
            <a:spLocks noGrp="1"/>
          </p:cNvSpPr>
          <p:nvPr/>
        </p:nvSpPr>
        <p:spPr>
          <a:xfrm>
            <a:off x="4391025" y="1857375"/>
            <a:ext cx="2781300" cy="1123950"/>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chat-api  :8080</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Gin, nghiệp vụ, transaction</a:t>
            </a:r>
          </a:p>
        </p:txBody>
      </p:sp>
      <p:sp>
        <p:nvSpPr>
          <p:cNvPr id="7" name="diagram-node-11">
            <a:extLst>
              <a:ext uri="{FF2B5EF4-FFF2-40B4-BE49-F238E27FC236}">
                <a16:creationId xmlns:a16="http://schemas.microsoft.com/office/drawing/2014/main" id="{C8B53F4E-A9DF-4747-BA6F-60C825E97C43}"/>
              </a:ext>
            </a:extLst>
          </p:cNvPr>
          <p:cNvSpPr>
            <a:spLocks noGrp="1"/>
          </p:cNvSpPr>
          <p:nvPr/>
        </p:nvSpPr>
        <p:spPr>
          <a:xfrm>
            <a:off x="8982075" y="1857375"/>
            <a:ext cx="2600325" cy="1123950"/>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PostgreSQL</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Tài khoản, thread, lịch sử</a:t>
            </a:r>
          </a:p>
        </p:txBody>
      </p:sp>
      <p:sp>
        <p:nvSpPr>
          <p:cNvPr id="8" name="diagram-node-12">
            <a:extLst>
              <a:ext uri="{FF2B5EF4-FFF2-40B4-BE49-F238E27FC236}">
                <a16:creationId xmlns:a16="http://schemas.microsoft.com/office/drawing/2014/main" id="{E71DD617-D61A-4655-846C-BA3DA7F7C277}"/>
              </a:ext>
            </a:extLst>
          </p:cNvPr>
          <p:cNvSpPr>
            <a:spLocks noGrp="1"/>
          </p:cNvSpPr>
          <p:nvPr/>
        </p:nvSpPr>
        <p:spPr>
          <a:xfrm>
            <a:off x="4391025" y="4305300"/>
            <a:ext cx="2781300" cy="126682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Redis</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Stream, ticket, cache thành viên</a:t>
            </a:r>
          </a:p>
        </p:txBody>
      </p:sp>
      <p:sp>
        <p:nvSpPr>
          <p:cNvPr id="9" name="diagram-node-13">
            <a:extLst>
              <a:ext uri="{FF2B5EF4-FFF2-40B4-BE49-F238E27FC236}">
                <a16:creationId xmlns:a16="http://schemas.microsoft.com/office/drawing/2014/main" id="{DE20E532-3A37-4558-BE37-27BF3325333B}"/>
              </a:ext>
            </a:extLst>
          </p:cNvPr>
          <p:cNvSpPr>
            <a:spLocks noGrp="1"/>
          </p:cNvSpPr>
          <p:nvPr/>
        </p:nvSpPr>
        <p:spPr>
          <a:xfrm>
            <a:off x="8982075" y="4305300"/>
            <a:ext cx="2600325" cy="1266825"/>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ws-gateway  :8081</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Consumer và Hub WebSocket</a:t>
            </a:r>
          </a:p>
        </p:txBody>
      </p:sp>
      <p:cxnSp>
        <p:nvCxnSpPr>
          <p:cNvPr id="10" name="diagram-line-14">
            <a:extLst>
              <a:ext uri="{FF2B5EF4-FFF2-40B4-BE49-F238E27FC236}">
                <a16:creationId xmlns:a16="http://schemas.microsoft.com/office/drawing/2014/main" id="{68DDA5ED-034A-4B5B-949D-E2C76878C63F}"/>
              </a:ext>
            </a:extLst>
          </p:cNvPr>
          <p:cNvCxnSpPr/>
          <p:nvPr/>
        </p:nvCxnSpPr>
        <p:spPr>
          <a:xfrm>
            <a:off x="2952750" y="3143250"/>
            <a:ext cx="685800" cy="95"/>
          </a:xfrm>
          <a:prstGeom prst="straightConnector1">
            <a:avLst/>
          </a:prstGeom>
          <a:ln w="20955">
            <a:solidFill>
              <a:srgbClr val="176A9C"/>
            </a:solidFill>
            <a:prstDash val="solid"/>
          </a:ln>
        </p:spPr>
      </p:cxnSp>
      <p:cxnSp>
        <p:nvCxnSpPr>
          <p:cNvPr id="11" name="diagram-line-15">
            <a:extLst>
              <a:ext uri="{FF2B5EF4-FFF2-40B4-BE49-F238E27FC236}">
                <a16:creationId xmlns:a16="http://schemas.microsoft.com/office/drawing/2014/main" id="{09458C93-6238-4B54-938F-E42CDA72A60B}"/>
              </a:ext>
            </a:extLst>
          </p:cNvPr>
          <p:cNvCxnSpPr/>
          <p:nvPr/>
        </p:nvCxnSpPr>
        <p:spPr>
          <a:xfrm>
            <a:off x="3638550" y="2419350"/>
            <a:ext cx="95" cy="723900"/>
          </a:xfrm>
          <a:prstGeom prst="straightConnector1">
            <a:avLst/>
          </a:prstGeom>
          <a:ln w="20955">
            <a:solidFill>
              <a:srgbClr val="176A9C"/>
            </a:solidFill>
            <a:prstDash val="solid"/>
          </a:ln>
        </p:spPr>
      </p:cxnSp>
      <p:cxnSp>
        <p:nvCxnSpPr>
          <p:cNvPr id="12" name="diagram-line-16">
            <a:extLst>
              <a:ext uri="{FF2B5EF4-FFF2-40B4-BE49-F238E27FC236}">
                <a16:creationId xmlns:a16="http://schemas.microsoft.com/office/drawing/2014/main" id="{72939B4C-1B57-4210-8F9D-E66D89F174A2}"/>
              </a:ext>
            </a:extLst>
          </p:cNvPr>
          <p:cNvCxnSpPr/>
          <p:nvPr/>
        </p:nvCxnSpPr>
        <p:spPr>
          <a:xfrm>
            <a:off x="3638550" y="2419350"/>
            <a:ext cx="752475" cy="95"/>
          </a:xfrm>
          <a:prstGeom prst="straightConnector1">
            <a:avLst/>
          </a:prstGeom>
          <a:ln w="20955">
            <a:solidFill>
              <a:srgbClr val="176A9C"/>
            </a:solidFill>
            <a:prstDash val="solid"/>
            <a:tailEnd type="triangle" w="med" len="med"/>
          </a:ln>
        </p:spPr>
      </p:cxnSp>
      <p:sp>
        <p:nvSpPr>
          <p:cNvPr id="13" name="text-17">
            <a:extLst>
              <a:ext uri="{FF2B5EF4-FFF2-40B4-BE49-F238E27FC236}">
                <a16:creationId xmlns:a16="http://schemas.microsoft.com/office/drawing/2014/main" id="{DE98E0CD-9C03-492A-B608-EF8551596C33}"/>
              </a:ext>
            </a:extLst>
          </p:cNvPr>
          <p:cNvSpPr>
            <a:spLocks noGrp="1"/>
          </p:cNvSpPr>
          <p:nvPr/>
        </p:nvSpPr>
        <p:spPr>
          <a:xfrm>
            <a:off x="2990850" y="1866900"/>
            <a:ext cx="1333500" cy="56197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HTTP + JWT</a:t>
            </a:r>
          </a:p>
        </p:txBody>
      </p:sp>
      <p:cxnSp>
        <p:nvCxnSpPr>
          <p:cNvPr id="14" name="diagram-line-18">
            <a:extLst>
              <a:ext uri="{FF2B5EF4-FFF2-40B4-BE49-F238E27FC236}">
                <a16:creationId xmlns:a16="http://schemas.microsoft.com/office/drawing/2014/main" id="{2D27B066-FD99-423E-8F30-BDE741737099}"/>
              </a:ext>
            </a:extLst>
          </p:cNvPr>
          <p:cNvCxnSpPr/>
          <p:nvPr/>
        </p:nvCxnSpPr>
        <p:spPr>
          <a:xfrm>
            <a:off x="7172325" y="2419350"/>
            <a:ext cx="1809750" cy="95"/>
          </a:xfrm>
          <a:prstGeom prst="straightConnector1">
            <a:avLst/>
          </a:prstGeom>
          <a:ln w="20955">
            <a:solidFill>
              <a:srgbClr val="176A9C"/>
            </a:solidFill>
            <a:prstDash val="solid"/>
            <a:tailEnd type="triangle" w="med" len="med"/>
          </a:ln>
        </p:spPr>
      </p:cxnSp>
      <p:sp>
        <p:nvSpPr>
          <p:cNvPr id="15" name="text-19">
            <a:extLst>
              <a:ext uri="{FF2B5EF4-FFF2-40B4-BE49-F238E27FC236}">
                <a16:creationId xmlns:a16="http://schemas.microsoft.com/office/drawing/2014/main" id="{14FE4FBF-5730-496A-80FE-C95AE67CA856}"/>
              </a:ext>
            </a:extLst>
          </p:cNvPr>
          <p:cNvSpPr>
            <a:spLocks noGrp="1"/>
          </p:cNvSpPr>
          <p:nvPr/>
        </p:nvSpPr>
        <p:spPr>
          <a:xfrm>
            <a:off x="7353300" y="2019300"/>
            <a:ext cx="1466850" cy="33337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Transaction</a:t>
            </a:r>
          </a:p>
        </p:txBody>
      </p:sp>
      <p:cxnSp>
        <p:nvCxnSpPr>
          <p:cNvPr id="16" name="diagram-line-20">
            <a:extLst>
              <a:ext uri="{FF2B5EF4-FFF2-40B4-BE49-F238E27FC236}">
                <a16:creationId xmlns:a16="http://schemas.microsoft.com/office/drawing/2014/main" id="{DCB3E424-46AC-4106-9D86-0AE213DF05A1}"/>
              </a:ext>
            </a:extLst>
          </p:cNvPr>
          <p:cNvCxnSpPr/>
          <p:nvPr/>
        </p:nvCxnSpPr>
        <p:spPr>
          <a:xfrm>
            <a:off x="5781675" y="2981325"/>
            <a:ext cx="95" cy="1323975"/>
          </a:xfrm>
          <a:prstGeom prst="straightConnector1">
            <a:avLst/>
          </a:prstGeom>
          <a:ln w="20955">
            <a:solidFill>
              <a:srgbClr val="176A9C"/>
            </a:solidFill>
            <a:prstDash val="solid"/>
            <a:tailEnd type="triangle" w="med" len="med"/>
          </a:ln>
        </p:spPr>
      </p:cxnSp>
      <p:sp>
        <p:nvSpPr>
          <p:cNvPr id="17" name="text-21">
            <a:extLst>
              <a:ext uri="{FF2B5EF4-FFF2-40B4-BE49-F238E27FC236}">
                <a16:creationId xmlns:a16="http://schemas.microsoft.com/office/drawing/2014/main" id="{1A308596-0B07-47D0-B0EF-574D6E17D671}"/>
              </a:ext>
            </a:extLst>
          </p:cNvPr>
          <p:cNvSpPr>
            <a:spLocks noGrp="1"/>
          </p:cNvSpPr>
          <p:nvPr/>
        </p:nvSpPr>
        <p:spPr>
          <a:xfrm>
            <a:off x="6105525" y="3457575"/>
            <a:ext cx="2571750" cy="361950"/>
          </a:xfrm>
          <a:prstGeom prst="rect">
            <a:avLst/>
          </a:prstGeom>
          <a:noFill/>
          <a:ln w="0">
            <a:noFill/>
            <a:prstDash val="solid"/>
          </a:ln>
        </p:spPr>
        <p:txBody>
          <a:bodyPr wrap="square" lIns="0" tIns="0" rIns="0" bIns="0" anchor="t">
            <a:noAutofit/>
          </a:bodyPr>
          <a:lstStyle>
            <a:defPPr algn="l">
              <a:defRPr sz="1725" b="0">
                <a:solidFill>
                  <a:srgbClr val="176A9C"/>
                </a:solidFill>
                <a:latin typeface="DejaVu Sans"/>
                <a:ea typeface="DejaVu Sans"/>
                <a:cs typeface="DejaVu Sans"/>
              </a:defRPr>
            </a:defPPr>
          </a:lstStyle>
          <a:p>
            <a:pPr algn="l">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XADD sau commit</a:t>
            </a:r>
          </a:p>
        </p:txBody>
      </p:sp>
      <p:cxnSp>
        <p:nvCxnSpPr>
          <p:cNvPr id="18" name="diagram-line-22">
            <a:extLst>
              <a:ext uri="{FF2B5EF4-FFF2-40B4-BE49-F238E27FC236}">
                <a16:creationId xmlns:a16="http://schemas.microsoft.com/office/drawing/2014/main" id="{B22BD2BD-EABC-4215-8727-163AA43E19EA}"/>
              </a:ext>
            </a:extLst>
          </p:cNvPr>
          <p:cNvCxnSpPr/>
          <p:nvPr/>
        </p:nvCxnSpPr>
        <p:spPr>
          <a:xfrm>
            <a:off x="7172325" y="4933950"/>
            <a:ext cx="1809750" cy="95"/>
          </a:xfrm>
          <a:prstGeom prst="straightConnector1">
            <a:avLst/>
          </a:prstGeom>
          <a:ln w="20955">
            <a:solidFill>
              <a:srgbClr val="176A9C"/>
            </a:solidFill>
            <a:prstDash val="solid"/>
            <a:tailEnd type="triangle" w="med" len="med"/>
          </a:ln>
        </p:spPr>
      </p:cxnSp>
      <p:sp>
        <p:nvSpPr>
          <p:cNvPr id="19" name="text-23">
            <a:extLst>
              <a:ext uri="{FF2B5EF4-FFF2-40B4-BE49-F238E27FC236}">
                <a16:creationId xmlns:a16="http://schemas.microsoft.com/office/drawing/2014/main" id="{9480B103-6561-4374-BBF7-FD549B309E07}"/>
              </a:ext>
            </a:extLst>
          </p:cNvPr>
          <p:cNvSpPr>
            <a:spLocks noGrp="1"/>
          </p:cNvSpPr>
          <p:nvPr/>
        </p:nvSpPr>
        <p:spPr>
          <a:xfrm>
            <a:off x="7277100" y="4467225"/>
            <a:ext cx="1609725" cy="381000"/>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XREADGROUP</a:t>
            </a:r>
          </a:p>
        </p:txBody>
      </p:sp>
      <p:cxnSp>
        <p:nvCxnSpPr>
          <p:cNvPr id="20" name="diagram-line-24">
            <a:extLst>
              <a:ext uri="{FF2B5EF4-FFF2-40B4-BE49-F238E27FC236}">
                <a16:creationId xmlns:a16="http://schemas.microsoft.com/office/drawing/2014/main" id="{1E632946-373D-4E1D-92A5-74A3CB4E164E}"/>
              </a:ext>
            </a:extLst>
          </p:cNvPr>
          <p:cNvCxnSpPr/>
          <p:nvPr/>
        </p:nvCxnSpPr>
        <p:spPr>
          <a:xfrm>
            <a:off x="10277475" y="5572125"/>
            <a:ext cx="95" cy="333375"/>
          </a:xfrm>
          <a:prstGeom prst="straightConnector1">
            <a:avLst/>
          </a:prstGeom>
          <a:ln w="20955">
            <a:solidFill>
              <a:srgbClr val="007E82"/>
            </a:solidFill>
            <a:prstDash val="solid"/>
          </a:ln>
        </p:spPr>
      </p:cxnSp>
      <p:cxnSp>
        <p:nvCxnSpPr>
          <p:cNvPr id="21" name="diagram-line-25">
            <a:extLst>
              <a:ext uri="{FF2B5EF4-FFF2-40B4-BE49-F238E27FC236}">
                <a16:creationId xmlns:a16="http://schemas.microsoft.com/office/drawing/2014/main" id="{2498697F-68F0-4B6D-8646-16F7A31B895E}"/>
              </a:ext>
            </a:extLst>
          </p:cNvPr>
          <p:cNvCxnSpPr/>
          <p:nvPr/>
        </p:nvCxnSpPr>
        <p:spPr>
          <a:xfrm>
            <a:off x="1781175" y="5905500"/>
            <a:ext cx="8496300" cy="95"/>
          </a:xfrm>
          <a:prstGeom prst="straightConnector1">
            <a:avLst/>
          </a:prstGeom>
          <a:ln w="20955">
            <a:solidFill>
              <a:srgbClr val="007E82"/>
            </a:solidFill>
            <a:prstDash val="solid"/>
          </a:ln>
        </p:spPr>
      </p:cxnSp>
      <p:cxnSp>
        <p:nvCxnSpPr>
          <p:cNvPr id="22" name="diagram-line-26">
            <a:extLst>
              <a:ext uri="{FF2B5EF4-FFF2-40B4-BE49-F238E27FC236}">
                <a16:creationId xmlns:a16="http://schemas.microsoft.com/office/drawing/2014/main" id="{D3DF693B-1F2D-4199-9548-2A9E8143E091}"/>
              </a:ext>
            </a:extLst>
          </p:cNvPr>
          <p:cNvCxnSpPr/>
          <p:nvPr/>
        </p:nvCxnSpPr>
        <p:spPr>
          <a:xfrm>
            <a:off x="1781175" y="4343400"/>
            <a:ext cx="95" cy="1562100"/>
          </a:xfrm>
          <a:prstGeom prst="straightConnector1">
            <a:avLst/>
          </a:prstGeom>
          <a:ln w="20955">
            <a:solidFill>
              <a:srgbClr val="007E82"/>
            </a:solidFill>
            <a:prstDash val="solid"/>
            <a:headEnd type="triangle" w="med" len="med"/>
          </a:ln>
        </p:spPr>
      </p:cxnSp>
      <p:sp>
        <p:nvSpPr>
          <p:cNvPr id="23" name="text-27">
            <a:extLst>
              <a:ext uri="{FF2B5EF4-FFF2-40B4-BE49-F238E27FC236}">
                <a16:creationId xmlns:a16="http://schemas.microsoft.com/office/drawing/2014/main" id="{69E99F75-7746-4CEA-94DD-4D5036967926}"/>
              </a:ext>
            </a:extLst>
          </p:cNvPr>
          <p:cNvSpPr>
            <a:spLocks noGrp="1"/>
          </p:cNvSpPr>
          <p:nvPr/>
        </p:nvSpPr>
        <p:spPr>
          <a:xfrm>
            <a:off x="2743200" y="5972175"/>
            <a:ext cx="7524750" cy="333375"/>
          </a:xfrm>
          <a:prstGeom prst="rect">
            <a:avLst/>
          </a:prstGeom>
          <a:noFill/>
          <a:ln w="0">
            <a:noFill/>
            <a:prstDash val="solid"/>
          </a:ln>
        </p:spPr>
        <p:txBody>
          <a:bodyPr wrap="square" lIns="0" tIns="0" rIns="0" bIns="0" anchor="t">
            <a:noAutofit/>
          </a:bodyPr>
          <a:lstStyle>
            <a:defPPr algn="ctr">
              <a:defRPr sz="1800" b="0">
                <a:solidFill>
                  <a:srgbClr val="007E82"/>
                </a:solidFill>
                <a:latin typeface="DejaVu Sans"/>
                <a:ea typeface="DejaVu Sans"/>
                <a:cs typeface="DejaVu Sans"/>
              </a:defRPr>
            </a:defPPr>
          </a:lstStyle>
          <a:p>
            <a:pPr algn="ctr">
              <a:buNone/>
              <a:defRPr sz="1800" b="0">
                <a:solidFill>
                  <a:srgbClr val="007E82"/>
                </a:solidFill>
                <a:latin typeface="DejaVu Sans"/>
                <a:ea typeface="DejaVu Sans"/>
                <a:cs typeface="DejaVu Sans"/>
              </a:defRPr>
            </a:pPr>
            <a:r>
              <a:rPr sz="1800" b="0">
                <a:solidFill>
                  <a:srgbClr val="007E82"/>
                </a:solidFill>
                <a:latin typeface="DejaVu Sans"/>
                <a:ea typeface="DejaVu Sans"/>
                <a:cs typeface="DejaVu Sans"/>
              </a:rPr>
              <a:t>WebSocket phát tới các tab và thiết bị đang kết nối</a:t>
            </a:r>
          </a:p>
        </p:txBody>
      </p:sp>
    </p:spTree>
    <p:extLst>
      <p:ext uri="{BB962C8B-B14F-4D97-AF65-F5344CB8AC3E}">
        <p14:creationId xmlns:p14="http://schemas.microsoft.com/office/powerpoint/2010/main" val="764978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28">
            <a:extLst>
              <a:ext uri="{FF2B5EF4-FFF2-40B4-BE49-F238E27FC236}">
                <a16:creationId xmlns:a16="http://schemas.microsoft.com/office/drawing/2014/main" id="{50206D56-10B3-405D-8507-1348CBCA9DBD}"/>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Phân tầng trong chat-api</a:t>
            </a:r>
          </a:p>
        </p:txBody>
      </p:sp>
      <p:sp>
        <p:nvSpPr>
          <p:cNvPr id="2" name="text-29">
            <a:extLst>
              <a:ext uri="{FF2B5EF4-FFF2-40B4-BE49-F238E27FC236}">
                <a16:creationId xmlns:a16="http://schemas.microsoft.com/office/drawing/2014/main" id="{D37E0451-EB99-4E89-B186-996502CCFD08}"/>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main ghép các dependency. Service xử lý nghiệp vụ qua interface.</a:t>
            </a:r>
          </a:p>
        </p:txBody>
      </p:sp>
      <p:sp>
        <p:nvSpPr>
          <p:cNvPr id="3" name="text-30">
            <a:extLst>
              <a:ext uri="{FF2B5EF4-FFF2-40B4-BE49-F238E27FC236}">
                <a16:creationId xmlns:a16="http://schemas.microsoft.com/office/drawing/2014/main" id="{310BDCF5-676A-4B28-B91D-C9B91361AF37}"/>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31">
            <a:extLst>
              <a:ext uri="{FF2B5EF4-FFF2-40B4-BE49-F238E27FC236}">
                <a16:creationId xmlns:a16="http://schemas.microsoft.com/office/drawing/2014/main" id="{627BA6D3-27E7-4685-BB9B-34189FA62AEA}"/>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05 / 17</a:t>
            </a:r>
          </a:p>
        </p:txBody>
      </p:sp>
      <p:sp>
        <p:nvSpPr>
          <p:cNvPr id="5" name="diagram-node-32">
            <a:extLst>
              <a:ext uri="{FF2B5EF4-FFF2-40B4-BE49-F238E27FC236}">
                <a16:creationId xmlns:a16="http://schemas.microsoft.com/office/drawing/2014/main" id="{33F6758C-3DFD-4AAE-B205-4564E72E1E47}"/>
              </a:ext>
            </a:extLst>
          </p:cNvPr>
          <p:cNvSpPr>
            <a:spLocks noGrp="1"/>
          </p:cNvSpPr>
          <p:nvPr/>
        </p:nvSpPr>
        <p:spPr>
          <a:xfrm>
            <a:off x="609600" y="1943100"/>
            <a:ext cx="2590800" cy="723900"/>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2100" b="1">
                <a:solidFill>
                  <a:srgbClr val="15253B"/>
                </a:solidFill>
                <a:latin typeface="DejaVu Sans"/>
                <a:ea typeface="DejaVu Sans"/>
                <a:cs typeface="DejaVu Sans"/>
              </a:defRPr>
            </a:defPPr>
          </a:lstStyle>
          <a:p>
            <a:pPr algn="ctr">
              <a:buNone/>
              <a:defRPr sz="2100" b="1">
                <a:solidFill>
                  <a:srgbClr val="15253B"/>
                </a:solidFill>
                <a:latin typeface="DejaVu Sans"/>
                <a:ea typeface="DejaVu Sans"/>
                <a:cs typeface="DejaVu Sans"/>
              </a:defRPr>
            </a:pPr>
            <a:r>
              <a:rPr sz="2100" b="1">
                <a:solidFill>
                  <a:srgbClr val="15253B"/>
                </a:solidFill>
                <a:latin typeface="DejaVu Sans"/>
                <a:ea typeface="DejaVu Sans"/>
                <a:cs typeface="DejaVu Sans"/>
              </a:rPr>
              <a:t>Handler</a:t>
            </a:r>
          </a:p>
        </p:txBody>
      </p:sp>
      <p:sp>
        <p:nvSpPr>
          <p:cNvPr id="6" name="text-33">
            <a:extLst>
              <a:ext uri="{FF2B5EF4-FFF2-40B4-BE49-F238E27FC236}">
                <a16:creationId xmlns:a16="http://schemas.microsoft.com/office/drawing/2014/main" id="{AF74325B-304B-43B1-9D14-0E7B871F3FF5}"/>
              </a:ext>
            </a:extLst>
          </p:cNvPr>
          <p:cNvSpPr>
            <a:spLocks noGrp="1"/>
          </p:cNvSpPr>
          <p:nvPr/>
        </p:nvSpPr>
        <p:spPr>
          <a:xfrm>
            <a:off x="3714750" y="2028825"/>
            <a:ext cx="7715250" cy="742950"/>
          </a:xfrm>
          <a:prstGeom prst="rect">
            <a:avLst/>
          </a:prstGeom>
          <a:noFill/>
          <a:ln w="0">
            <a:noFill/>
            <a:prstDash val="solid"/>
          </a:ln>
        </p:spPr>
        <p:txBody>
          <a:bodyPr wrap="square" lIns="0" tIns="0" rIns="0" bIns="0" anchor="t">
            <a:noAutofit/>
          </a:bodyPr>
          <a:lstStyle>
            <a:defPPr algn="l">
              <a:defRPr sz="2100" b="0">
                <a:solidFill>
                  <a:srgbClr val="15253B"/>
                </a:solidFill>
                <a:latin typeface="DejaVu Sans"/>
                <a:ea typeface="DejaVu Sans"/>
                <a:cs typeface="DejaVu Sans"/>
              </a:defRPr>
            </a:defPPr>
          </a:lstStyle>
          <a:p>
            <a:pPr algn="l">
              <a:buNone/>
              <a:defRPr sz="2100" b="0">
                <a:solidFill>
                  <a:srgbClr val="15253B"/>
                </a:solidFill>
                <a:latin typeface="DejaVu Sans"/>
                <a:ea typeface="DejaVu Sans"/>
                <a:cs typeface="DejaVu Sans"/>
              </a:defRPr>
            </a:pPr>
            <a:r>
              <a:rPr sz="2100" b="0">
                <a:solidFill>
                  <a:srgbClr val="15253B"/>
                </a:solidFill>
                <a:latin typeface="DejaVu Sans"/>
                <a:ea typeface="DejaVu Sans"/>
                <a:cs typeface="DejaVu Sans"/>
              </a:rPr>
              <a:t>Gin đọc JSON, lấy actor đã xác thực và trả HTTP status</a:t>
            </a:r>
          </a:p>
        </p:txBody>
      </p:sp>
      <p:cxnSp>
        <p:nvCxnSpPr>
          <p:cNvPr id="7" name="diagram-line-34">
            <a:extLst>
              <a:ext uri="{FF2B5EF4-FFF2-40B4-BE49-F238E27FC236}">
                <a16:creationId xmlns:a16="http://schemas.microsoft.com/office/drawing/2014/main" id="{10189C79-F5CE-4341-A366-C3B90CB55D9F}"/>
              </a:ext>
            </a:extLst>
          </p:cNvPr>
          <p:cNvCxnSpPr/>
          <p:nvPr/>
        </p:nvCxnSpPr>
        <p:spPr>
          <a:xfrm>
            <a:off x="1905000" y="2667000"/>
            <a:ext cx="95" cy="304800"/>
          </a:xfrm>
          <a:prstGeom prst="straightConnector1">
            <a:avLst/>
          </a:prstGeom>
          <a:ln w="20955">
            <a:solidFill>
              <a:srgbClr val="176A9C"/>
            </a:solidFill>
            <a:prstDash val="solid"/>
            <a:tailEnd type="triangle" w="med" len="med"/>
          </a:ln>
        </p:spPr>
      </p:cxnSp>
      <p:sp>
        <p:nvSpPr>
          <p:cNvPr id="8" name="diagram-node-35">
            <a:extLst>
              <a:ext uri="{FF2B5EF4-FFF2-40B4-BE49-F238E27FC236}">
                <a16:creationId xmlns:a16="http://schemas.microsoft.com/office/drawing/2014/main" id="{1D2CDECD-CF31-455B-A9EE-636454EA0625}"/>
              </a:ext>
            </a:extLst>
          </p:cNvPr>
          <p:cNvSpPr>
            <a:spLocks noGrp="1"/>
          </p:cNvSpPr>
          <p:nvPr/>
        </p:nvSpPr>
        <p:spPr>
          <a:xfrm>
            <a:off x="609600" y="2971800"/>
            <a:ext cx="2590800" cy="723900"/>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2100" b="1">
                <a:solidFill>
                  <a:srgbClr val="15253B"/>
                </a:solidFill>
                <a:latin typeface="DejaVu Sans"/>
                <a:ea typeface="DejaVu Sans"/>
                <a:cs typeface="DejaVu Sans"/>
              </a:defRPr>
            </a:defPPr>
          </a:lstStyle>
          <a:p>
            <a:pPr algn="ctr">
              <a:buNone/>
              <a:defRPr sz="2100" b="1">
                <a:solidFill>
                  <a:srgbClr val="15253B"/>
                </a:solidFill>
                <a:latin typeface="DejaVu Sans"/>
                <a:ea typeface="DejaVu Sans"/>
                <a:cs typeface="DejaVu Sans"/>
              </a:defRPr>
            </a:pPr>
            <a:r>
              <a:rPr sz="2100" b="1">
                <a:solidFill>
                  <a:srgbClr val="15253B"/>
                </a:solidFill>
                <a:latin typeface="DejaVu Sans"/>
                <a:ea typeface="DejaVu Sans"/>
                <a:cs typeface="DejaVu Sans"/>
              </a:rPr>
              <a:t>Service</a:t>
            </a:r>
          </a:p>
        </p:txBody>
      </p:sp>
      <p:sp>
        <p:nvSpPr>
          <p:cNvPr id="9" name="text-36">
            <a:extLst>
              <a:ext uri="{FF2B5EF4-FFF2-40B4-BE49-F238E27FC236}">
                <a16:creationId xmlns:a16="http://schemas.microsoft.com/office/drawing/2014/main" id="{85E50675-46DC-47EA-BB9A-821D5156C6BC}"/>
              </a:ext>
            </a:extLst>
          </p:cNvPr>
          <p:cNvSpPr>
            <a:spLocks noGrp="1"/>
          </p:cNvSpPr>
          <p:nvPr/>
        </p:nvSpPr>
        <p:spPr>
          <a:xfrm>
            <a:off x="3714750" y="3057525"/>
            <a:ext cx="7715250" cy="742950"/>
          </a:xfrm>
          <a:prstGeom prst="rect">
            <a:avLst/>
          </a:prstGeom>
          <a:noFill/>
          <a:ln w="0">
            <a:noFill/>
            <a:prstDash val="solid"/>
          </a:ln>
        </p:spPr>
        <p:txBody>
          <a:bodyPr wrap="square" lIns="0" tIns="0" rIns="0" bIns="0" anchor="t">
            <a:noAutofit/>
          </a:bodyPr>
          <a:lstStyle>
            <a:defPPr algn="l">
              <a:defRPr sz="2100" b="0">
                <a:solidFill>
                  <a:srgbClr val="15253B"/>
                </a:solidFill>
                <a:latin typeface="DejaVu Sans"/>
                <a:ea typeface="DejaVu Sans"/>
                <a:cs typeface="DejaVu Sans"/>
              </a:defRPr>
            </a:defPPr>
          </a:lstStyle>
          <a:p>
            <a:pPr algn="l">
              <a:buNone/>
              <a:defRPr sz="2100" b="0">
                <a:solidFill>
                  <a:srgbClr val="15253B"/>
                </a:solidFill>
                <a:latin typeface="DejaVu Sans"/>
                <a:ea typeface="DejaVu Sans"/>
                <a:cs typeface="DejaVu Sans"/>
              </a:defRPr>
            </a:pPr>
            <a:r>
              <a:rPr sz="2100" b="0">
                <a:solidFill>
                  <a:srgbClr val="15253B"/>
                </a:solidFill>
                <a:latin typeface="DejaVu Sans"/>
                <a:ea typeface="DejaVu Sans"/>
                <a:cs typeface="DejaVu Sans"/>
              </a:rPr>
              <a:t>Kiểm tra nghiệp vụ, gọi repository và publisher qua interface</a:t>
            </a:r>
          </a:p>
        </p:txBody>
      </p:sp>
      <p:cxnSp>
        <p:nvCxnSpPr>
          <p:cNvPr id="10" name="diagram-line-37">
            <a:extLst>
              <a:ext uri="{FF2B5EF4-FFF2-40B4-BE49-F238E27FC236}">
                <a16:creationId xmlns:a16="http://schemas.microsoft.com/office/drawing/2014/main" id="{14C15F48-0DC4-437D-8F14-D5D968297806}"/>
              </a:ext>
            </a:extLst>
          </p:cNvPr>
          <p:cNvCxnSpPr/>
          <p:nvPr/>
        </p:nvCxnSpPr>
        <p:spPr>
          <a:xfrm>
            <a:off x="1905000" y="3695700"/>
            <a:ext cx="95" cy="304800"/>
          </a:xfrm>
          <a:prstGeom prst="straightConnector1">
            <a:avLst/>
          </a:prstGeom>
          <a:ln w="20955">
            <a:solidFill>
              <a:srgbClr val="176A9C"/>
            </a:solidFill>
            <a:prstDash val="solid"/>
            <a:tailEnd type="triangle" w="med" len="med"/>
          </a:ln>
        </p:spPr>
      </p:cxnSp>
      <p:sp>
        <p:nvSpPr>
          <p:cNvPr id="11" name="diagram-node-38">
            <a:extLst>
              <a:ext uri="{FF2B5EF4-FFF2-40B4-BE49-F238E27FC236}">
                <a16:creationId xmlns:a16="http://schemas.microsoft.com/office/drawing/2014/main" id="{E8914F06-9977-41FB-89AF-624E1FD56DF8}"/>
              </a:ext>
            </a:extLst>
          </p:cNvPr>
          <p:cNvSpPr>
            <a:spLocks noGrp="1"/>
          </p:cNvSpPr>
          <p:nvPr/>
        </p:nvSpPr>
        <p:spPr>
          <a:xfrm>
            <a:off x="609600" y="4000500"/>
            <a:ext cx="2590800" cy="723900"/>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2100" b="1">
                <a:solidFill>
                  <a:srgbClr val="15253B"/>
                </a:solidFill>
                <a:latin typeface="DejaVu Sans"/>
                <a:ea typeface="DejaVu Sans"/>
                <a:cs typeface="DejaVu Sans"/>
              </a:defRPr>
            </a:defPPr>
          </a:lstStyle>
          <a:p>
            <a:pPr algn="ctr">
              <a:buNone/>
              <a:defRPr sz="2100" b="1">
                <a:solidFill>
                  <a:srgbClr val="15253B"/>
                </a:solidFill>
                <a:latin typeface="DejaVu Sans"/>
                <a:ea typeface="DejaVu Sans"/>
                <a:cs typeface="DejaVu Sans"/>
              </a:defRPr>
            </a:pPr>
            <a:r>
              <a:rPr sz="2100" b="1">
                <a:solidFill>
                  <a:srgbClr val="15253B"/>
                </a:solidFill>
                <a:latin typeface="DejaVu Sans"/>
                <a:ea typeface="DejaVu Sans"/>
                <a:cs typeface="DejaVu Sans"/>
              </a:rPr>
              <a:t>Repository</a:t>
            </a:r>
          </a:p>
        </p:txBody>
      </p:sp>
      <p:sp>
        <p:nvSpPr>
          <p:cNvPr id="12" name="text-39">
            <a:extLst>
              <a:ext uri="{FF2B5EF4-FFF2-40B4-BE49-F238E27FC236}">
                <a16:creationId xmlns:a16="http://schemas.microsoft.com/office/drawing/2014/main" id="{A55E808F-8B13-4BB3-9C99-D3EA99E6CE04}"/>
              </a:ext>
            </a:extLst>
          </p:cNvPr>
          <p:cNvSpPr>
            <a:spLocks noGrp="1"/>
          </p:cNvSpPr>
          <p:nvPr/>
        </p:nvSpPr>
        <p:spPr>
          <a:xfrm>
            <a:off x="3714750" y="4086225"/>
            <a:ext cx="7715250" cy="742950"/>
          </a:xfrm>
          <a:prstGeom prst="rect">
            <a:avLst/>
          </a:prstGeom>
          <a:noFill/>
          <a:ln w="0">
            <a:noFill/>
            <a:prstDash val="solid"/>
          </a:ln>
        </p:spPr>
        <p:txBody>
          <a:bodyPr wrap="square" lIns="0" tIns="0" rIns="0" bIns="0" anchor="t">
            <a:noAutofit/>
          </a:bodyPr>
          <a:lstStyle>
            <a:defPPr algn="l">
              <a:defRPr sz="2100" b="0">
                <a:solidFill>
                  <a:srgbClr val="15253B"/>
                </a:solidFill>
                <a:latin typeface="DejaVu Sans"/>
                <a:ea typeface="DejaVu Sans"/>
                <a:cs typeface="DejaVu Sans"/>
              </a:defRPr>
            </a:defPPr>
          </a:lstStyle>
          <a:p>
            <a:pPr algn="l">
              <a:buNone/>
              <a:defRPr sz="2100" b="0">
                <a:solidFill>
                  <a:srgbClr val="15253B"/>
                </a:solidFill>
                <a:latin typeface="DejaVu Sans"/>
                <a:ea typeface="DejaVu Sans"/>
                <a:cs typeface="DejaVu Sans"/>
              </a:defRPr>
            </a:pPr>
            <a:r>
              <a:rPr sz="2100" b="0">
                <a:solidFill>
                  <a:srgbClr val="15253B"/>
                </a:solidFill>
                <a:latin typeface="DejaVu Sans"/>
                <a:ea typeface="DejaVu Sans"/>
                <a:cs typeface="DejaVu Sans"/>
              </a:rPr>
              <a:t>pgx quản lý transaction. sqlc tạo truy vấn Go từ SQL</a:t>
            </a:r>
          </a:p>
        </p:txBody>
      </p:sp>
      <p:cxnSp>
        <p:nvCxnSpPr>
          <p:cNvPr id="13" name="diagram-line-40">
            <a:extLst>
              <a:ext uri="{FF2B5EF4-FFF2-40B4-BE49-F238E27FC236}">
                <a16:creationId xmlns:a16="http://schemas.microsoft.com/office/drawing/2014/main" id="{E56C4995-1380-493B-B254-276FF9050EAB}"/>
              </a:ext>
            </a:extLst>
          </p:cNvPr>
          <p:cNvCxnSpPr/>
          <p:nvPr/>
        </p:nvCxnSpPr>
        <p:spPr>
          <a:xfrm>
            <a:off x="1905000" y="4724400"/>
            <a:ext cx="95" cy="304800"/>
          </a:xfrm>
          <a:prstGeom prst="straightConnector1">
            <a:avLst/>
          </a:prstGeom>
          <a:ln w="20955">
            <a:solidFill>
              <a:srgbClr val="176A9C"/>
            </a:solidFill>
            <a:prstDash val="solid"/>
            <a:tailEnd type="triangle" w="med" len="med"/>
          </a:ln>
        </p:spPr>
      </p:cxnSp>
      <p:sp>
        <p:nvSpPr>
          <p:cNvPr id="14" name="diagram-node-41">
            <a:extLst>
              <a:ext uri="{FF2B5EF4-FFF2-40B4-BE49-F238E27FC236}">
                <a16:creationId xmlns:a16="http://schemas.microsoft.com/office/drawing/2014/main" id="{31BBB682-F8AE-4FAA-A2E0-21542A051DA2}"/>
              </a:ext>
            </a:extLst>
          </p:cNvPr>
          <p:cNvSpPr>
            <a:spLocks noGrp="1"/>
          </p:cNvSpPr>
          <p:nvPr/>
        </p:nvSpPr>
        <p:spPr>
          <a:xfrm>
            <a:off x="609600" y="5029200"/>
            <a:ext cx="2590800" cy="723900"/>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2100" b="1">
                <a:solidFill>
                  <a:srgbClr val="15253B"/>
                </a:solidFill>
                <a:latin typeface="DejaVu Sans"/>
                <a:ea typeface="DejaVu Sans"/>
                <a:cs typeface="DejaVu Sans"/>
              </a:defRPr>
            </a:defPPr>
          </a:lstStyle>
          <a:p>
            <a:pPr algn="ctr">
              <a:buNone/>
              <a:defRPr sz="2100" b="1">
                <a:solidFill>
                  <a:srgbClr val="15253B"/>
                </a:solidFill>
                <a:latin typeface="DejaVu Sans"/>
                <a:ea typeface="DejaVu Sans"/>
                <a:cs typeface="DejaVu Sans"/>
              </a:defRPr>
            </a:pPr>
            <a:r>
              <a:rPr sz="2100" b="1">
                <a:solidFill>
                  <a:srgbClr val="15253B"/>
                </a:solidFill>
                <a:latin typeface="DejaVu Sans"/>
                <a:ea typeface="DejaVu Sans"/>
                <a:cs typeface="DejaVu Sans"/>
              </a:rPr>
              <a:t>PostgreSQL</a:t>
            </a:r>
          </a:p>
        </p:txBody>
      </p:sp>
      <p:sp>
        <p:nvSpPr>
          <p:cNvPr id="15" name="text-42">
            <a:extLst>
              <a:ext uri="{FF2B5EF4-FFF2-40B4-BE49-F238E27FC236}">
                <a16:creationId xmlns:a16="http://schemas.microsoft.com/office/drawing/2014/main" id="{8998B0F7-5EE1-4B9A-BE70-327B7B61B481}"/>
              </a:ext>
            </a:extLst>
          </p:cNvPr>
          <p:cNvSpPr>
            <a:spLocks noGrp="1"/>
          </p:cNvSpPr>
          <p:nvPr/>
        </p:nvSpPr>
        <p:spPr>
          <a:xfrm>
            <a:off x="3714750" y="5114925"/>
            <a:ext cx="7715250" cy="742950"/>
          </a:xfrm>
          <a:prstGeom prst="rect">
            <a:avLst/>
          </a:prstGeom>
          <a:noFill/>
          <a:ln w="0">
            <a:noFill/>
            <a:prstDash val="solid"/>
          </a:ln>
        </p:spPr>
        <p:txBody>
          <a:bodyPr wrap="square" lIns="0" tIns="0" rIns="0" bIns="0" anchor="t">
            <a:noAutofit/>
          </a:bodyPr>
          <a:lstStyle>
            <a:defPPr algn="l">
              <a:defRPr sz="2100" b="0">
                <a:solidFill>
                  <a:srgbClr val="15253B"/>
                </a:solidFill>
                <a:latin typeface="DejaVu Sans"/>
                <a:ea typeface="DejaVu Sans"/>
                <a:cs typeface="DejaVu Sans"/>
              </a:defRPr>
            </a:defPPr>
          </a:lstStyle>
          <a:p>
            <a:pPr algn="l">
              <a:buNone/>
              <a:defRPr sz="2100" b="0">
                <a:solidFill>
                  <a:srgbClr val="15253B"/>
                </a:solidFill>
                <a:latin typeface="DejaVu Sans"/>
                <a:ea typeface="DejaVu Sans"/>
                <a:cs typeface="DejaVu Sans"/>
              </a:defRPr>
            </a:pPr>
            <a:r>
              <a:rPr sz="2100" b="0">
                <a:solidFill>
                  <a:srgbClr val="15253B"/>
                </a:solidFill>
                <a:latin typeface="DejaVu Sans"/>
                <a:ea typeface="DejaVu Sans"/>
                <a:cs typeface="DejaVu Sans"/>
              </a:rPr>
              <a:t>Row lock, khóa ngoại và unique constraint bảo vệ dữ liệu</a:t>
            </a:r>
          </a:p>
        </p:txBody>
      </p:sp>
    </p:spTree>
    <p:extLst>
      <p:ext uri="{BB962C8B-B14F-4D97-AF65-F5344CB8AC3E}">
        <p14:creationId xmlns:p14="http://schemas.microsoft.com/office/powerpoint/2010/main" val="1844070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text-43">
            <a:extLst>
              <a:ext uri="{FF2B5EF4-FFF2-40B4-BE49-F238E27FC236}">
                <a16:creationId xmlns:a16="http://schemas.microsoft.com/office/drawing/2014/main" id="{271815C8-C5C2-4C0E-9C73-E34CBD45E87D}"/>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Mô hình dữ liệu chat</a:t>
            </a:r>
          </a:p>
        </p:txBody>
      </p:sp>
      <p:sp>
        <p:nvSpPr>
          <p:cNvPr id="2" name="text-44">
            <a:extLst>
              <a:ext uri="{FF2B5EF4-FFF2-40B4-BE49-F238E27FC236}">
                <a16:creationId xmlns:a16="http://schemas.microsoft.com/office/drawing/2014/main" id="{66FCA60E-0047-4A00-B908-E20F5F17E66F}"/>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participants lưu từng lần tham gia. messages dùng sequence riêng trong thread.</a:t>
            </a:r>
          </a:p>
        </p:txBody>
      </p:sp>
      <p:sp>
        <p:nvSpPr>
          <p:cNvPr id="3" name="text-45">
            <a:extLst>
              <a:ext uri="{FF2B5EF4-FFF2-40B4-BE49-F238E27FC236}">
                <a16:creationId xmlns:a16="http://schemas.microsoft.com/office/drawing/2014/main" id="{30FB3ACC-730E-4369-9737-FB8216C6CF4D}"/>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46">
            <a:extLst>
              <a:ext uri="{FF2B5EF4-FFF2-40B4-BE49-F238E27FC236}">
                <a16:creationId xmlns:a16="http://schemas.microsoft.com/office/drawing/2014/main" id="{6B6F1A09-8473-4233-AD1B-95EAA1BD8C04}"/>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06 / 17</a:t>
            </a:r>
          </a:p>
        </p:txBody>
      </p:sp>
      <p:sp>
        <p:nvSpPr>
          <p:cNvPr id="5" name="diagram-node-47">
            <a:extLst>
              <a:ext uri="{FF2B5EF4-FFF2-40B4-BE49-F238E27FC236}">
                <a16:creationId xmlns:a16="http://schemas.microsoft.com/office/drawing/2014/main" id="{75827BE5-21E2-48C2-BDA9-BCC4F6FABDB5}"/>
              </a:ext>
            </a:extLst>
          </p:cNvPr>
          <p:cNvSpPr>
            <a:spLocks noGrp="1"/>
          </p:cNvSpPr>
          <p:nvPr/>
        </p:nvSpPr>
        <p:spPr>
          <a:xfrm>
            <a:off x="609600" y="2190750"/>
            <a:ext cx="2667000" cy="134302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users</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id, external_id</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username, dữ liệu khóa</a:t>
            </a:r>
          </a:p>
        </p:txBody>
      </p:sp>
      <p:sp>
        <p:nvSpPr>
          <p:cNvPr id="6" name="diagram-node-48">
            <a:extLst>
              <a:ext uri="{FF2B5EF4-FFF2-40B4-BE49-F238E27FC236}">
                <a16:creationId xmlns:a16="http://schemas.microsoft.com/office/drawing/2014/main" id="{82CA507A-B19C-4685-A312-B59E318EB35A}"/>
              </a:ext>
            </a:extLst>
          </p:cNvPr>
          <p:cNvSpPr>
            <a:spLocks noGrp="1"/>
          </p:cNvSpPr>
          <p:nvPr/>
        </p:nvSpPr>
        <p:spPr>
          <a:xfrm>
            <a:off x="4514850" y="2047875"/>
            <a:ext cx="3162300" cy="1724025"/>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participants</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user_id, thread_id, role</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joined_seq, left_seq</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last_read_seq</a:t>
            </a:r>
          </a:p>
        </p:txBody>
      </p:sp>
      <p:sp>
        <p:nvSpPr>
          <p:cNvPr id="7" name="diagram-node-49">
            <a:extLst>
              <a:ext uri="{FF2B5EF4-FFF2-40B4-BE49-F238E27FC236}">
                <a16:creationId xmlns:a16="http://schemas.microsoft.com/office/drawing/2014/main" id="{2648E6F5-75E4-4CDB-B392-807DBC6C7E1A}"/>
              </a:ext>
            </a:extLst>
          </p:cNvPr>
          <p:cNvSpPr>
            <a:spLocks noGrp="1"/>
          </p:cNvSpPr>
          <p:nvPr/>
        </p:nvSpPr>
        <p:spPr>
          <a:xfrm>
            <a:off x="8915400" y="2190750"/>
            <a:ext cx="2667000" cy="134302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threads</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kind, last_seq</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current_epoch_id</a:t>
            </a:r>
          </a:p>
        </p:txBody>
      </p:sp>
      <p:sp>
        <p:nvSpPr>
          <p:cNvPr id="8" name="diagram-node-50">
            <a:extLst>
              <a:ext uri="{FF2B5EF4-FFF2-40B4-BE49-F238E27FC236}">
                <a16:creationId xmlns:a16="http://schemas.microsoft.com/office/drawing/2014/main" id="{6A132ED1-A381-45A8-AD33-88A43C95EC7E}"/>
              </a:ext>
            </a:extLst>
          </p:cNvPr>
          <p:cNvSpPr>
            <a:spLocks noGrp="1"/>
          </p:cNvSpPr>
          <p:nvPr/>
        </p:nvSpPr>
        <p:spPr>
          <a:xfrm>
            <a:off x="4514850" y="4333875"/>
            <a:ext cx="3162300" cy="1600200"/>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messages</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external_id, thread_id</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sender_id, seq</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content_format, content</a:t>
            </a:r>
          </a:p>
        </p:txBody>
      </p:sp>
      <p:cxnSp>
        <p:nvCxnSpPr>
          <p:cNvPr id="9" name="diagram-line-51">
            <a:extLst>
              <a:ext uri="{FF2B5EF4-FFF2-40B4-BE49-F238E27FC236}">
                <a16:creationId xmlns:a16="http://schemas.microsoft.com/office/drawing/2014/main" id="{D66CF35F-FED9-42E0-A3A4-ED5184FE6FC4}"/>
              </a:ext>
            </a:extLst>
          </p:cNvPr>
          <p:cNvCxnSpPr/>
          <p:nvPr/>
        </p:nvCxnSpPr>
        <p:spPr>
          <a:xfrm>
            <a:off x="3276600" y="2847975"/>
            <a:ext cx="1238250" cy="95"/>
          </a:xfrm>
          <a:prstGeom prst="straightConnector1">
            <a:avLst/>
          </a:prstGeom>
          <a:ln w="20955">
            <a:solidFill>
              <a:srgbClr val="176A9C"/>
            </a:solidFill>
            <a:prstDash val="solid"/>
            <a:tailEnd type="triangle" w="med" len="med"/>
          </a:ln>
        </p:spPr>
      </p:cxnSp>
      <p:sp>
        <p:nvSpPr>
          <p:cNvPr id="10" name="text-52">
            <a:extLst>
              <a:ext uri="{FF2B5EF4-FFF2-40B4-BE49-F238E27FC236}">
                <a16:creationId xmlns:a16="http://schemas.microsoft.com/office/drawing/2014/main" id="{046CEA91-EC03-462F-BAE6-4A935169ABDF}"/>
              </a:ext>
            </a:extLst>
          </p:cNvPr>
          <p:cNvSpPr>
            <a:spLocks noGrp="1"/>
          </p:cNvSpPr>
          <p:nvPr/>
        </p:nvSpPr>
        <p:spPr>
          <a:xfrm>
            <a:off x="3381375" y="2457450"/>
            <a:ext cx="1028700" cy="33337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1 : N</a:t>
            </a:r>
          </a:p>
        </p:txBody>
      </p:sp>
      <p:cxnSp>
        <p:nvCxnSpPr>
          <p:cNvPr id="11" name="diagram-line-53">
            <a:extLst>
              <a:ext uri="{FF2B5EF4-FFF2-40B4-BE49-F238E27FC236}">
                <a16:creationId xmlns:a16="http://schemas.microsoft.com/office/drawing/2014/main" id="{D692DE2F-CAAC-45FA-B273-58E4EE65E394}"/>
              </a:ext>
            </a:extLst>
          </p:cNvPr>
          <p:cNvCxnSpPr/>
          <p:nvPr/>
        </p:nvCxnSpPr>
        <p:spPr>
          <a:xfrm>
            <a:off x="7677150" y="2847975"/>
            <a:ext cx="1238250" cy="95"/>
          </a:xfrm>
          <a:prstGeom prst="straightConnector1">
            <a:avLst/>
          </a:prstGeom>
          <a:ln w="20955">
            <a:solidFill>
              <a:srgbClr val="176A9C"/>
            </a:solidFill>
            <a:prstDash val="solid"/>
            <a:headEnd type="triangle" w="med" len="med"/>
          </a:ln>
        </p:spPr>
      </p:cxnSp>
      <p:sp>
        <p:nvSpPr>
          <p:cNvPr id="12" name="text-54">
            <a:extLst>
              <a:ext uri="{FF2B5EF4-FFF2-40B4-BE49-F238E27FC236}">
                <a16:creationId xmlns:a16="http://schemas.microsoft.com/office/drawing/2014/main" id="{7B14A322-D9A6-4EF1-BCB6-9D15A8348239}"/>
              </a:ext>
            </a:extLst>
          </p:cNvPr>
          <p:cNvSpPr>
            <a:spLocks noGrp="1"/>
          </p:cNvSpPr>
          <p:nvPr/>
        </p:nvSpPr>
        <p:spPr>
          <a:xfrm>
            <a:off x="7791450" y="2457450"/>
            <a:ext cx="1028700" cy="33337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1 : N</a:t>
            </a:r>
          </a:p>
        </p:txBody>
      </p:sp>
      <p:cxnSp>
        <p:nvCxnSpPr>
          <p:cNvPr id="13" name="diagram-line-55">
            <a:extLst>
              <a:ext uri="{FF2B5EF4-FFF2-40B4-BE49-F238E27FC236}">
                <a16:creationId xmlns:a16="http://schemas.microsoft.com/office/drawing/2014/main" id="{12A8CB6D-52EF-4AA3-A5DD-D89C21543549}"/>
              </a:ext>
            </a:extLst>
          </p:cNvPr>
          <p:cNvCxnSpPr/>
          <p:nvPr/>
        </p:nvCxnSpPr>
        <p:spPr>
          <a:xfrm>
            <a:off x="1943100" y="3533775"/>
            <a:ext cx="95" cy="1562100"/>
          </a:xfrm>
          <a:prstGeom prst="straightConnector1">
            <a:avLst/>
          </a:prstGeom>
          <a:ln w="20955">
            <a:solidFill>
              <a:srgbClr val="176A9C"/>
            </a:solidFill>
            <a:prstDash val="solid"/>
          </a:ln>
        </p:spPr>
      </p:cxnSp>
      <p:cxnSp>
        <p:nvCxnSpPr>
          <p:cNvPr id="14" name="diagram-line-56">
            <a:extLst>
              <a:ext uri="{FF2B5EF4-FFF2-40B4-BE49-F238E27FC236}">
                <a16:creationId xmlns:a16="http://schemas.microsoft.com/office/drawing/2014/main" id="{0D7D0266-70CF-46DC-B6F4-B7F5731941F6}"/>
              </a:ext>
            </a:extLst>
          </p:cNvPr>
          <p:cNvCxnSpPr/>
          <p:nvPr/>
        </p:nvCxnSpPr>
        <p:spPr>
          <a:xfrm>
            <a:off x="1943100" y="5095875"/>
            <a:ext cx="2571750" cy="95"/>
          </a:xfrm>
          <a:prstGeom prst="straightConnector1">
            <a:avLst/>
          </a:prstGeom>
          <a:ln w="20955">
            <a:solidFill>
              <a:srgbClr val="176A9C"/>
            </a:solidFill>
            <a:prstDash val="solid"/>
            <a:tailEnd type="triangle" w="med" len="med"/>
          </a:ln>
        </p:spPr>
      </p:cxnSp>
      <p:sp>
        <p:nvSpPr>
          <p:cNvPr id="15" name="text-57">
            <a:extLst>
              <a:ext uri="{FF2B5EF4-FFF2-40B4-BE49-F238E27FC236}">
                <a16:creationId xmlns:a16="http://schemas.microsoft.com/office/drawing/2014/main" id="{CBB7918A-7E0C-4FE7-92F9-D3422F2B9595}"/>
              </a:ext>
            </a:extLst>
          </p:cNvPr>
          <p:cNvSpPr>
            <a:spLocks noGrp="1"/>
          </p:cNvSpPr>
          <p:nvPr/>
        </p:nvSpPr>
        <p:spPr>
          <a:xfrm>
            <a:off x="2324100" y="4705350"/>
            <a:ext cx="857250" cy="333375"/>
          </a:xfrm>
          <a:prstGeom prst="rect">
            <a:avLst/>
          </a:prstGeom>
          <a:noFill/>
          <a:ln w="0">
            <a:noFill/>
            <a:prstDash val="solid"/>
          </a:ln>
        </p:spPr>
        <p:txBody>
          <a:bodyPr wrap="square" lIns="0" tIns="0" rIns="0" bIns="0" anchor="t">
            <a:noAutofit/>
          </a:bodyPr>
          <a:lstStyle>
            <a:defPPr algn="l">
              <a:defRPr sz="1800" b="0">
                <a:solidFill>
                  <a:srgbClr val="176A9C"/>
                </a:solidFill>
                <a:latin typeface="DejaVu Sans"/>
                <a:ea typeface="DejaVu Sans"/>
                <a:cs typeface="DejaVu Sans"/>
              </a:defRPr>
            </a:defPPr>
          </a:lstStyle>
          <a:p>
            <a:pPr algn="l">
              <a:buNone/>
              <a:defRPr sz="1800" b="0">
                <a:solidFill>
                  <a:srgbClr val="176A9C"/>
                </a:solidFill>
                <a:latin typeface="DejaVu Sans"/>
                <a:ea typeface="DejaVu Sans"/>
                <a:cs typeface="DejaVu Sans"/>
              </a:defRPr>
            </a:pPr>
            <a:r>
              <a:rPr sz="1800" b="0">
                <a:solidFill>
                  <a:srgbClr val="176A9C"/>
                </a:solidFill>
                <a:latin typeface="DejaVu Sans"/>
                <a:ea typeface="DejaVu Sans"/>
                <a:cs typeface="DejaVu Sans"/>
              </a:rPr>
              <a:t>gửi</a:t>
            </a:r>
          </a:p>
        </p:txBody>
      </p:sp>
      <p:cxnSp>
        <p:nvCxnSpPr>
          <p:cNvPr id="16" name="diagram-line-58">
            <a:extLst>
              <a:ext uri="{FF2B5EF4-FFF2-40B4-BE49-F238E27FC236}">
                <a16:creationId xmlns:a16="http://schemas.microsoft.com/office/drawing/2014/main" id="{24170EFD-0E1F-4EDC-862F-AEFA7952D648}"/>
              </a:ext>
            </a:extLst>
          </p:cNvPr>
          <p:cNvCxnSpPr/>
          <p:nvPr/>
        </p:nvCxnSpPr>
        <p:spPr>
          <a:xfrm>
            <a:off x="10248900" y="3533775"/>
            <a:ext cx="95" cy="1562100"/>
          </a:xfrm>
          <a:prstGeom prst="straightConnector1">
            <a:avLst/>
          </a:prstGeom>
          <a:ln w="20955">
            <a:solidFill>
              <a:srgbClr val="176A9C"/>
            </a:solidFill>
            <a:prstDash val="solid"/>
          </a:ln>
        </p:spPr>
      </p:cxnSp>
      <p:cxnSp>
        <p:nvCxnSpPr>
          <p:cNvPr id="17" name="diagram-line-59">
            <a:extLst>
              <a:ext uri="{FF2B5EF4-FFF2-40B4-BE49-F238E27FC236}">
                <a16:creationId xmlns:a16="http://schemas.microsoft.com/office/drawing/2014/main" id="{B0BD94D3-2585-4951-9A8B-22A0BEC17BF9}"/>
              </a:ext>
            </a:extLst>
          </p:cNvPr>
          <p:cNvCxnSpPr/>
          <p:nvPr/>
        </p:nvCxnSpPr>
        <p:spPr>
          <a:xfrm>
            <a:off x="7677150" y="5095875"/>
            <a:ext cx="2571750" cy="95"/>
          </a:xfrm>
          <a:prstGeom prst="straightConnector1">
            <a:avLst/>
          </a:prstGeom>
          <a:ln w="20955">
            <a:solidFill>
              <a:srgbClr val="176A9C"/>
            </a:solidFill>
            <a:prstDash val="solid"/>
            <a:headEnd type="triangle" w="med" len="med"/>
          </a:ln>
        </p:spPr>
      </p:cxnSp>
      <p:sp>
        <p:nvSpPr>
          <p:cNvPr id="18" name="text-60">
            <a:extLst>
              <a:ext uri="{FF2B5EF4-FFF2-40B4-BE49-F238E27FC236}">
                <a16:creationId xmlns:a16="http://schemas.microsoft.com/office/drawing/2014/main" id="{BBD13AC5-6920-4BD3-9840-3150296E724D}"/>
              </a:ext>
            </a:extLst>
          </p:cNvPr>
          <p:cNvSpPr>
            <a:spLocks noGrp="1"/>
          </p:cNvSpPr>
          <p:nvPr/>
        </p:nvSpPr>
        <p:spPr>
          <a:xfrm>
            <a:off x="8915400" y="4705350"/>
            <a:ext cx="914400" cy="333375"/>
          </a:xfrm>
          <a:prstGeom prst="rect">
            <a:avLst/>
          </a:prstGeom>
          <a:noFill/>
          <a:ln w="0">
            <a:noFill/>
            <a:prstDash val="solid"/>
          </a:ln>
        </p:spPr>
        <p:txBody>
          <a:bodyPr wrap="square" lIns="0" tIns="0" rIns="0" bIns="0" anchor="t">
            <a:noAutofit/>
          </a:bodyPr>
          <a:lstStyle>
            <a:defPPr algn="l">
              <a:defRPr sz="1800" b="0">
                <a:solidFill>
                  <a:srgbClr val="176A9C"/>
                </a:solidFill>
                <a:latin typeface="DejaVu Sans"/>
                <a:ea typeface="DejaVu Sans"/>
                <a:cs typeface="DejaVu Sans"/>
              </a:defRPr>
            </a:defPPr>
          </a:lstStyle>
          <a:p>
            <a:pPr algn="l">
              <a:buNone/>
              <a:defRPr sz="1800" b="0">
                <a:solidFill>
                  <a:srgbClr val="176A9C"/>
                </a:solidFill>
                <a:latin typeface="DejaVu Sans"/>
                <a:ea typeface="DejaVu Sans"/>
                <a:cs typeface="DejaVu Sans"/>
              </a:defRPr>
            </a:pPr>
            <a:r>
              <a:rPr sz="1800" b="0">
                <a:solidFill>
                  <a:srgbClr val="176A9C"/>
                </a:solidFill>
                <a:latin typeface="DejaVu Sans"/>
                <a:ea typeface="DejaVu Sans"/>
                <a:cs typeface="DejaVu Sans"/>
              </a:rPr>
              <a:t>chứa</a:t>
            </a:r>
          </a:p>
        </p:txBody>
      </p:sp>
      <p:sp>
        <p:nvSpPr>
          <p:cNvPr id="19" name="text-61">
            <a:extLst>
              <a:ext uri="{FF2B5EF4-FFF2-40B4-BE49-F238E27FC236}">
                <a16:creationId xmlns:a16="http://schemas.microsoft.com/office/drawing/2014/main" id="{9EDE6B4E-A5D1-4E75-9683-160C752A98C9}"/>
              </a:ext>
            </a:extLst>
          </p:cNvPr>
          <p:cNvSpPr>
            <a:spLocks noGrp="1"/>
          </p:cNvSpPr>
          <p:nvPr/>
        </p:nvSpPr>
        <p:spPr>
          <a:xfrm>
            <a:off x="609600" y="3876675"/>
            <a:ext cx="10972800" cy="333375"/>
          </a:xfrm>
          <a:prstGeom prst="rect">
            <a:avLst/>
          </a:prstGeom>
          <a:noFill/>
          <a:ln w="0">
            <a:noFill/>
            <a:prstDash val="solid"/>
          </a:ln>
        </p:spPr>
        <p:txBody>
          <a:bodyPr wrap="square" lIns="0" tIns="0" rIns="0" bIns="0" anchor="t">
            <a:noAutofit/>
          </a:bodyPr>
          <a:lstStyle>
            <a:defPPr algn="ctr">
              <a:defRPr sz="1950" b="0">
                <a:solidFill>
                  <a:srgbClr val="007E82"/>
                </a:solidFill>
                <a:latin typeface="DejaVu Sans"/>
                <a:ea typeface="DejaVu Sans"/>
                <a:cs typeface="DejaVu Sans"/>
              </a:defRPr>
            </a:defPPr>
          </a:lstStyle>
          <a:p>
            <a:pPr algn="ctr">
              <a:buNone/>
              <a:defRPr sz="1950" b="0">
                <a:solidFill>
                  <a:srgbClr val="007E82"/>
                </a:solidFill>
                <a:latin typeface="DejaVu Sans"/>
                <a:ea typeface="DejaVu Sans"/>
                <a:cs typeface="DejaVu Sans"/>
              </a:defRPr>
            </a:pPr>
            <a:r>
              <a:rPr sz="1950" b="0">
                <a:solidFill>
                  <a:srgbClr val="007E82"/>
                </a:solidFill>
                <a:latin typeface="DejaVu Sans"/>
                <a:ea typeface="DejaVu Sans"/>
                <a:cs typeface="DejaVu Sans"/>
              </a:rPr>
              <a:t>UNIQUE(message UUID)     UNIQUE(thread_id, seq)</a:t>
            </a:r>
          </a:p>
        </p:txBody>
      </p:sp>
      <p:sp>
        <p:nvSpPr>
          <p:cNvPr id="21" name="review-key-tables">
            <a:extLst>
              <a:ext uri="{FF2B5EF4-FFF2-40B4-BE49-F238E27FC236}">
                <a16:creationId xmlns:a16="http://schemas.microsoft.com/office/drawing/2014/main" id="{906B21FC-DC8F-4D57-B710-4B28138E6D82}"/>
              </a:ext>
            </a:extLst>
          </p:cNvPr>
          <p:cNvSpPr>
            <a:spLocks noGrp="1"/>
          </p:cNvSpPr>
          <p:nvPr/>
        </p:nvSpPr>
        <p:spPr>
          <a:xfrm>
            <a:off x="609600" y="6038850"/>
            <a:ext cx="10972800" cy="304800"/>
          </a:xfrm>
          <a:prstGeom prst="rect">
            <a:avLst/>
          </a:prstGeom>
          <a:noFill/>
          <a:ln w="0">
            <a:noFill/>
            <a:prstDash val="solid"/>
          </a:ln>
        </p:spPr>
        <p:txBody>
          <a:bodyPr wrap="square" lIns="0" tIns="0" rIns="0" bIns="0" anchor="t">
            <a:noAutofit/>
          </a:bodyPr>
          <a:lstStyle>
            <a:defPPr algn="ctr">
              <a:defRPr sz="1725" b="0">
                <a:solidFill>
                  <a:srgbClr val="516177"/>
                </a:solidFill>
                <a:latin typeface="DejaVu Sans"/>
                <a:ea typeface="DejaVu Sans"/>
                <a:cs typeface="DejaVu Sans"/>
              </a:defRPr>
            </a:defPPr>
          </a:lstStyle>
          <a:p>
            <a:pPr algn="ctr">
              <a:buNone/>
              <a:defRPr sz="1725" b="0">
                <a:solidFill>
                  <a:srgbClr val="516177"/>
                </a:solidFill>
                <a:latin typeface="DejaVu Sans"/>
                <a:ea typeface="DejaVu Sans"/>
                <a:cs typeface="DejaVu Sans"/>
              </a:defRPr>
            </a:pPr>
            <a:r>
              <a:rPr sz="1725" b="0">
                <a:solidFill>
                  <a:srgbClr val="516177"/>
                </a:solidFill>
                <a:latin typeface="DejaVu Sans"/>
                <a:ea typeface="DejaVu Sans"/>
                <a:cs typeface="DejaVu Sans"/>
              </a:rPr>
              <a:t>Các bảng khóa: prekeys, e2ee_epochs, e2ee_epoch_backups</a:t>
            </a:r>
          </a:p>
        </p:txBody>
      </p:sp>
    </p:spTree>
    <p:extLst>
      <p:ext uri="{BB962C8B-B14F-4D97-AF65-F5344CB8AC3E}">
        <p14:creationId xmlns:p14="http://schemas.microsoft.com/office/powerpoint/2010/main" val="4992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173">
            <a:extLst>
              <a:ext uri="{FF2B5EF4-FFF2-40B4-BE49-F238E27FC236}">
                <a16:creationId xmlns:a16="http://schemas.microsoft.com/office/drawing/2014/main" id="{87E45A11-8CAB-4A2B-921D-66FA4117C0E8}"/>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Đăng nhập và vé WebSocket</a:t>
            </a:r>
          </a:p>
        </p:txBody>
      </p:sp>
      <p:sp>
        <p:nvSpPr>
          <p:cNvPr id="2" name="text-174">
            <a:extLst>
              <a:ext uri="{FF2B5EF4-FFF2-40B4-BE49-F238E27FC236}">
                <a16:creationId xmlns:a16="http://schemas.microsoft.com/office/drawing/2014/main" id="{55A4EBED-EEE6-4FAF-A73A-658223B5FDD1}"/>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Browser dẫn xuất credential từ mật khẩu. JWT cho HTTP, vé một lần cho WS.</a:t>
            </a:r>
          </a:p>
        </p:txBody>
      </p:sp>
      <p:sp>
        <p:nvSpPr>
          <p:cNvPr id="3" name="text-175">
            <a:extLst>
              <a:ext uri="{FF2B5EF4-FFF2-40B4-BE49-F238E27FC236}">
                <a16:creationId xmlns:a16="http://schemas.microsoft.com/office/drawing/2014/main" id="{64F17D49-FC33-4D27-855F-9D011F7AC4D0}"/>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176">
            <a:extLst>
              <a:ext uri="{FF2B5EF4-FFF2-40B4-BE49-F238E27FC236}">
                <a16:creationId xmlns:a16="http://schemas.microsoft.com/office/drawing/2014/main" id="{3AC7DD8A-55E9-4D48-A83F-252FA9A4919C}"/>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07 / 17</a:t>
            </a:r>
          </a:p>
        </p:txBody>
      </p:sp>
      <p:sp>
        <p:nvSpPr>
          <p:cNvPr id="5" name="text-177">
            <a:extLst>
              <a:ext uri="{FF2B5EF4-FFF2-40B4-BE49-F238E27FC236}">
                <a16:creationId xmlns:a16="http://schemas.microsoft.com/office/drawing/2014/main" id="{8AE405F2-6516-423D-B158-8AC7E6323C73}"/>
              </a:ext>
            </a:extLst>
          </p:cNvPr>
          <p:cNvSpPr>
            <a:spLocks noGrp="1"/>
          </p:cNvSpPr>
          <p:nvPr/>
        </p:nvSpPr>
        <p:spPr>
          <a:xfrm>
            <a:off x="304800"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Browser</a:t>
            </a:r>
          </a:p>
        </p:txBody>
      </p:sp>
      <p:cxnSp>
        <p:nvCxnSpPr>
          <p:cNvPr id="6" name="diagram-line-178">
            <a:extLst>
              <a:ext uri="{FF2B5EF4-FFF2-40B4-BE49-F238E27FC236}">
                <a16:creationId xmlns:a16="http://schemas.microsoft.com/office/drawing/2014/main" id="{892280F6-5157-490A-931B-BF2B982710CC}"/>
              </a:ext>
            </a:extLst>
          </p:cNvPr>
          <p:cNvCxnSpPr/>
          <p:nvPr/>
        </p:nvCxnSpPr>
        <p:spPr>
          <a:xfrm>
            <a:off x="1495425" y="2266950"/>
            <a:ext cx="95" cy="3724275"/>
          </a:xfrm>
          <a:prstGeom prst="straightConnector1">
            <a:avLst/>
          </a:prstGeom>
          <a:ln w="11430">
            <a:solidFill>
              <a:srgbClr val="C7D5DF"/>
            </a:solidFill>
            <a:prstDash val="dash"/>
          </a:ln>
        </p:spPr>
      </p:cxnSp>
      <p:sp>
        <p:nvSpPr>
          <p:cNvPr id="7" name="text-179">
            <a:extLst>
              <a:ext uri="{FF2B5EF4-FFF2-40B4-BE49-F238E27FC236}">
                <a16:creationId xmlns:a16="http://schemas.microsoft.com/office/drawing/2014/main" id="{772B1534-5E7F-427F-8B79-C1C29FE2E1A7}"/>
              </a:ext>
            </a:extLst>
          </p:cNvPr>
          <p:cNvSpPr>
            <a:spLocks noGrp="1"/>
          </p:cNvSpPr>
          <p:nvPr/>
        </p:nvSpPr>
        <p:spPr>
          <a:xfrm>
            <a:off x="3152775"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API</a:t>
            </a:r>
          </a:p>
        </p:txBody>
      </p:sp>
      <p:cxnSp>
        <p:nvCxnSpPr>
          <p:cNvPr id="8" name="diagram-line-180">
            <a:extLst>
              <a:ext uri="{FF2B5EF4-FFF2-40B4-BE49-F238E27FC236}">
                <a16:creationId xmlns:a16="http://schemas.microsoft.com/office/drawing/2014/main" id="{06848E68-F5F2-4CEA-963A-E708CB3DAFD7}"/>
              </a:ext>
            </a:extLst>
          </p:cNvPr>
          <p:cNvCxnSpPr/>
          <p:nvPr/>
        </p:nvCxnSpPr>
        <p:spPr>
          <a:xfrm>
            <a:off x="4343400" y="2266950"/>
            <a:ext cx="95" cy="3724275"/>
          </a:xfrm>
          <a:prstGeom prst="straightConnector1">
            <a:avLst/>
          </a:prstGeom>
          <a:ln w="11430">
            <a:solidFill>
              <a:srgbClr val="C7D5DF"/>
            </a:solidFill>
            <a:prstDash val="dash"/>
          </a:ln>
        </p:spPr>
      </p:cxnSp>
      <p:sp>
        <p:nvSpPr>
          <p:cNvPr id="9" name="text-181">
            <a:extLst>
              <a:ext uri="{FF2B5EF4-FFF2-40B4-BE49-F238E27FC236}">
                <a16:creationId xmlns:a16="http://schemas.microsoft.com/office/drawing/2014/main" id="{3AC95026-BFBD-43EE-ACD5-F76E19F4BC3B}"/>
              </a:ext>
            </a:extLst>
          </p:cNvPr>
          <p:cNvSpPr>
            <a:spLocks noGrp="1"/>
          </p:cNvSpPr>
          <p:nvPr/>
        </p:nvSpPr>
        <p:spPr>
          <a:xfrm>
            <a:off x="6429375"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Redis</a:t>
            </a:r>
          </a:p>
        </p:txBody>
      </p:sp>
      <p:cxnSp>
        <p:nvCxnSpPr>
          <p:cNvPr id="10" name="diagram-line-182">
            <a:extLst>
              <a:ext uri="{FF2B5EF4-FFF2-40B4-BE49-F238E27FC236}">
                <a16:creationId xmlns:a16="http://schemas.microsoft.com/office/drawing/2014/main" id="{87229CAF-B4CA-4FCE-A235-2A967C2EB028}"/>
              </a:ext>
            </a:extLst>
          </p:cNvPr>
          <p:cNvCxnSpPr/>
          <p:nvPr/>
        </p:nvCxnSpPr>
        <p:spPr>
          <a:xfrm>
            <a:off x="7620000" y="2266950"/>
            <a:ext cx="95" cy="3724275"/>
          </a:xfrm>
          <a:prstGeom prst="straightConnector1">
            <a:avLst/>
          </a:prstGeom>
          <a:ln w="11430">
            <a:solidFill>
              <a:srgbClr val="C7D5DF"/>
            </a:solidFill>
            <a:prstDash val="dash"/>
          </a:ln>
        </p:spPr>
      </p:cxnSp>
      <p:sp>
        <p:nvSpPr>
          <p:cNvPr id="11" name="text-183">
            <a:extLst>
              <a:ext uri="{FF2B5EF4-FFF2-40B4-BE49-F238E27FC236}">
                <a16:creationId xmlns:a16="http://schemas.microsoft.com/office/drawing/2014/main" id="{F9BED8CB-889E-4E7F-A33F-04DDCC0AB541}"/>
              </a:ext>
            </a:extLst>
          </p:cNvPr>
          <p:cNvSpPr>
            <a:spLocks noGrp="1"/>
          </p:cNvSpPr>
          <p:nvPr/>
        </p:nvSpPr>
        <p:spPr>
          <a:xfrm>
            <a:off x="9477375"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Gateway</a:t>
            </a:r>
          </a:p>
        </p:txBody>
      </p:sp>
      <p:cxnSp>
        <p:nvCxnSpPr>
          <p:cNvPr id="12" name="diagram-line-184">
            <a:extLst>
              <a:ext uri="{FF2B5EF4-FFF2-40B4-BE49-F238E27FC236}">
                <a16:creationId xmlns:a16="http://schemas.microsoft.com/office/drawing/2014/main" id="{45429890-8396-495F-8FD8-6C4C65A05BB3}"/>
              </a:ext>
            </a:extLst>
          </p:cNvPr>
          <p:cNvCxnSpPr/>
          <p:nvPr/>
        </p:nvCxnSpPr>
        <p:spPr>
          <a:xfrm>
            <a:off x="10668000" y="2266950"/>
            <a:ext cx="95" cy="3724275"/>
          </a:xfrm>
          <a:prstGeom prst="straightConnector1">
            <a:avLst/>
          </a:prstGeom>
          <a:ln w="11430">
            <a:solidFill>
              <a:srgbClr val="C7D5DF"/>
            </a:solidFill>
            <a:prstDash val="dash"/>
          </a:ln>
        </p:spPr>
      </p:cxnSp>
      <p:cxnSp>
        <p:nvCxnSpPr>
          <p:cNvPr id="13" name="diagram-line-185">
            <a:extLst>
              <a:ext uri="{FF2B5EF4-FFF2-40B4-BE49-F238E27FC236}">
                <a16:creationId xmlns:a16="http://schemas.microsoft.com/office/drawing/2014/main" id="{1F42C9A1-F97A-40AB-8DFF-B588A78C1103}"/>
              </a:ext>
            </a:extLst>
          </p:cNvPr>
          <p:cNvCxnSpPr/>
          <p:nvPr/>
        </p:nvCxnSpPr>
        <p:spPr>
          <a:xfrm>
            <a:off x="1495425" y="2447925"/>
            <a:ext cx="2847975" cy="95"/>
          </a:xfrm>
          <a:prstGeom prst="straightConnector1">
            <a:avLst/>
          </a:prstGeom>
          <a:ln w="20955">
            <a:solidFill>
              <a:srgbClr val="176A9C"/>
            </a:solidFill>
            <a:prstDash val="solid"/>
            <a:tailEnd type="triangle" w="med" len="med"/>
          </a:ln>
        </p:spPr>
      </p:cxnSp>
      <p:sp>
        <p:nvSpPr>
          <p:cNvPr id="14" name="text-186">
            <a:extLst>
              <a:ext uri="{FF2B5EF4-FFF2-40B4-BE49-F238E27FC236}">
                <a16:creationId xmlns:a16="http://schemas.microsoft.com/office/drawing/2014/main" id="{C069CD7F-7308-463B-8737-07816C998814}"/>
              </a:ext>
            </a:extLst>
          </p:cNvPr>
          <p:cNvSpPr>
            <a:spLocks noGrp="1"/>
          </p:cNvSpPr>
          <p:nvPr/>
        </p:nvSpPr>
        <p:spPr>
          <a:xfrm>
            <a:off x="1609725" y="2114550"/>
            <a:ext cx="2619375"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Login bằng credential</a:t>
            </a:r>
          </a:p>
        </p:txBody>
      </p:sp>
      <p:cxnSp>
        <p:nvCxnSpPr>
          <p:cNvPr id="15" name="diagram-line-187">
            <a:extLst>
              <a:ext uri="{FF2B5EF4-FFF2-40B4-BE49-F238E27FC236}">
                <a16:creationId xmlns:a16="http://schemas.microsoft.com/office/drawing/2014/main" id="{F41AA880-BBC7-4AF6-A593-672CC994C720}"/>
              </a:ext>
            </a:extLst>
          </p:cNvPr>
          <p:cNvCxnSpPr/>
          <p:nvPr/>
        </p:nvCxnSpPr>
        <p:spPr>
          <a:xfrm>
            <a:off x="1495425" y="3143250"/>
            <a:ext cx="2847975" cy="95"/>
          </a:xfrm>
          <a:prstGeom prst="straightConnector1">
            <a:avLst/>
          </a:prstGeom>
          <a:ln w="20955">
            <a:solidFill>
              <a:srgbClr val="007E82"/>
            </a:solidFill>
            <a:prstDash val="solid"/>
            <a:headEnd type="triangle" w="med" len="med"/>
          </a:ln>
        </p:spPr>
      </p:cxnSp>
      <p:sp>
        <p:nvSpPr>
          <p:cNvPr id="16" name="text-188">
            <a:extLst>
              <a:ext uri="{FF2B5EF4-FFF2-40B4-BE49-F238E27FC236}">
                <a16:creationId xmlns:a16="http://schemas.microsoft.com/office/drawing/2014/main" id="{2C6FD6FA-0DAD-4612-8EF2-EE34B2D8F199}"/>
              </a:ext>
            </a:extLst>
          </p:cNvPr>
          <p:cNvSpPr>
            <a:spLocks noGrp="1"/>
          </p:cNvSpPr>
          <p:nvPr/>
        </p:nvSpPr>
        <p:spPr>
          <a:xfrm>
            <a:off x="1609725" y="2809875"/>
            <a:ext cx="2619375" cy="314325"/>
          </a:xfrm>
          <a:prstGeom prst="rect">
            <a:avLst/>
          </a:prstGeom>
          <a:noFill/>
          <a:ln w="0">
            <a:noFill/>
            <a:prstDash val="solid"/>
          </a:ln>
        </p:spPr>
        <p:txBody>
          <a:bodyPr wrap="square" lIns="0" tIns="0" rIns="0" bIns="0" anchor="t">
            <a:noAutofit/>
          </a:bodyPr>
          <a:lstStyle>
            <a:defPPr algn="ctr">
              <a:defRPr sz="1725" b="0">
                <a:solidFill>
                  <a:srgbClr val="007E82"/>
                </a:solidFill>
                <a:latin typeface="DejaVu Sans"/>
                <a:ea typeface="DejaVu Sans"/>
                <a:cs typeface="DejaVu Sans"/>
              </a:defRPr>
            </a:defPPr>
          </a:lstStyle>
          <a:p>
            <a:pPr algn="ctr">
              <a:buNone/>
              <a:defRPr sz="1725" b="0">
                <a:solidFill>
                  <a:srgbClr val="007E82"/>
                </a:solidFill>
                <a:latin typeface="DejaVu Sans"/>
                <a:ea typeface="DejaVu Sans"/>
                <a:cs typeface="DejaVu Sans"/>
              </a:defRPr>
            </a:pPr>
            <a:r>
              <a:rPr sz="1725" b="0">
                <a:solidFill>
                  <a:srgbClr val="007E82"/>
                </a:solidFill>
                <a:latin typeface="DejaVu Sans"/>
                <a:ea typeface="DejaVu Sans"/>
                <a:cs typeface="DejaVu Sans"/>
              </a:rPr>
              <a:t>JWT khi bcrypt hợp lệ</a:t>
            </a:r>
          </a:p>
        </p:txBody>
      </p:sp>
      <p:cxnSp>
        <p:nvCxnSpPr>
          <p:cNvPr id="17" name="diagram-line-189">
            <a:extLst>
              <a:ext uri="{FF2B5EF4-FFF2-40B4-BE49-F238E27FC236}">
                <a16:creationId xmlns:a16="http://schemas.microsoft.com/office/drawing/2014/main" id="{C97CC175-2C0F-4DF0-BB78-D9EC75608286}"/>
              </a:ext>
            </a:extLst>
          </p:cNvPr>
          <p:cNvCxnSpPr/>
          <p:nvPr/>
        </p:nvCxnSpPr>
        <p:spPr>
          <a:xfrm>
            <a:off x="1495425" y="3857625"/>
            <a:ext cx="2847975" cy="95"/>
          </a:xfrm>
          <a:prstGeom prst="straightConnector1">
            <a:avLst/>
          </a:prstGeom>
          <a:ln w="20955">
            <a:solidFill>
              <a:srgbClr val="176A9C"/>
            </a:solidFill>
            <a:prstDash val="solid"/>
            <a:tailEnd type="triangle" w="med" len="med"/>
          </a:ln>
        </p:spPr>
      </p:cxnSp>
      <p:sp>
        <p:nvSpPr>
          <p:cNvPr id="18" name="text-190">
            <a:extLst>
              <a:ext uri="{FF2B5EF4-FFF2-40B4-BE49-F238E27FC236}">
                <a16:creationId xmlns:a16="http://schemas.microsoft.com/office/drawing/2014/main" id="{AC3E833E-C3B6-4757-AF80-7E91F84451CF}"/>
              </a:ext>
            </a:extLst>
          </p:cNvPr>
          <p:cNvSpPr>
            <a:spLocks noGrp="1"/>
          </p:cNvSpPr>
          <p:nvPr/>
        </p:nvSpPr>
        <p:spPr>
          <a:xfrm>
            <a:off x="1609725" y="3524250"/>
            <a:ext cx="2619375"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POST /auth/ws-ticket</a:t>
            </a:r>
          </a:p>
        </p:txBody>
      </p:sp>
      <p:cxnSp>
        <p:nvCxnSpPr>
          <p:cNvPr id="19" name="diagram-line-191">
            <a:extLst>
              <a:ext uri="{FF2B5EF4-FFF2-40B4-BE49-F238E27FC236}">
                <a16:creationId xmlns:a16="http://schemas.microsoft.com/office/drawing/2014/main" id="{89991154-C78C-49C9-BA63-8AEB8D34E6DB}"/>
              </a:ext>
            </a:extLst>
          </p:cNvPr>
          <p:cNvCxnSpPr/>
          <p:nvPr/>
        </p:nvCxnSpPr>
        <p:spPr>
          <a:xfrm>
            <a:off x="4343400" y="4543425"/>
            <a:ext cx="3276600" cy="95"/>
          </a:xfrm>
          <a:prstGeom prst="straightConnector1">
            <a:avLst/>
          </a:prstGeom>
          <a:ln w="20955">
            <a:solidFill>
              <a:srgbClr val="176A9C"/>
            </a:solidFill>
            <a:prstDash val="solid"/>
            <a:tailEnd type="triangle" w="med" len="med"/>
          </a:ln>
        </p:spPr>
      </p:cxnSp>
      <p:sp>
        <p:nvSpPr>
          <p:cNvPr id="20" name="text-192">
            <a:extLst>
              <a:ext uri="{FF2B5EF4-FFF2-40B4-BE49-F238E27FC236}">
                <a16:creationId xmlns:a16="http://schemas.microsoft.com/office/drawing/2014/main" id="{FDBFB7B6-F351-430D-95CE-BB91C1F8B381}"/>
              </a:ext>
            </a:extLst>
          </p:cNvPr>
          <p:cNvSpPr>
            <a:spLocks noGrp="1"/>
          </p:cNvSpPr>
          <p:nvPr/>
        </p:nvSpPr>
        <p:spPr>
          <a:xfrm>
            <a:off x="4457700" y="4210050"/>
            <a:ext cx="3048000"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SETNX vé, TTL 30 giây</a:t>
            </a:r>
          </a:p>
        </p:txBody>
      </p:sp>
      <p:cxnSp>
        <p:nvCxnSpPr>
          <p:cNvPr id="21" name="diagram-line-193">
            <a:extLst>
              <a:ext uri="{FF2B5EF4-FFF2-40B4-BE49-F238E27FC236}">
                <a16:creationId xmlns:a16="http://schemas.microsoft.com/office/drawing/2014/main" id="{A737D33E-4787-4021-8C17-1DA5C20FC9A2}"/>
              </a:ext>
            </a:extLst>
          </p:cNvPr>
          <p:cNvCxnSpPr/>
          <p:nvPr/>
        </p:nvCxnSpPr>
        <p:spPr>
          <a:xfrm>
            <a:off x="1495425" y="5257800"/>
            <a:ext cx="9172575" cy="95"/>
          </a:xfrm>
          <a:prstGeom prst="straightConnector1">
            <a:avLst/>
          </a:prstGeom>
          <a:ln w="20955">
            <a:solidFill>
              <a:srgbClr val="176A9C"/>
            </a:solidFill>
            <a:prstDash val="solid"/>
            <a:tailEnd type="triangle" w="med" len="med"/>
          </a:ln>
        </p:spPr>
      </p:cxnSp>
      <p:sp>
        <p:nvSpPr>
          <p:cNvPr id="22" name="text-194">
            <a:extLst>
              <a:ext uri="{FF2B5EF4-FFF2-40B4-BE49-F238E27FC236}">
                <a16:creationId xmlns:a16="http://schemas.microsoft.com/office/drawing/2014/main" id="{36229A11-DA36-4338-BCA8-B169B9403132}"/>
              </a:ext>
            </a:extLst>
          </p:cNvPr>
          <p:cNvSpPr>
            <a:spLocks noGrp="1"/>
          </p:cNvSpPr>
          <p:nvPr/>
        </p:nvSpPr>
        <p:spPr>
          <a:xfrm>
            <a:off x="1609725" y="4924425"/>
            <a:ext cx="8943975"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GET /ws?ticket=...</a:t>
            </a:r>
          </a:p>
        </p:txBody>
      </p:sp>
      <p:cxnSp>
        <p:nvCxnSpPr>
          <p:cNvPr id="23" name="diagram-line-195">
            <a:extLst>
              <a:ext uri="{FF2B5EF4-FFF2-40B4-BE49-F238E27FC236}">
                <a16:creationId xmlns:a16="http://schemas.microsoft.com/office/drawing/2014/main" id="{BC0D6D90-7D38-47A4-AEB2-A15CB182AF77}"/>
              </a:ext>
            </a:extLst>
          </p:cNvPr>
          <p:cNvCxnSpPr/>
          <p:nvPr/>
        </p:nvCxnSpPr>
        <p:spPr>
          <a:xfrm>
            <a:off x="7620000" y="5943600"/>
            <a:ext cx="3048000" cy="95"/>
          </a:xfrm>
          <a:prstGeom prst="straightConnector1">
            <a:avLst/>
          </a:prstGeom>
          <a:ln w="20955">
            <a:solidFill>
              <a:srgbClr val="007E82"/>
            </a:solidFill>
            <a:prstDash val="solid"/>
            <a:headEnd type="triangle" w="med" len="med"/>
          </a:ln>
        </p:spPr>
      </p:cxnSp>
      <p:sp>
        <p:nvSpPr>
          <p:cNvPr id="24" name="text-196">
            <a:extLst>
              <a:ext uri="{FF2B5EF4-FFF2-40B4-BE49-F238E27FC236}">
                <a16:creationId xmlns:a16="http://schemas.microsoft.com/office/drawing/2014/main" id="{79689720-2139-4757-9FA4-62D67D550688}"/>
              </a:ext>
            </a:extLst>
          </p:cNvPr>
          <p:cNvSpPr>
            <a:spLocks noGrp="1"/>
          </p:cNvSpPr>
          <p:nvPr/>
        </p:nvSpPr>
        <p:spPr>
          <a:xfrm>
            <a:off x="7734300" y="5610225"/>
            <a:ext cx="2819400" cy="314325"/>
          </a:xfrm>
          <a:prstGeom prst="rect">
            <a:avLst/>
          </a:prstGeom>
          <a:noFill/>
          <a:ln w="0">
            <a:noFill/>
            <a:prstDash val="solid"/>
          </a:ln>
        </p:spPr>
        <p:txBody>
          <a:bodyPr wrap="square" lIns="0" tIns="0" rIns="0" bIns="0" anchor="t">
            <a:noAutofit/>
          </a:bodyPr>
          <a:lstStyle>
            <a:defPPr algn="ctr">
              <a:defRPr sz="1725" b="0">
                <a:solidFill>
                  <a:srgbClr val="007E82"/>
                </a:solidFill>
                <a:latin typeface="DejaVu Sans"/>
                <a:ea typeface="DejaVu Sans"/>
                <a:cs typeface="DejaVu Sans"/>
              </a:defRPr>
            </a:defPPr>
          </a:lstStyle>
          <a:p>
            <a:pPr algn="ctr">
              <a:buNone/>
              <a:defRPr sz="1725" b="0">
                <a:solidFill>
                  <a:srgbClr val="007E82"/>
                </a:solidFill>
                <a:latin typeface="DejaVu Sans"/>
                <a:ea typeface="DejaVu Sans"/>
                <a:cs typeface="DejaVu Sans"/>
              </a:defRPr>
            </a:pPr>
            <a:r>
              <a:rPr sz="1725" b="0">
                <a:solidFill>
                  <a:srgbClr val="007E82"/>
                </a:solidFill>
                <a:latin typeface="DejaVu Sans"/>
                <a:ea typeface="DejaVu Sans"/>
                <a:cs typeface="DejaVu Sans"/>
              </a:rPr>
              <a:t>GETDEL vé một lần</a:t>
            </a:r>
          </a:p>
        </p:txBody>
      </p:sp>
    </p:spTree>
    <p:extLst>
      <p:ext uri="{BB962C8B-B14F-4D97-AF65-F5344CB8AC3E}">
        <p14:creationId xmlns:p14="http://schemas.microsoft.com/office/powerpoint/2010/main" val="1861831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text-62">
            <a:extLst>
              <a:ext uri="{FF2B5EF4-FFF2-40B4-BE49-F238E27FC236}">
                <a16:creationId xmlns:a16="http://schemas.microsoft.com/office/drawing/2014/main" id="{AC1B84A2-824B-473B-A29D-1EEC8DF7F49F}"/>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Transaction gửi tin</a:t>
            </a:r>
          </a:p>
        </p:txBody>
      </p:sp>
      <p:sp>
        <p:nvSpPr>
          <p:cNvPr id="2" name="text-63">
            <a:extLst>
              <a:ext uri="{FF2B5EF4-FFF2-40B4-BE49-F238E27FC236}">
                <a16:creationId xmlns:a16="http://schemas.microsoft.com/office/drawing/2014/main" id="{21F5E9AB-F104-4B8E-8F06-3C035AD82679}"/>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Ví dụ A gửi m1 vào nhóm. m1 là ký hiệu rút gọn của UUID.</a:t>
            </a:r>
          </a:p>
        </p:txBody>
      </p:sp>
      <p:sp>
        <p:nvSpPr>
          <p:cNvPr id="3" name="text-64">
            <a:extLst>
              <a:ext uri="{FF2B5EF4-FFF2-40B4-BE49-F238E27FC236}">
                <a16:creationId xmlns:a16="http://schemas.microsoft.com/office/drawing/2014/main" id="{AE9DCD43-6685-475B-86E3-A78115874A8D}"/>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65">
            <a:extLst>
              <a:ext uri="{FF2B5EF4-FFF2-40B4-BE49-F238E27FC236}">
                <a16:creationId xmlns:a16="http://schemas.microsoft.com/office/drawing/2014/main" id="{A505FC3C-5F4F-472C-A88B-FEFD882E93A5}"/>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08 / 17</a:t>
            </a:r>
          </a:p>
        </p:txBody>
      </p:sp>
      <p:sp>
        <p:nvSpPr>
          <p:cNvPr id="5" name="text-66">
            <a:extLst>
              <a:ext uri="{FF2B5EF4-FFF2-40B4-BE49-F238E27FC236}">
                <a16:creationId xmlns:a16="http://schemas.microsoft.com/office/drawing/2014/main" id="{56F30890-5CD8-4B91-86BE-1559ECC52B97}"/>
              </a:ext>
            </a:extLst>
          </p:cNvPr>
          <p:cNvSpPr>
            <a:spLocks noGrp="1"/>
          </p:cNvSpPr>
          <p:nvPr/>
        </p:nvSpPr>
        <p:spPr>
          <a:xfrm>
            <a:off x="285750"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Browser A</a:t>
            </a:r>
          </a:p>
        </p:txBody>
      </p:sp>
      <p:cxnSp>
        <p:nvCxnSpPr>
          <p:cNvPr id="6" name="diagram-line-67">
            <a:extLst>
              <a:ext uri="{FF2B5EF4-FFF2-40B4-BE49-F238E27FC236}">
                <a16:creationId xmlns:a16="http://schemas.microsoft.com/office/drawing/2014/main" id="{5FD28905-6854-41CC-AB48-1309DFE48AD8}"/>
              </a:ext>
            </a:extLst>
          </p:cNvPr>
          <p:cNvCxnSpPr/>
          <p:nvPr/>
        </p:nvCxnSpPr>
        <p:spPr>
          <a:xfrm>
            <a:off x="1476375" y="2266950"/>
            <a:ext cx="95" cy="3943350"/>
          </a:xfrm>
          <a:prstGeom prst="straightConnector1">
            <a:avLst/>
          </a:prstGeom>
          <a:ln w="11430">
            <a:solidFill>
              <a:srgbClr val="C7D5DF"/>
            </a:solidFill>
            <a:prstDash val="dash"/>
          </a:ln>
        </p:spPr>
      </p:cxnSp>
      <p:sp>
        <p:nvSpPr>
          <p:cNvPr id="7" name="text-68">
            <a:extLst>
              <a:ext uri="{FF2B5EF4-FFF2-40B4-BE49-F238E27FC236}">
                <a16:creationId xmlns:a16="http://schemas.microsoft.com/office/drawing/2014/main" id="{8839DBC9-68C9-436E-9B33-2496088FB821}"/>
              </a:ext>
            </a:extLst>
          </p:cNvPr>
          <p:cNvSpPr>
            <a:spLocks noGrp="1"/>
          </p:cNvSpPr>
          <p:nvPr/>
        </p:nvSpPr>
        <p:spPr>
          <a:xfrm>
            <a:off x="3105150"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API</a:t>
            </a:r>
          </a:p>
        </p:txBody>
      </p:sp>
      <p:cxnSp>
        <p:nvCxnSpPr>
          <p:cNvPr id="8" name="diagram-line-69">
            <a:extLst>
              <a:ext uri="{FF2B5EF4-FFF2-40B4-BE49-F238E27FC236}">
                <a16:creationId xmlns:a16="http://schemas.microsoft.com/office/drawing/2014/main" id="{1FAEB2AA-504F-4408-9249-A864E7CD08E1}"/>
              </a:ext>
            </a:extLst>
          </p:cNvPr>
          <p:cNvCxnSpPr/>
          <p:nvPr/>
        </p:nvCxnSpPr>
        <p:spPr>
          <a:xfrm>
            <a:off x="4295775" y="2266950"/>
            <a:ext cx="95" cy="3943350"/>
          </a:xfrm>
          <a:prstGeom prst="straightConnector1">
            <a:avLst/>
          </a:prstGeom>
          <a:ln w="11430">
            <a:solidFill>
              <a:srgbClr val="C7D5DF"/>
            </a:solidFill>
            <a:prstDash val="dash"/>
          </a:ln>
        </p:spPr>
      </p:cxnSp>
      <p:sp>
        <p:nvSpPr>
          <p:cNvPr id="9" name="text-70">
            <a:extLst>
              <a:ext uri="{FF2B5EF4-FFF2-40B4-BE49-F238E27FC236}">
                <a16:creationId xmlns:a16="http://schemas.microsoft.com/office/drawing/2014/main" id="{0AD52829-F199-4A24-AB69-3DB4828EE797}"/>
              </a:ext>
            </a:extLst>
          </p:cNvPr>
          <p:cNvSpPr>
            <a:spLocks noGrp="1"/>
          </p:cNvSpPr>
          <p:nvPr/>
        </p:nvSpPr>
        <p:spPr>
          <a:xfrm>
            <a:off x="6353175"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PostgreSQL</a:t>
            </a:r>
          </a:p>
        </p:txBody>
      </p:sp>
      <p:cxnSp>
        <p:nvCxnSpPr>
          <p:cNvPr id="10" name="diagram-line-71">
            <a:extLst>
              <a:ext uri="{FF2B5EF4-FFF2-40B4-BE49-F238E27FC236}">
                <a16:creationId xmlns:a16="http://schemas.microsoft.com/office/drawing/2014/main" id="{51C630F8-8559-4AC0-802C-6133492D0682}"/>
              </a:ext>
            </a:extLst>
          </p:cNvPr>
          <p:cNvCxnSpPr/>
          <p:nvPr/>
        </p:nvCxnSpPr>
        <p:spPr>
          <a:xfrm>
            <a:off x="7543800" y="2266950"/>
            <a:ext cx="95" cy="3943350"/>
          </a:xfrm>
          <a:prstGeom prst="straightConnector1">
            <a:avLst/>
          </a:prstGeom>
          <a:ln w="11430">
            <a:solidFill>
              <a:srgbClr val="C7D5DF"/>
            </a:solidFill>
            <a:prstDash val="dash"/>
          </a:ln>
        </p:spPr>
      </p:cxnSp>
      <p:sp>
        <p:nvSpPr>
          <p:cNvPr id="11" name="text-72">
            <a:extLst>
              <a:ext uri="{FF2B5EF4-FFF2-40B4-BE49-F238E27FC236}">
                <a16:creationId xmlns:a16="http://schemas.microsoft.com/office/drawing/2014/main" id="{850A9BCC-E2FA-451B-8265-07751D62F312}"/>
              </a:ext>
            </a:extLst>
          </p:cNvPr>
          <p:cNvSpPr>
            <a:spLocks noGrp="1"/>
          </p:cNvSpPr>
          <p:nvPr/>
        </p:nvSpPr>
        <p:spPr>
          <a:xfrm>
            <a:off x="9534525"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Redis</a:t>
            </a:r>
          </a:p>
        </p:txBody>
      </p:sp>
      <p:cxnSp>
        <p:nvCxnSpPr>
          <p:cNvPr id="12" name="diagram-line-73">
            <a:extLst>
              <a:ext uri="{FF2B5EF4-FFF2-40B4-BE49-F238E27FC236}">
                <a16:creationId xmlns:a16="http://schemas.microsoft.com/office/drawing/2014/main" id="{99610E6E-46C5-4504-8A6B-A229324CC22C}"/>
              </a:ext>
            </a:extLst>
          </p:cNvPr>
          <p:cNvCxnSpPr/>
          <p:nvPr/>
        </p:nvCxnSpPr>
        <p:spPr>
          <a:xfrm>
            <a:off x="10725150" y="2266950"/>
            <a:ext cx="95" cy="3943350"/>
          </a:xfrm>
          <a:prstGeom prst="straightConnector1">
            <a:avLst/>
          </a:prstGeom>
          <a:ln w="11430">
            <a:solidFill>
              <a:srgbClr val="C7D5DF"/>
            </a:solidFill>
            <a:prstDash val="dash"/>
          </a:ln>
        </p:spPr>
      </p:cxnSp>
      <p:cxnSp>
        <p:nvCxnSpPr>
          <p:cNvPr id="13" name="diagram-line-74">
            <a:extLst>
              <a:ext uri="{FF2B5EF4-FFF2-40B4-BE49-F238E27FC236}">
                <a16:creationId xmlns:a16="http://schemas.microsoft.com/office/drawing/2014/main" id="{EB6DD843-C06F-4B38-89B7-21CCC7C64268}"/>
              </a:ext>
            </a:extLst>
          </p:cNvPr>
          <p:cNvCxnSpPr/>
          <p:nvPr/>
        </p:nvCxnSpPr>
        <p:spPr>
          <a:xfrm>
            <a:off x="1476375" y="2466975"/>
            <a:ext cx="2819400" cy="95"/>
          </a:xfrm>
          <a:prstGeom prst="straightConnector1">
            <a:avLst/>
          </a:prstGeom>
          <a:ln w="20955">
            <a:solidFill>
              <a:srgbClr val="176A9C"/>
            </a:solidFill>
            <a:prstDash val="solid"/>
            <a:tailEnd type="triangle" w="med" len="med"/>
          </a:ln>
        </p:spPr>
      </p:cxnSp>
      <p:sp>
        <p:nvSpPr>
          <p:cNvPr id="14" name="text-75">
            <a:extLst>
              <a:ext uri="{FF2B5EF4-FFF2-40B4-BE49-F238E27FC236}">
                <a16:creationId xmlns:a16="http://schemas.microsoft.com/office/drawing/2014/main" id="{85A1F2BE-D6D6-4B34-92A0-EB3C1E4E8D0F}"/>
              </a:ext>
            </a:extLst>
          </p:cNvPr>
          <p:cNvSpPr>
            <a:spLocks noGrp="1"/>
          </p:cNvSpPr>
          <p:nvPr/>
        </p:nvSpPr>
        <p:spPr>
          <a:xfrm>
            <a:off x="1590675" y="2133600"/>
            <a:ext cx="2590800"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POST m1 + body</a:t>
            </a:r>
          </a:p>
        </p:txBody>
      </p:sp>
      <p:cxnSp>
        <p:nvCxnSpPr>
          <p:cNvPr id="15" name="diagram-line-76">
            <a:extLst>
              <a:ext uri="{FF2B5EF4-FFF2-40B4-BE49-F238E27FC236}">
                <a16:creationId xmlns:a16="http://schemas.microsoft.com/office/drawing/2014/main" id="{FEBABF26-51D2-46B5-98E9-6AC2B04D85C5}"/>
              </a:ext>
            </a:extLst>
          </p:cNvPr>
          <p:cNvCxnSpPr/>
          <p:nvPr/>
        </p:nvCxnSpPr>
        <p:spPr>
          <a:xfrm>
            <a:off x="4295775" y="3105150"/>
            <a:ext cx="3248025" cy="95"/>
          </a:xfrm>
          <a:prstGeom prst="straightConnector1">
            <a:avLst/>
          </a:prstGeom>
          <a:ln w="20955">
            <a:solidFill>
              <a:srgbClr val="176A9C"/>
            </a:solidFill>
            <a:prstDash val="solid"/>
            <a:tailEnd type="triangle" w="med" len="med"/>
          </a:ln>
        </p:spPr>
      </p:cxnSp>
      <p:sp>
        <p:nvSpPr>
          <p:cNvPr id="16" name="text-77">
            <a:extLst>
              <a:ext uri="{FF2B5EF4-FFF2-40B4-BE49-F238E27FC236}">
                <a16:creationId xmlns:a16="http://schemas.microsoft.com/office/drawing/2014/main" id="{28279380-C191-4E87-9F66-9B13B5EFAB50}"/>
              </a:ext>
            </a:extLst>
          </p:cNvPr>
          <p:cNvSpPr>
            <a:spLocks noGrp="1"/>
          </p:cNvSpPr>
          <p:nvPr/>
        </p:nvSpPr>
        <p:spPr>
          <a:xfrm>
            <a:off x="4410075" y="2771775"/>
            <a:ext cx="3019425"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Khóa và kiểm tra quyền</a:t>
            </a:r>
          </a:p>
        </p:txBody>
      </p:sp>
      <p:sp>
        <p:nvSpPr>
          <p:cNvPr id="17" name="diagram-node-78">
            <a:extLst>
              <a:ext uri="{FF2B5EF4-FFF2-40B4-BE49-F238E27FC236}">
                <a16:creationId xmlns:a16="http://schemas.microsoft.com/office/drawing/2014/main" id="{E6670983-4BC3-4B44-B40D-7494D5DEA2FA}"/>
              </a:ext>
            </a:extLst>
          </p:cNvPr>
          <p:cNvSpPr>
            <a:spLocks noGrp="1"/>
          </p:cNvSpPr>
          <p:nvPr/>
        </p:nvSpPr>
        <p:spPr>
          <a:xfrm>
            <a:off x="6057900" y="3429000"/>
            <a:ext cx="2952750" cy="1219200"/>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Trong cùng transaction</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Kiểm tra UUID</a:t>
            </a:r>
            <a:br>
              <a:rPr sz="1725" b="0">
                <a:solidFill>
                  <a:srgbClr val="15253B"/>
                </a:solidFill>
                <a:latin typeface="DejaVu Sans"/>
                <a:ea typeface="DejaVu Sans"/>
                <a:cs typeface="DejaVu Sans"/>
              </a:rPr>
            </a:br>
            <a:r>
              <a:rPr sz="1725" b="0">
                <a:solidFill>
                  <a:srgbClr val="15253B"/>
                </a:solidFill>
                <a:latin typeface="DejaVu Sans"/>
                <a:ea typeface="DejaVu Sans"/>
                <a:cs typeface="DejaVu Sans"/>
              </a:rPr>
              <a:t>last_seq + 1, INSERT m1</a:t>
            </a:r>
            <a:br>
              <a:rPr sz="1725" b="0">
                <a:solidFill>
                  <a:srgbClr val="15253B"/>
                </a:solidFill>
                <a:latin typeface="DejaVu Sans"/>
                <a:ea typeface="DejaVu Sans"/>
                <a:cs typeface="DejaVu Sans"/>
              </a:rPr>
            </a:br>
            <a:r>
              <a:rPr sz="1725" b="0">
                <a:solidFill>
                  <a:srgbClr val="15253B"/>
                </a:solidFill>
                <a:latin typeface="DejaVu Sans"/>
                <a:ea typeface="DejaVu Sans"/>
                <a:cs typeface="DejaVu Sans"/>
              </a:rPr>
              <a:t>Ví dụ seq = 7</a:t>
            </a:r>
          </a:p>
        </p:txBody>
      </p:sp>
      <p:cxnSp>
        <p:nvCxnSpPr>
          <p:cNvPr id="18" name="diagram-line-79">
            <a:extLst>
              <a:ext uri="{FF2B5EF4-FFF2-40B4-BE49-F238E27FC236}">
                <a16:creationId xmlns:a16="http://schemas.microsoft.com/office/drawing/2014/main" id="{5A123A92-3B44-4192-95A5-50F91973D4F5}"/>
              </a:ext>
            </a:extLst>
          </p:cNvPr>
          <p:cNvCxnSpPr/>
          <p:nvPr/>
        </p:nvCxnSpPr>
        <p:spPr>
          <a:xfrm>
            <a:off x="4295775" y="5067300"/>
            <a:ext cx="3248025" cy="95"/>
          </a:xfrm>
          <a:prstGeom prst="straightConnector1">
            <a:avLst/>
          </a:prstGeom>
          <a:ln w="20955">
            <a:solidFill>
              <a:srgbClr val="007E82"/>
            </a:solidFill>
            <a:prstDash val="solid"/>
            <a:headEnd type="triangle" w="med" len="med"/>
          </a:ln>
        </p:spPr>
      </p:cxnSp>
      <p:sp>
        <p:nvSpPr>
          <p:cNvPr id="19" name="text-80">
            <a:extLst>
              <a:ext uri="{FF2B5EF4-FFF2-40B4-BE49-F238E27FC236}">
                <a16:creationId xmlns:a16="http://schemas.microsoft.com/office/drawing/2014/main" id="{D6E1CC5F-34E2-4404-9417-7A926AF2620C}"/>
              </a:ext>
            </a:extLst>
          </p:cNvPr>
          <p:cNvSpPr>
            <a:spLocks noGrp="1"/>
          </p:cNvSpPr>
          <p:nvPr/>
        </p:nvSpPr>
        <p:spPr>
          <a:xfrm>
            <a:off x="4410075" y="4733925"/>
            <a:ext cx="3019425" cy="314325"/>
          </a:xfrm>
          <a:prstGeom prst="rect">
            <a:avLst/>
          </a:prstGeom>
          <a:noFill/>
          <a:ln w="0">
            <a:noFill/>
            <a:prstDash val="solid"/>
          </a:ln>
        </p:spPr>
        <p:txBody>
          <a:bodyPr wrap="square" lIns="0" tIns="0" rIns="0" bIns="0" anchor="t">
            <a:noAutofit/>
          </a:bodyPr>
          <a:lstStyle>
            <a:defPPr algn="ctr">
              <a:defRPr sz="1725" b="0">
                <a:solidFill>
                  <a:srgbClr val="007E82"/>
                </a:solidFill>
                <a:latin typeface="DejaVu Sans"/>
                <a:ea typeface="DejaVu Sans"/>
                <a:cs typeface="DejaVu Sans"/>
              </a:defRPr>
            </a:defPPr>
          </a:lstStyle>
          <a:p>
            <a:pPr algn="ctr">
              <a:buNone/>
              <a:defRPr sz="1725" b="0">
                <a:solidFill>
                  <a:srgbClr val="007E82"/>
                </a:solidFill>
                <a:latin typeface="DejaVu Sans"/>
                <a:ea typeface="DejaVu Sans"/>
                <a:cs typeface="DejaVu Sans"/>
              </a:defRPr>
            </a:pPr>
            <a:r>
              <a:rPr sz="1725" b="0">
                <a:solidFill>
                  <a:srgbClr val="007E82"/>
                </a:solidFill>
                <a:latin typeface="DejaVu Sans"/>
                <a:ea typeface="DejaVu Sans"/>
                <a:cs typeface="DejaVu Sans"/>
              </a:rPr>
              <a:t>COMMIT thành công</a:t>
            </a:r>
          </a:p>
        </p:txBody>
      </p:sp>
      <p:cxnSp>
        <p:nvCxnSpPr>
          <p:cNvPr id="20" name="diagram-line-81">
            <a:extLst>
              <a:ext uri="{FF2B5EF4-FFF2-40B4-BE49-F238E27FC236}">
                <a16:creationId xmlns:a16="http://schemas.microsoft.com/office/drawing/2014/main" id="{0D2C068A-FB5E-4D1B-BE35-B6EA93A671ED}"/>
              </a:ext>
            </a:extLst>
          </p:cNvPr>
          <p:cNvCxnSpPr/>
          <p:nvPr/>
        </p:nvCxnSpPr>
        <p:spPr>
          <a:xfrm>
            <a:off x="4295775" y="5629275"/>
            <a:ext cx="6429375" cy="95"/>
          </a:xfrm>
          <a:prstGeom prst="straightConnector1">
            <a:avLst/>
          </a:prstGeom>
          <a:ln w="20955">
            <a:solidFill>
              <a:srgbClr val="176A9C"/>
            </a:solidFill>
            <a:prstDash val="solid"/>
            <a:tailEnd type="triangle" w="med" len="med"/>
          </a:ln>
        </p:spPr>
      </p:cxnSp>
      <p:sp>
        <p:nvSpPr>
          <p:cNvPr id="21" name="text-82">
            <a:extLst>
              <a:ext uri="{FF2B5EF4-FFF2-40B4-BE49-F238E27FC236}">
                <a16:creationId xmlns:a16="http://schemas.microsoft.com/office/drawing/2014/main" id="{ED0A2B3A-7F94-4491-AA65-45C0A30BDDFC}"/>
              </a:ext>
            </a:extLst>
          </p:cNvPr>
          <p:cNvSpPr>
            <a:spLocks noGrp="1"/>
          </p:cNvSpPr>
          <p:nvPr/>
        </p:nvSpPr>
        <p:spPr>
          <a:xfrm>
            <a:off x="4410075" y="5295900"/>
            <a:ext cx="6200775"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XADD message.created sau commit</a:t>
            </a:r>
          </a:p>
        </p:txBody>
      </p:sp>
      <p:cxnSp>
        <p:nvCxnSpPr>
          <p:cNvPr id="23" name="review-http-response">
            <a:extLst>
              <a:ext uri="{FF2B5EF4-FFF2-40B4-BE49-F238E27FC236}">
                <a16:creationId xmlns:a16="http://schemas.microsoft.com/office/drawing/2014/main" id="{2C079164-B32F-4A53-BF07-4E78FDD1EB43}"/>
              </a:ext>
            </a:extLst>
          </p:cNvPr>
          <p:cNvCxnSpPr/>
          <p:nvPr/>
        </p:nvCxnSpPr>
        <p:spPr>
          <a:xfrm>
            <a:off x="1476375" y="6115050"/>
            <a:ext cx="2819400" cy="95"/>
          </a:xfrm>
          <a:prstGeom prst="straightConnector1">
            <a:avLst/>
          </a:prstGeom>
          <a:ln w="20955">
            <a:solidFill>
              <a:srgbClr val="007E82"/>
            </a:solidFill>
            <a:prstDash val="solid"/>
            <a:headEnd type="triangle" w="med" len="med"/>
          </a:ln>
        </p:spPr>
      </p:cxnSp>
      <p:sp>
        <p:nvSpPr>
          <p:cNvPr id="24" name="review-http-response-label">
            <a:extLst>
              <a:ext uri="{FF2B5EF4-FFF2-40B4-BE49-F238E27FC236}">
                <a16:creationId xmlns:a16="http://schemas.microsoft.com/office/drawing/2014/main" id="{DBF3801F-E745-41B2-8DD3-BF12710430DA}"/>
              </a:ext>
            </a:extLst>
          </p:cNvPr>
          <p:cNvSpPr>
            <a:spLocks noGrp="1"/>
          </p:cNvSpPr>
          <p:nvPr/>
        </p:nvSpPr>
        <p:spPr>
          <a:xfrm>
            <a:off x="1590675" y="5781675"/>
            <a:ext cx="2590800" cy="314325"/>
          </a:xfrm>
          <a:prstGeom prst="rect">
            <a:avLst/>
          </a:prstGeom>
          <a:noFill/>
          <a:ln w="0">
            <a:noFill/>
            <a:prstDash val="solid"/>
          </a:ln>
        </p:spPr>
        <p:txBody>
          <a:bodyPr wrap="square" lIns="0" tIns="0" rIns="0" bIns="0" anchor="t">
            <a:noAutofit/>
          </a:bodyPr>
          <a:lstStyle>
            <a:defPPr algn="ctr">
              <a:defRPr sz="1725" b="0">
                <a:solidFill>
                  <a:srgbClr val="007E82"/>
                </a:solidFill>
                <a:latin typeface="DejaVu Sans"/>
                <a:ea typeface="DejaVu Sans"/>
                <a:cs typeface="DejaVu Sans"/>
              </a:defRPr>
            </a:defPPr>
          </a:lstStyle>
          <a:p>
            <a:pPr algn="ctr">
              <a:buNone/>
              <a:defRPr sz="1725" b="0">
                <a:solidFill>
                  <a:srgbClr val="007E82"/>
                </a:solidFill>
                <a:latin typeface="DejaVu Sans"/>
                <a:ea typeface="DejaVu Sans"/>
                <a:cs typeface="DejaVu Sans"/>
              </a:defRPr>
            </a:pPr>
            <a:r>
              <a:rPr sz="1725" b="0">
                <a:solidFill>
                  <a:srgbClr val="007E82"/>
                </a:solidFill>
                <a:latin typeface="DejaVu Sans"/>
                <a:ea typeface="DejaVu Sans"/>
                <a:cs typeface="DejaVu Sans"/>
              </a:rPr>
              <a:t>HTTP: m1, seq = 7</a:t>
            </a:r>
          </a:p>
        </p:txBody>
      </p:sp>
    </p:spTree>
    <p:extLst>
      <p:ext uri="{BB962C8B-B14F-4D97-AF65-F5344CB8AC3E}">
        <p14:creationId xmlns:p14="http://schemas.microsoft.com/office/powerpoint/2010/main" val="1297085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88">
            <a:extLst>
              <a:ext uri="{FF2B5EF4-FFF2-40B4-BE49-F238E27FC236}">
                <a16:creationId xmlns:a16="http://schemas.microsoft.com/office/drawing/2014/main" id="{6B57E387-3D3F-4045-8E97-2196A58C7BB5}"/>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Phát realtime và lấy bù lịch sử</a:t>
            </a:r>
          </a:p>
        </p:txBody>
      </p:sp>
      <p:sp>
        <p:nvSpPr>
          <p:cNvPr id="2" name="text-89">
            <a:extLst>
              <a:ext uri="{FF2B5EF4-FFF2-40B4-BE49-F238E27FC236}">
                <a16:creationId xmlns:a16="http://schemas.microsoft.com/office/drawing/2014/main" id="{B5ABDD3A-F830-4B26-8806-F0E6AA92681F}"/>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Gateway đưa event vào queue cho mọi kết nối của người nhận, kể cả người gửi.</a:t>
            </a:r>
          </a:p>
        </p:txBody>
      </p:sp>
      <p:sp>
        <p:nvSpPr>
          <p:cNvPr id="3" name="text-90">
            <a:extLst>
              <a:ext uri="{FF2B5EF4-FFF2-40B4-BE49-F238E27FC236}">
                <a16:creationId xmlns:a16="http://schemas.microsoft.com/office/drawing/2014/main" id="{7F18C152-3C1B-46FB-8F0F-03838AEBA3F8}"/>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91">
            <a:extLst>
              <a:ext uri="{FF2B5EF4-FFF2-40B4-BE49-F238E27FC236}">
                <a16:creationId xmlns:a16="http://schemas.microsoft.com/office/drawing/2014/main" id="{3B06545C-5382-4114-9195-F61EFCA3D435}"/>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09 / 17</a:t>
            </a:r>
          </a:p>
        </p:txBody>
      </p:sp>
      <p:sp>
        <p:nvSpPr>
          <p:cNvPr id="5" name="diagram-node-92">
            <a:extLst>
              <a:ext uri="{FF2B5EF4-FFF2-40B4-BE49-F238E27FC236}">
                <a16:creationId xmlns:a16="http://schemas.microsoft.com/office/drawing/2014/main" id="{DB8FFECA-8F13-4B59-8ECF-B87D673A6F1A}"/>
              </a:ext>
            </a:extLst>
          </p:cNvPr>
          <p:cNvSpPr>
            <a:spLocks noGrp="1"/>
          </p:cNvSpPr>
          <p:nvPr/>
        </p:nvSpPr>
        <p:spPr>
          <a:xfrm>
            <a:off x="609600" y="2209800"/>
            <a:ext cx="2371725" cy="117157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Redis Stream</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XREADGROUP</a:t>
            </a:r>
          </a:p>
        </p:txBody>
      </p:sp>
      <p:cxnSp>
        <p:nvCxnSpPr>
          <p:cNvPr id="6" name="diagram-line-93">
            <a:extLst>
              <a:ext uri="{FF2B5EF4-FFF2-40B4-BE49-F238E27FC236}">
                <a16:creationId xmlns:a16="http://schemas.microsoft.com/office/drawing/2014/main" id="{640E0C7D-9ABC-4B1A-B0D9-90BBE45586FB}"/>
              </a:ext>
            </a:extLst>
          </p:cNvPr>
          <p:cNvCxnSpPr/>
          <p:nvPr/>
        </p:nvCxnSpPr>
        <p:spPr>
          <a:xfrm>
            <a:off x="2981325" y="2790825"/>
            <a:ext cx="495300" cy="95"/>
          </a:xfrm>
          <a:prstGeom prst="straightConnector1">
            <a:avLst/>
          </a:prstGeom>
          <a:ln w="20955">
            <a:solidFill>
              <a:srgbClr val="176A9C"/>
            </a:solidFill>
            <a:prstDash val="solid"/>
            <a:tailEnd type="triangle" w="med" len="med"/>
          </a:ln>
        </p:spPr>
      </p:cxnSp>
      <p:sp>
        <p:nvSpPr>
          <p:cNvPr id="7" name="diagram-node-94">
            <a:extLst>
              <a:ext uri="{FF2B5EF4-FFF2-40B4-BE49-F238E27FC236}">
                <a16:creationId xmlns:a16="http://schemas.microsoft.com/office/drawing/2014/main" id="{01CD0204-C2C1-441E-873C-6FACC0411292}"/>
              </a:ext>
            </a:extLst>
          </p:cNvPr>
          <p:cNvSpPr>
            <a:spLocks noGrp="1"/>
          </p:cNvSpPr>
          <p:nvPr/>
        </p:nvSpPr>
        <p:spPr>
          <a:xfrm>
            <a:off x="3476625" y="2209800"/>
            <a:ext cx="2371725" cy="1171575"/>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Hub</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Queue 64 / socket</a:t>
            </a:r>
          </a:p>
        </p:txBody>
      </p:sp>
      <p:cxnSp>
        <p:nvCxnSpPr>
          <p:cNvPr id="8" name="diagram-line-95">
            <a:extLst>
              <a:ext uri="{FF2B5EF4-FFF2-40B4-BE49-F238E27FC236}">
                <a16:creationId xmlns:a16="http://schemas.microsoft.com/office/drawing/2014/main" id="{D80DACC4-30CF-4480-B4AD-E8827A6466C6}"/>
              </a:ext>
            </a:extLst>
          </p:cNvPr>
          <p:cNvCxnSpPr/>
          <p:nvPr/>
        </p:nvCxnSpPr>
        <p:spPr>
          <a:xfrm>
            <a:off x="5848350" y="2790825"/>
            <a:ext cx="495300" cy="95"/>
          </a:xfrm>
          <a:prstGeom prst="straightConnector1">
            <a:avLst/>
          </a:prstGeom>
          <a:ln w="20955">
            <a:solidFill>
              <a:srgbClr val="176A9C"/>
            </a:solidFill>
            <a:prstDash val="solid"/>
            <a:tailEnd type="triangle" w="med" len="med"/>
          </a:ln>
        </p:spPr>
      </p:cxnSp>
      <p:sp>
        <p:nvSpPr>
          <p:cNvPr id="9" name="diagram-node-96">
            <a:extLst>
              <a:ext uri="{FF2B5EF4-FFF2-40B4-BE49-F238E27FC236}">
                <a16:creationId xmlns:a16="http://schemas.microsoft.com/office/drawing/2014/main" id="{66ECAE19-B5EA-498B-BC82-F03C33B84BD9}"/>
              </a:ext>
            </a:extLst>
          </p:cNvPr>
          <p:cNvSpPr>
            <a:spLocks noGrp="1"/>
          </p:cNvSpPr>
          <p:nvPr/>
        </p:nvSpPr>
        <p:spPr>
          <a:xfrm>
            <a:off x="6343650" y="2209800"/>
            <a:ext cx="2371725" cy="117157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writeLoop</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Ghi WebSocket</a:t>
            </a:r>
          </a:p>
        </p:txBody>
      </p:sp>
      <p:cxnSp>
        <p:nvCxnSpPr>
          <p:cNvPr id="10" name="diagram-line-97">
            <a:extLst>
              <a:ext uri="{FF2B5EF4-FFF2-40B4-BE49-F238E27FC236}">
                <a16:creationId xmlns:a16="http://schemas.microsoft.com/office/drawing/2014/main" id="{67478974-D512-4C70-82A1-B68622942543}"/>
              </a:ext>
            </a:extLst>
          </p:cNvPr>
          <p:cNvCxnSpPr/>
          <p:nvPr/>
        </p:nvCxnSpPr>
        <p:spPr>
          <a:xfrm>
            <a:off x="8715375" y="2790825"/>
            <a:ext cx="495300" cy="95"/>
          </a:xfrm>
          <a:prstGeom prst="straightConnector1">
            <a:avLst/>
          </a:prstGeom>
          <a:ln w="20955">
            <a:solidFill>
              <a:srgbClr val="176A9C"/>
            </a:solidFill>
            <a:prstDash val="solid"/>
            <a:tailEnd type="triangle" w="med" len="med"/>
          </a:ln>
        </p:spPr>
      </p:cxnSp>
      <p:sp>
        <p:nvSpPr>
          <p:cNvPr id="11" name="diagram-node-98">
            <a:extLst>
              <a:ext uri="{FF2B5EF4-FFF2-40B4-BE49-F238E27FC236}">
                <a16:creationId xmlns:a16="http://schemas.microsoft.com/office/drawing/2014/main" id="{C645FD4A-807A-4058-8EC2-39C3201E25EF}"/>
              </a:ext>
            </a:extLst>
          </p:cNvPr>
          <p:cNvSpPr>
            <a:spLocks noGrp="1"/>
          </p:cNvSpPr>
          <p:nvPr/>
        </p:nvSpPr>
        <p:spPr>
          <a:xfrm>
            <a:off x="9210675" y="2209800"/>
            <a:ext cx="2371725" cy="117157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Browser</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Gộp theo UUID</a:t>
            </a:r>
          </a:p>
        </p:txBody>
      </p:sp>
      <p:sp>
        <p:nvSpPr>
          <p:cNvPr id="12" name="text-99">
            <a:extLst>
              <a:ext uri="{FF2B5EF4-FFF2-40B4-BE49-F238E27FC236}">
                <a16:creationId xmlns:a16="http://schemas.microsoft.com/office/drawing/2014/main" id="{8CE675D0-FCE9-4A7A-9008-256018A0160E}"/>
              </a:ext>
            </a:extLst>
          </p:cNvPr>
          <p:cNvSpPr>
            <a:spLocks noGrp="1"/>
          </p:cNvSpPr>
          <p:nvPr/>
        </p:nvSpPr>
        <p:spPr>
          <a:xfrm>
            <a:off x="609600" y="3905250"/>
            <a:ext cx="4857750" cy="447675"/>
          </a:xfrm>
          <a:prstGeom prst="rect">
            <a:avLst/>
          </a:prstGeom>
          <a:noFill/>
          <a:ln w="0">
            <a:noFill/>
            <a:prstDash val="solid"/>
          </a:ln>
        </p:spPr>
        <p:txBody>
          <a:bodyPr wrap="square" lIns="0" tIns="0" rIns="0" bIns="0" anchor="t">
            <a:noAutofit/>
          </a:bodyPr>
          <a:lstStyle>
            <a:defPPr algn="l">
              <a:defRPr sz="2325" b="1">
                <a:solidFill>
                  <a:srgbClr val="176A9C"/>
                </a:solidFill>
                <a:latin typeface="DejaVu Sans"/>
                <a:ea typeface="DejaVu Sans"/>
                <a:cs typeface="DejaVu Sans"/>
              </a:defRPr>
            </a:defPPr>
          </a:lstStyle>
          <a:p>
            <a:pPr algn="l">
              <a:buNone/>
              <a:defRPr sz="2325" b="1">
                <a:solidFill>
                  <a:srgbClr val="176A9C"/>
                </a:solidFill>
                <a:latin typeface="DejaVu Sans"/>
                <a:ea typeface="DejaVu Sans"/>
                <a:cs typeface="DejaVu Sans"/>
              </a:defRPr>
            </a:pPr>
            <a:r>
              <a:rPr sz="2325" b="1">
                <a:solidFill>
                  <a:srgbClr val="176A9C"/>
                </a:solidFill>
                <a:latin typeface="DejaVu Sans"/>
                <a:ea typeface="DejaVu Sans"/>
                <a:cs typeface="DejaVu Sans"/>
              </a:rPr>
              <a:t>XACK sau khi queue</a:t>
            </a:r>
          </a:p>
        </p:txBody>
      </p:sp>
      <p:sp>
        <p:nvSpPr>
          <p:cNvPr id="13" name="text-100">
            <a:extLst>
              <a:ext uri="{FF2B5EF4-FFF2-40B4-BE49-F238E27FC236}">
                <a16:creationId xmlns:a16="http://schemas.microsoft.com/office/drawing/2014/main" id="{F0A9B437-37CC-4181-BC9B-6E15CD0F214A}"/>
              </a:ext>
            </a:extLst>
          </p:cNvPr>
          <p:cNvSpPr>
            <a:spLocks noGrp="1"/>
          </p:cNvSpPr>
          <p:nvPr/>
        </p:nvSpPr>
        <p:spPr>
          <a:xfrm>
            <a:off x="609600" y="4514850"/>
            <a:ext cx="4857750" cy="952500"/>
          </a:xfrm>
          <a:prstGeom prst="rect">
            <a:avLst/>
          </a:prstGeom>
          <a:noFill/>
          <a:ln w="0">
            <a:noFill/>
            <a:prstDash val="solid"/>
          </a:ln>
        </p:spPr>
        <p:txBody>
          <a:bodyPr wrap="square" lIns="0" tIns="0" rIns="0" bIns="0" anchor="t">
            <a:noAutofit/>
          </a:bodyPr>
          <a:lstStyle>
            <a:defPPr algn="l">
              <a:defRPr sz="1950" b="0">
                <a:solidFill>
                  <a:srgbClr val="15253B"/>
                </a:solidFill>
                <a:latin typeface="DejaVu Sans"/>
                <a:ea typeface="DejaVu Sans"/>
                <a:cs typeface="DejaVu Sans"/>
              </a:defRPr>
            </a:defPPr>
          </a:lstStyle>
          <a:p>
            <a:pPr algn="l">
              <a:buNone/>
              <a:defRPr sz="1950" b="0">
                <a:solidFill>
                  <a:srgbClr val="15253B"/>
                </a:solidFill>
                <a:latin typeface="DejaVu Sans"/>
                <a:ea typeface="DejaVu Sans"/>
                <a:cs typeface="DejaVu Sans"/>
              </a:defRPr>
            </a:pPr>
            <a:r>
              <a:rPr sz="1950" b="0">
                <a:solidFill>
                  <a:srgbClr val="15253B"/>
                </a:solidFill>
                <a:latin typeface="DejaVu Sans"/>
                <a:ea typeface="DejaVu Sans"/>
                <a:cs typeface="DejaVu Sans"/>
              </a:rPr>
              <a:t>XACK có thể xảy ra trước khi writeLoop ghi xong.</a:t>
            </a:r>
          </a:p>
          <a:p>
            <a:pPr algn="l">
              <a:buNone/>
              <a:defRPr sz="1950" b="0">
                <a:solidFill>
                  <a:srgbClr val="15253B"/>
                </a:solidFill>
                <a:latin typeface="DejaVu Sans"/>
                <a:ea typeface="DejaVu Sans"/>
                <a:cs typeface="DejaVu Sans"/>
              </a:defRPr>
            </a:pPr>
            <a:r>
              <a:rPr sz="1950" b="0">
                <a:solidFill>
                  <a:srgbClr val="15253B"/>
                </a:solidFill>
                <a:latin typeface="DejaVu Sans"/>
                <a:ea typeface="DejaVu Sans"/>
                <a:cs typeface="DejaVu Sans"/>
              </a:rPr>
              <a:t>ACK đánh dấu xử lý event ở gateway.</a:t>
            </a:r>
          </a:p>
        </p:txBody>
      </p:sp>
      <p:sp>
        <p:nvSpPr>
          <p:cNvPr id="14" name="text-101">
            <a:extLst>
              <a:ext uri="{FF2B5EF4-FFF2-40B4-BE49-F238E27FC236}">
                <a16:creationId xmlns:a16="http://schemas.microsoft.com/office/drawing/2014/main" id="{23DFD1EC-E908-4044-9AA8-756EEC71142D}"/>
              </a:ext>
            </a:extLst>
          </p:cNvPr>
          <p:cNvSpPr>
            <a:spLocks noGrp="1"/>
          </p:cNvSpPr>
          <p:nvPr/>
        </p:nvSpPr>
        <p:spPr>
          <a:xfrm>
            <a:off x="6534150" y="3905250"/>
            <a:ext cx="5048250" cy="447675"/>
          </a:xfrm>
          <a:prstGeom prst="rect">
            <a:avLst/>
          </a:prstGeom>
          <a:noFill/>
          <a:ln w="0">
            <a:noFill/>
            <a:prstDash val="solid"/>
          </a:ln>
        </p:spPr>
        <p:txBody>
          <a:bodyPr wrap="square" lIns="0" tIns="0" rIns="0" bIns="0" anchor="t">
            <a:noAutofit/>
          </a:bodyPr>
          <a:lstStyle>
            <a:defPPr algn="l">
              <a:defRPr sz="2325" b="1">
                <a:solidFill>
                  <a:srgbClr val="007E82"/>
                </a:solidFill>
                <a:latin typeface="DejaVu Sans"/>
                <a:ea typeface="DejaVu Sans"/>
                <a:cs typeface="DejaVu Sans"/>
              </a:defRPr>
            </a:defPPr>
          </a:lstStyle>
          <a:p>
            <a:pPr algn="l">
              <a:buNone/>
              <a:defRPr sz="2325" b="1">
                <a:solidFill>
                  <a:srgbClr val="007E82"/>
                </a:solidFill>
                <a:latin typeface="DejaVu Sans"/>
                <a:ea typeface="DejaVu Sans"/>
                <a:cs typeface="DejaVu Sans"/>
              </a:defRPr>
            </a:pPr>
            <a:r>
              <a:rPr sz="2325" b="1">
                <a:solidFill>
                  <a:srgbClr val="007E82"/>
                </a:solidFill>
                <a:latin typeface="DejaVu Sans"/>
                <a:ea typeface="DejaVu Sans"/>
                <a:cs typeface="DejaVu Sans"/>
              </a:rPr>
              <a:t>Lấy bù qua REST</a:t>
            </a:r>
          </a:p>
        </p:txBody>
      </p:sp>
      <p:sp>
        <p:nvSpPr>
          <p:cNvPr id="15" name="text-102">
            <a:extLst>
              <a:ext uri="{FF2B5EF4-FFF2-40B4-BE49-F238E27FC236}">
                <a16:creationId xmlns:a16="http://schemas.microsoft.com/office/drawing/2014/main" id="{32B1849D-3911-4F87-A66C-51A1045ACD35}"/>
              </a:ext>
            </a:extLst>
          </p:cNvPr>
          <p:cNvSpPr>
            <a:spLocks noGrp="1"/>
          </p:cNvSpPr>
          <p:nvPr/>
        </p:nvSpPr>
        <p:spPr>
          <a:xfrm>
            <a:off x="6534150" y="4514850"/>
            <a:ext cx="5048250" cy="1047750"/>
          </a:xfrm>
          <a:prstGeom prst="rect">
            <a:avLst/>
          </a:prstGeom>
          <a:noFill/>
          <a:ln w="0">
            <a:noFill/>
            <a:prstDash val="solid"/>
          </a:ln>
        </p:spPr>
        <p:txBody>
          <a:bodyPr wrap="square" lIns="0" tIns="0" rIns="0" bIns="0" anchor="t">
            <a:noAutofit/>
          </a:bodyPr>
          <a:lstStyle>
            <a:defPPr algn="l">
              <a:defRPr sz="1950" b="0">
                <a:solidFill>
                  <a:srgbClr val="15253B"/>
                </a:solidFill>
                <a:latin typeface="DejaVu Sans"/>
                <a:ea typeface="DejaVu Sans"/>
                <a:cs typeface="DejaVu Sans"/>
              </a:defRPr>
            </a:defPPr>
          </a:lstStyle>
          <a:p>
            <a:pPr algn="l">
              <a:buNone/>
              <a:defRPr sz="1950" b="0">
                <a:solidFill>
                  <a:srgbClr val="15253B"/>
                </a:solidFill>
                <a:latin typeface="DejaVu Sans"/>
                <a:ea typeface="DejaVu Sans"/>
                <a:cs typeface="DejaVu Sans"/>
              </a:defRPr>
            </a:pPr>
            <a:r>
              <a:rPr sz="1950" b="0">
                <a:solidFill>
                  <a:srgbClr val="15253B"/>
                </a:solidFill>
                <a:latin typeface="DejaVu Sans"/>
                <a:ea typeface="DejaVu Sans"/>
                <a:cs typeface="DejaVu Sans"/>
              </a:rPr>
              <a:t>Reconnect / gap seq: lấy bù REST.</a:t>
            </a:r>
          </a:p>
          <a:p>
            <a:pPr algn="l">
              <a:buNone/>
              <a:defRPr sz="1950" b="0">
                <a:solidFill>
                  <a:srgbClr val="15253B"/>
                </a:solidFill>
                <a:latin typeface="DejaVu Sans"/>
                <a:ea typeface="DejaVu Sans"/>
                <a:cs typeface="DejaVu Sans"/>
              </a:defRPr>
            </a:pPr>
            <a:r>
              <a:rPr sz="1950" b="0">
                <a:solidFill>
                  <a:srgbClr val="15253B"/>
                </a:solidFill>
                <a:latin typeface="DejaVu Sans"/>
                <a:ea typeface="DejaVu Sans"/>
                <a:cs typeface="DejaVu Sans"/>
              </a:rPr>
              <a:t>Gộp HTTP, WS, lịch sử theo UUID.</a:t>
            </a:r>
          </a:p>
          <a:p>
            <a:pPr algn="l">
              <a:buNone/>
              <a:defRPr sz="1950" b="0">
                <a:solidFill>
                  <a:srgbClr val="15253B"/>
                </a:solidFill>
                <a:latin typeface="DejaVu Sans"/>
                <a:ea typeface="DejaVu Sans"/>
                <a:cs typeface="DejaVu Sans"/>
              </a:defRPr>
            </a:pPr>
            <a:r>
              <a:rPr sz="1950" b="0">
                <a:solidFill>
                  <a:srgbClr val="15253B"/>
                </a:solidFill>
                <a:latin typeface="DejaVu Sans"/>
                <a:ea typeface="DejaVu Sans"/>
                <a:cs typeface="DejaVu Sans"/>
              </a:rPr>
              <a:t>Cursor before_seq, hiển thị seq tăng.</a:t>
            </a:r>
          </a:p>
        </p:txBody>
      </p:sp>
      <p:sp>
        <p:nvSpPr>
          <p:cNvPr id="16" name="text-103">
            <a:extLst>
              <a:ext uri="{FF2B5EF4-FFF2-40B4-BE49-F238E27FC236}">
                <a16:creationId xmlns:a16="http://schemas.microsoft.com/office/drawing/2014/main" id="{9433E37C-F558-4C74-99E3-0A7C02616F3A}"/>
              </a:ext>
            </a:extLst>
          </p:cNvPr>
          <p:cNvSpPr>
            <a:spLocks noGrp="1"/>
          </p:cNvSpPr>
          <p:nvPr/>
        </p:nvSpPr>
        <p:spPr>
          <a:xfrm>
            <a:off x="609600" y="5724525"/>
            <a:ext cx="10972800" cy="42862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Socket chậm hoặc queue đầy bị đóng để client kết nối lại và lấy bù.</a:t>
            </a:r>
          </a:p>
        </p:txBody>
      </p:sp>
    </p:spTree>
    <p:extLst>
      <p:ext uri="{BB962C8B-B14F-4D97-AF65-F5344CB8AC3E}">
        <p14:creationId xmlns:p14="http://schemas.microsoft.com/office/powerpoint/2010/main" val="1012701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83">
            <a:extLst>
              <a:ext uri="{FF2B5EF4-FFF2-40B4-BE49-F238E27FC236}">
                <a16:creationId xmlns:a16="http://schemas.microsoft.com/office/drawing/2014/main" id="{0C8CA3FD-DA25-452A-883E-6ADEE100CBEC}"/>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Gửi lại sau kết quả chưa rõ</a:t>
            </a:r>
          </a:p>
        </p:txBody>
      </p:sp>
      <p:sp>
        <p:nvSpPr>
          <p:cNvPr id="2" name="text-84">
            <a:extLst>
              <a:ext uri="{FF2B5EF4-FFF2-40B4-BE49-F238E27FC236}">
                <a16:creationId xmlns:a16="http://schemas.microsoft.com/office/drawing/2014/main" id="{E2C2EF0C-C1A2-4E45-AECC-8957A5DC33CC}"/>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Client giữ UUID và body ban đầu cho đến khi xác nhận được tin đã lưu.</a:t>
            </a:r>
          </a:p>
        </p:txBody>
      </p:sp>
      <p:sp>
        <p:nvSpPr>
          <p:cNvPr id="3" name="text-85">
            <a:extLst>
              <a:ext uri="{FF2B5EF4-FFF2-40B4-BE49-F238E27FC236}">
                <a16:creationId xmlns:a16="http://schemas.microsoft.com/office/drawing/2014/main" id="{D434D1A0-77D3-4132-8AE8-F361E2E2E517}"/>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86">
            <a:extLst>
              <a:ext uri="{FF2B5EF4-FFF2-40B4-BE49-F238E27FC236}">
                <a16:creationId xmlns:a16="http://schemas.microsoft.com/office/drawing/2014/main" id="{83103B22-8353-40E9-B55E-8055CD79C44F}"/>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10 / 17</a:t>
            </a:r>
          </a:p>
        </p:txBody>
      </p:sp>
      <p:graphicFrame>
        <p:nvGraphicFramePr>
          <p:cNvPr id="5" name="Table 4">
            <a:extLst>
              <a:ext uri="{FF2B5EF4-FFF2-40B4-BE49-F238E27FC236}">
                <a16:creationId xmlns:a16="http://schemas.microsoft.com/office/drawing/2014/main" id="{8E8E87CB-C96B-43D2-94D7-CC15D0841401}"/>
              </a:ext>
            </a:extLst>
          </p:cNvPr>
          <p:cNvGraphicFramePr/>
          <p:nvPr/>
        </p:nvGraphicFramePr>
        <p:xfrm>
          <a:off x="609600" y="2066925"/>
          <a:ext cx="10972800" cy="3114675"/>
        </p:xfrm>
        <a:graphic>
          <a:graphicData uri="http://schemas.openxmlformats.org/drawingml/2006/table">
            <a:tbl>
              <a:tblPr/>
              <a:tblGrid>
                <a:gridCol w="29527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23875">
                <a:tc>
                  <a:txBody>
                    <a:bodyPr/>
                    <a:lstStyle/>
                    <a:p>
                      <a:r>
                        <a:rPr sz="1875" b="1">
                          <a:solidFill>
                            <a:srgbClr val="FFFFFF"/>
                          </a:solidFill>
                          <a:latin typeface="DejaVu Sans"/>
                          <a:ea typeface="DejaVu Sans"/>
                          <a:cs typeface="DejaVu Sans"/>
                        </a:rPr>
                        <a:t>Tình huống</a:t>
                      </a:r>
                    </a:p>
                  </a:txBody>
                  <a:tcPr marL="152400" marR="152400" marT="114300" marB="95250">
                    <a:lnL w="6668">
                      <a:solidFill>
                        <a:srgbClr val="C7D5DF"/>
                      </a:solidFill>
                      <a:prstDash val="soli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875" b="1">
                          <a:solidFill>
                            <a:srgbClr val="FFFFFF"/>
                          </a:solidFill>
                          <a:latin typeface="DejaVu Sans"/>
                          <a:ea typeface="DejaVu Sans"/>
                          <a:cs typeface="DejaVu Sans"/>
                        </a:rPr>
                        <a:t>Trạng thái phía server</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875" b="1">
                          <a:solidFill>
                            <a:srgbClr val="FFFFFF"/>
                          </a:solidFill>
                          <a:latin typeface="DejaVu Sans"/>
                          <a:ea typeface="DejaVu Sans"/>
                          <a:cs typeface="DejaVu Sans"/>
                        </a:rPr>
                        <a:t>Cách xử lý</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extLst>
                  <a:ext uri="{0D108BD9-81ED-4DB2-BD59-A6C34878D82A}">
                    <a16:rowId xmlns:a16="http://schemas.microsoft.com/office/drawing/2014/main" val="10000"/>
                  </a:ext>
                </a:extLst>
              </a:tr>
              <a:tr h="863600">
                <a:tc>
                  <a:txBody>
                    <a:bodyPr/>
                    <a:lstStyle/>
                    <a:p>
                      <a:r>
                        <a:rPr sz="1875">
                          <a:solidFill>
                            <a:srgbClr val="15253B"/>
                          </a:solidFill>
                          <a:latin typeface="DejaVu Sans"/>
                          <a:ea typeface="DejaVu Sans"/>
                          <a:cs typeface="DejaVu Sans"/>
                        </a:rPr>
                        <a:t>Mất HTTP response</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m1 có thể đã lưu với seq = 7</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Retry đúng UUID và body</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1"/>
                  </a:ext>
                </a:extLst>
              </a:tr>
              <a:tr h="863600">
                <a:tc>
                  <a:txBody>
                    <a:bodyPr/>
                    <a:lstStyle/>
                    <a:p>
                      <a:r>
                        <a:rPr sz="1875">
                          <a:solidFill>
                            <a:srgbClr val="15253B"/>
                          </a:solidFill>
                          <a:latin typeface="DejaVu Sans"/>
                          <a:ea typeface="DejaVu Sans"/>
                          <a:cs typeface="DejaVu Sans"/>
                        </a:rPr>
                        <a:t>XADD lỗi sau commit</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DB đã lưu, API trả 503</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Retry trả tin cũ và publish lại</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2"/>
                  </a:ext>
                </a:extLst>
              </a:tr>
              <a:tr h="863600">
                <a:tc>
                  <a:txBody>
                    <a:bodyPr/>
                    <a:lstStyle/>
                    <a:p>
                      <a:r>
                        <a:rPr sz="1875">
                          <a:solidFill>
                            <a:srgbClr val="15253B"/>
                          </a:solidFill>
                          <a:latin typeface="DejaVu Sans"/>
                          <a:ea typeface="DejaVu Sans"/>
                          <a:cs typeface="DejaVu Sans"/>
                        </a:rPr>
                        <a:t>UUID cũ, payload khác</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API trả 409 conflict</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75">
                          <a:solidFill>
                            <a:srgbClr val="15253B"/>
                          </a:solidFill>
                          <a:latin typeface="DejaVu Sans"/>
                          <a:ea typeface="DejaVu Sans"/>
                          <a:cs typeface="DejaVu Sans"/>
                        </a:rPr>
                        <a:t>Giữ tin đã lưu, báo xung đột</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text-87">
            <a:extLst>
              <a:ext uri="{FF2B5EF4-FFF2-40B4-BE49-F238E27FC236}">
                <a16:creationId xmlns:a16="http://schemas.microsoft.com/office/drawing/2014/main" id="{163655B1-101C-4FBF-83F5-D8A1A5C08D30}"/>
              </a:ext>
            </a:extLst>
          </p:cNvPr>
          <p:cNvSpPr>
            <a:spLocks noGrp="1"/>
          </p:cNvSpPr>
          <p:nvPr/>
        </p:nvSpPr>
        <p:spPr>
          <a:xfrm>
            <a:off x="609600" y="5514975"/>
            <a:ext cx="10972800" cy="457200"/>
          </a:xfrm>
          <a:prstGeom prst="rect">
            <a:avLst/>
          </a:prstGeom>
          <a:noFill/>
          <a:ln w="0">
            <a:noFill/>
            <a:prstDash val="solid"/>
          </a:ln>
        </p:spPr>
        <p:txBody>
          <a:bodyPr wrap="square" lIns="0" tIns="0" rIns="0" bIns="0" anchor="t">
            <a:noAutofit/>
          </a:bodyPr>
          <a:lstStyle>
            <a:defPPr algn="l">
              <a:defRPr sz="2175" b="1">
                <a:solidFill>
                  <a:srgbClr val="007E82"/>
                </a:solidFill>
                <a:latin typeface="DejaVu Sans"/>
                <a:ea typeface="DejaVu Sans"/>
                <a:cs typeface="DejaVu Sans"/>
              </a:defRPr>
            </a:defPPr>
          </a:lstStyle>
          <a:p>
            <a:pPr algn="l">
              <a:buNone/>
              <a:defRPr sz="2175" b="1">
                <a:solidFill>
                  <a:srgbClr val="007E82"/>
                </a:solidFill>
                <a:latin typeface="DejaVu Sans"/>
                <a:ea typeface="DejaVu Sans"/>
                <a:cs typeface="DejaVu Sans"/>
              </a:defRPr>
            </a:pPr>
            <a:r>
              <a:rPr sz="2175" b="1">
                <a:solidFill>
                  <a:srgbClr val="007E82"/>
                </a:solidFill>
                <a:latin typeface="DejaVu Sans"/>
                <a:ea typeface="DejaVu Sans"/>
                <a:cs typeface="DejaVu Sans"/>
              </a:rPr>
              <a:t>UUID chống tạo tin trùng. seq xác định thứ tự trong thread.</a:t>
            </a:r>
          </a:p>
        </p:txBody>
      </p:sp>
    </p:spTree>
    <p:extLst>
      <p:ext uri="{BB962C8B-B14F-4D97-AF65-F5344CB8AC3E}">
        <p14:creationId xmlns:p14="http://schemas.microsoft.com/office/powerpoint/2010/main" val="1974861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x3dh-title">
            <a:extLst>
              <a:ext uri="{FF2B5EF4-FFF2-40B4-BE49-F238E27FC236}">
                <a16:creationId xmlns:a16="http://schemas.microsoft.com/office/drawing/2014/main" id="{F503B2C5-A5CE-43C0-9EE8-53F6F5175E76}"/>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X3DH thiết lập khóa phiên</a:t>
            </a:r>
          </a:p>
        </p:txBody>
      </p:sp>
      <p:sp>
        <p:nvSpPr>
          <p:cNvPr id="2" name="x3dh-subtitle">
            <a:extLst>
              <a:ext uri="{FF2B5EF4-FFF2-40B4-BE49-F238E27FC236}">
                <a16:creationId xmlns:a16="http://schemas.microsoft.com/office/drawing/2014/main" id="{FD9ED1E2-18F7-4E2A-A51B-C4C265186DD9}"/>
              </a:ext>
            </a:extLst>
          </p:cNvPr>
          <p:cNvSpPr>
            <a:spLocks noGrp="1"/>
          </p:cNvSpPr>
          <p:nvPr/>
        </p:nvSpPr>
        <p:spPr>
          <a:xfrm>
            <a:off x="609600" y="1171575"/>
            <a:ext cx="10972800" cy="552450"/>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A và B tính cùng SK, kể cả khi B chưa online lúc A khởi tạo.</a:t>
            </a:r>
          </a:p>
        </p:txBody>
      </p:sp>
      <p:sp>
        <p:nvSpPr>
          <p:cNvPr id="3" name="x3dh-setup">
            <a:extLst>
              <a:ext uri="{FF2B5EF4-FFF2-40B4-BE49-F238E27FC236}">
                <a16:creationId xmlns:a16="http://schemas.microsoft.com/office/drawing/2014/main" id="{8B31DB9B-F2DB-42FD-96A5-14CB2D39532A}"/>
              </a:ext>
            </a:extLst>
          </p:cNvPr>
          <p:cNvSpPr>
            <a:spLocks noGrp="1"/>
          </p:cNvSpPr>
          <p:nvPr/>
        </p:nvSpPr>
        <p:spPr>
          <a:xfrm>
            <a:off x="609600" y="1790700"/>
            <a:ext cx="10972800" cy="371475"/>
          </a:xfrm>
          <a:prstGeom prst="rect">
            <a:avLst/>
          </a:prstGeom>
          <a:noFill/>
          <a:ln w="0">
            <a:noFill/>
            <a:prstDash val="solid"/>
          </a:ln>
        </p:spPr>
        <p:txBody>
          <a:bodyPr wrap="square" lIns="0" tIns="0" rIns="0" bIns="0" anchor="t">
            <a:noAutofit/>
          </a:bodyPr>
          <a:lstStyle>
            <a:defPPr algn="l">
              <a:defRPr sz="1800" b="0">
                <a:solidFill>
                  <a:srgbClr val="15253B"/>
                </a:solidFill>
                <a:latin typeface="DejaVu Sans"/>
                <a:ea typeface="DejaVu Sans"/>
                <a:cs typeface="DejaVu Sans"/>
              </a:defRPr>
            </a:defPPr>
          </a:lstStyle>
          <a:p>
            <a:pPr algn="l">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A lấy bundle của B, xác minh chữ ký SPK và sinh khóa tạm EK.</a:t>
            </a:r>
          </a:p>
        </p:txBody>
      </p:sp>
      <p:sp>
        <p:nvSpPr>
          <p:cNvPr id="4" name="x3dh-legend">
            <a:extLst>
              <a:ext uri="{FF2B5EF4-FFF2-40B4-BE49-F238E27FC236}">
                <a16:creationId xmlns:a16="http://schemas.microsoft.com/office/drawing/2014/main" id="{038F15CE-3FDB-40C1-A04E-E6E6FC6370C8}"/>
              </a:ext>
            </a:extLst>
          </p:cNvPr>
          <p:cNvSpPr>
            <a:spLocks noGrp="1"/>
          </p:cNvSpPr>
          <p:nvPr/>
        </p:nvSpPr>
        <p:spPr>
          <a:xfrm>
            <a:off x="609600" y="2238375"/>
            <a:ext cx="10972800" cy="285750"/>
          </a:xfrm>
          <a:prstGeom prst="rect">
            <a:avLst/>
          </a:prstGeom>
          <a:noFill/>
          <a:ln w="0">
            <a:noFill/>
            <a:prstDash val="solid"/>
          </a:ln>
        </p:spPr>
        <p:txBody>
          <a:bodyPr wrap="square" lIns="0" tIns="0" rIns="0" bIns="0" anchor="t">
            <a:noAutofit/>
          </a:bodyPr>
          <a:lstStyle>
            <a:defPPr algn="l">
              <a:defRPr sz="1500" b="0">
                <a:solidFill>
                  <a:srgbClr val="516177"/>
                </a:solidFill>
                <a:latin typeface="DejaVu Sans"/>
                <a:ea typeface="DejaVu Sans"/>
                <a:cs typeface="DejaVu Sans"/>
              </a:defRPr>
            </a:defPPr>
          </a:lstStyle>
          <a:p>
            <a:pPr algn="l">
              <a:defRPr sz="1500" b="0">
                <a:solidFill>
                  <a:srgbClr val="516177"/>
                </a:solidFill>
                <a:latin typeface="DejaVu Sans"/>
                <a:ea typeface="DejaVu Sans"/>
                <a:cs typeface="DejaVu Sans"/>
              </a:defRPr>
            </a:pPr>
            <a:r>
              <a:rPr sz="1500" b="0">
                <a:solidFill>
                  <a:srgbClr val="516177"/>
                </a:solidFill>
                <a:latin typeface="DejaVu Sans"/>
                <a:ea typeface="DejaVu Sans"/>
                <a:cs typeface="DejaVu Sans"/>
              </a:rPr>
              <a:t>IK: danh tính     EK: khóa tạm     SPK: prekey có chữ ký     OPK: prekey dùng một lần</a:t>
            </a:r>
          </a:p>
        </p:txBody>
      </p:sp>
      <p:graphicFrame>
        <p:nvGraphicFramePr>
          <p:cNvPr id="5" name="Table 4">
            <a:extLst>
              <a:ext uri="{FF2B5EF4-FFF2-40B4-BE49-F238E27FC236}">
                <a16:creationId xmlns:a16="http://schemas.microsoft.com/office/drawing/2014/main" id="{5A6C99ED-7240-4DC3-8663-C0E9237481C7}"/>
              </a:ext>
            </a:extLst>
          </p:cNvPr>
          <p:cNvGraphicFramePr/>
          <p:nvPr/>
        </p:nvGraphicFramePr>
        <p:xfrm>
          <a:off x="609600" y="2657475"/>
          <a:ext cx="10972800" cy="2190750"/>
        </p:xfrm>
        <a:graphic>
          <a:graphicData uri="http://schemas.openxmlformats.org/drawingml/2006/table">
            <a:tbl>
              <a:tblPr firstRow="1"/>
              <a:tblGrid>
                <a:gridCol w="1428750">
                  <a:extLst>
                    <a:ext uri="{9D8B030D-6E8A-4147-A177-3AD203B41FA5}">
                      <a16:colId xmlns:a16="http://schemas.microsoft.com/office/drawing/2014/main" val="20000"/>
                    </a:ext>
                  </a:extLst>
                </a:gridCol>
                <a:gridCol w="4772025">
                  <a:extLst>
                    <a:ext uri="{9D8B030D-6E8A-4147-A177-3AD203B41FA5}">
                      <a16:colId xmlns:a16="http://schemas.microsoft.com/office/drawing/2014/main" val="20001"/>
                    </a:ext>
                  </a:extLst>
                </a:gridCol>
                <a:gridCol w="4772025">
                  <a:extLst>
                    <a:ext uri="{9D8B030D-6E8A-4147-A177-3AD203B41FA5}">
                      <a16:colId xmlns:a16="http://schemas.microsoft.com/office/drawing/2014/main" val="20002"/>
                    </a:ext>
                  </a:extLst>
                </a:gridCol>
              </a:tblGrid>
              <a:tr h="438150">
                <a:tc>
                  <a:txBody>
                    <a:bodyPr/>
                    <a:lstStyle/>
                    <a:p>
                      <a:r>
                        <a:rPr sz="1725" b="1">
                          <a:solidFill>
                            <a:srgbClr val="FFFFFF"/>
                          </a:solidFill>
                          <a:latin typeface="DejaVu Sans"/>
                          <a:ea typeface="DejaVu Sans"/>
                          <a:cs typeface="DejaVu Sans"/>
                        </a:rPr>
                        <a:t>Bí mật</a:t>
                      </a:r>
                    </a:p>
                  </a:txBody>
                  <a:tcPr marL="142875" marR="142875" marT="76200" marB="76200" anchor="ctr">
                    <a:lnL w="9525">
                      <a:solidFill>
                        <a:srgbClr val="C7D5DF"/>
                      </a:solidFill>
                      <a:prstDash val="solid"/>
                    </a:lnL>
                    <a:lnR w="9525">
                      <a:solidFill>
                        <a:srgbClr val="C7D5DF"/>
                      </a:solidFill>
                      <a:prstDash val="solid"/>
                    </a:lnR>
                    <a:lnT w="9525">
                      <a:solidFill>
                        <a:srgbClr val="C7D5DF"/>
                      </a:solidFill>
                      <a:prstDash val="solid"/>
                    </a:lnT>
                    <a:lnB w="9525">
                      <a:solidFill>
                        <a:srgbClr val="C7D5DF"/>
                      </a:solidFill>
                      <a:prstDash val="solid"/>
                    </a:lnB>
                    <a:solidFill>
                      <a:srgbClr val="10243A"/>
                    </a:solidFill>
                  </a:tcPr>
                </a:tc>
                <a:tc>
                  <a:txBody>
                    <a:bodyPr/>
                    <a:lstStyle/>
                    <a:p>
                      <a:r>
                        <a:rPr sz="1725" b="1">
                          <a:solidFill>
                            <a:srgbClr val="FFFFFF"/>
                          </a:solidFill>
                          <a:latin typeface="DejaVu Sans"/>
                          <a:ea typeface="DejaVu Sans"/>
                          <a:cs typeface="DejaVu Sans"/>
                        </a:rPr>
                        <a:t>A dùng private A và public B</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a:solidFill>
                        <a:srgbClr val="C7D5DF"/>
                      </a:solidFill>
                      <a:prstDash val="solid"/>
                    </a:lnT>
                    <a:lnB w="9525">
                      <a:solidFill>
                        <a:srgbClr val="C7D5DF"/>
                      </a:solidFill>
                      <a:prstDash val="solid"/>
                    </a:lnB>
                    <a:solidFill>
                      <a:srgbClr val="10243A"/>
                    </a:solidFill>
                  </a:tcPr>
                </a:tc>
                <a:tc>
                  <a:txBody>
                    <a:bodyPr/>
                    <a:lstStyle/>
                    <a:p>
                      <a:r>
                        <a:rPr sz="1725" b="1">
                          <a:solidFill>
                            <a:srgbClr val="FFFFFF"/>
                          </a:solidFill>
                          <a:latin typeface="DejaVu Sans"/>
                          <a:ea typeface="DejaVu Sans"/>
                          <a:cs typeface="DejaVu Sans"/>
                        </a:rPr>
                        <a:t>B dùng private B và public A</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a:solidFill>
                        <a:srgbClr val="C7D5DF"/>
                      </a:solidFill>
                      <a:prstDash val="solid"/>
                    </a:lnT>
                    <a:lnB w="9525">
                      <a:solidFill>
                        <a:srgbClr val="C7D5DF"/>
                      </a:solidFill>
                      <a:prstDash val="solid"/>
                    </a:lnB>
                    <a:solidFill>
                      <a:srgbClr val="10243A"/>
                    </a:solidFill>
                  </a:tcPr>
                </a:tc>
                <a:extLst>
                  <a:ext uri="{0D108BD9-81ED-4DB2-BD59-A6C34878D82A}">
                    <a16:rowId xmlns:a16="http://schemas.microsoft.com/office/drawing/2014/main" val="10000"/>
                  </a:ext>
                </a:extLst>
              </a:tr>
              <a:tr h="438150">
                <a:tc>
                  <a:txBody>
                    <a:bodyPr/>
                    <a:lstStyle/>
                    <a:p>
                      <a:r>
                        <a:rPr sz="1800" b="1">
                          <a:solidFill>
                            <a:srgbClr val="15253B"/>
                          </a:solidFill>
                          <a:latin typeface="DejaVu Sans"/>
                          <a:ea typeface="DejaVu Sans"/>
                          <a:cs typeface="DejaVu Sans"/>
                        </a:rPr>
                        <a:t>DH1</a:t>
                      </a:r>
                    </a:p>
                  </a:txBody>
                  <a:tcPr marL="142875" marR="142875" marT="76200" marB="76200" anchor="ctr">
                    <a:lnL w="9525">
                      <a:solidFill>
                        <a:srgbClr val="C7D5DF"/>
                      </a:solidFill>
                      <a:prstDash val="soli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FFFFF"/>
                    </a:solidFill>
                  </a:tcPr>
                </a:tc>
                <a:tc>
                  <a:txBody>
                    <a:bodyPr/>
                    <a:lstStyle/>
                    <a:p>
                      <a:r>
                        <a:rPr sz="1800" b="0">
                          <a:solidFill>
                            <a:srgbClr val="15253B"/>
                          </a:solidFill>
                          <a:latin typeface="DejaVu Sans"/>
                          <a:ea typeface="DejaVu Sans"/>
                          <a:cs typeface="DejaVu Sans"/>
                        </a:rPr>
                        <a:t>DH(IK_A, SPK_B)</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FFFFF"/>
                    </a:solidFill>
                  </a:tcPr>
                </a:tc>
                <a:tc>
                  <a:txBody>
                    <a:bodyPr/>
                    <a:lstStyle/>
                    <a:p>
                      <a:r>
                        <a:rPr sz="1800" b="0">
                          <a:solidFill>
                            <a:srgbClr val="15253B"/>
                          </a:solidFill>
                          <a:latin typeface="DejaVu Sans"/>
                          <a:ea typeface="DejaVu Sans"/>
                          <a:cs typeface="DejaVu Sans"/>
                        </a:rPr>
                        <a:t>DH(SPK_B, IK_A)</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FFFFF"/>
                    </a:solidFill>
                  </a:tcPr>
                </a:tc>
                <a:extLst>
                  <a:ext uri="{0D108BD9-81ED-4DB2-BD59-A6C34878D82A}">
                    <a16:rowId xmlns:a16="http://schemas.microsoft.com/office/drawing/2014/main" val="10001"/>
                  </a:ext>
                </a:extLst>
              </a:tr>
              <a:tr h="438150">
                <a:tc>
                  <a:txBody>
                    <a:bodyPr/>
                    <a:lstStyle/>
                    <a:p>
                      <a:r>
                        <a:rPr sz="1800" b="1">
                          <a:solidFill>
                            <a:srgbClr val="15253B"/>
                          </a:solidFill>
                          <a:latin typeface="DejaVu Sans"/>
                          <a:ea typeface="DejaVu Sans"/>
                          <a:cs typeface="DejaVu Sans"/>
                        </a:rPr>
                        <a:t>DH2</a:t>
                      </a:r>
                    </a:p>
                  </a:txBody>
                  <a:tcPr marL="142875" marR="142875" marT="76200" marB="76200" anchor="ctr">
                    <a:lnL w="9525">
                      <a:solidFill>
                        <a:srgbClr val="C7D5DF"/>
                      </a:solidFill>
                      <a:prstDash val="soli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3F7FA"/>
                    </a:solidFill>
                  </a:tcPr>
                </a:tc>
                <a:tc>
                  <a:txBody>
                    <a:bodyPr/>
                    <a:lstStyle/>
                    <a:p>
                      <a:r>
                        <a:rPr sz="1800" b="0">
                          <a:solidFill>
                            <a:srgbClr val="15253B"/>
                          </a:solidFill>
                          <a:latin typeface="DejaVu Sans"/>
                          <a:ea typeface="DejaVu Sans"/>
                          <a:cs typeface="DejaVu Sans"/>
                        </a:rPr>
                        <a:t>DH(EK_A, IK_B)</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3F7FA"/>
                    </a:solidFill>
                  </a:tcPr>
                </a:tc>
                <a:tc>
                  <a:txBody>
                    <a:bodyPr/>
                    <a:lstStyle/>
                    <a:p>
                      <a:r>
                        <a:rPr sz="1800" b="0">
                          <a:solidFill>
                            <a:srgbClr val="15253B"/>
                          </a:solidFill>
                          <a:latin typeface="DejaVu Sans"/>
                          <a:ea typeface="DejaVu Sans"/>
                          <a:cs typeface="DejaVu Sans"/>
                        </a:rPr>
                        <a:t>DH(IK_B, EK_A)</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3F7FA"/>
                    </a:solidFill>
                  </a:tcPr>
                </a:tc>
                <a:extLst>
                  <a:ext uri="{0D108BD9-81ED-4DB2-BD59-A6C34878D82A}">
                    <a16:rowId xmlns:a16="http://schemas.microsoft.com/office/drawing/2014/main" val="10002"/>
                  </a:ext>
                </a:extLst>
              </a:tr>
              <a:tr h="438150">
                <a:tc>
                  <a:txBody>
                    <a:bodyPr/>
                    <a:lstStyle/>
                    <a:p>
                      <a:r>
                        <a:rPr sz="1800" b="1">
                          <a:solidFill>
                            <a:srgbClr val="15253B"/>
                          </a:solidFill>
                          <a:latin typeface="DejaVu Sans"/>
                          <a:ea typeface="DejaVu Sans"/>
                          <a:cs typeface="DejaVu Sans"/>
                        </a:rPr>
                        <a:t>DH3</a:t>
                      </a:r>
                    </a:p>
                  </a:txBody>
                  <a:tcPr marL="142875" marR="142875" marT="76200" marB="76200" anchor="ctr">
                    <a:lnL w="9525">
                      <a:solidFill>
                        <a:srgbClr val="C7D5DF"/>
                      </a:solidFill>
                      <a:prstDash val="soli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FFFFF"/>
                    </a:solidFill>
                  </a:tcPr>
                </a:tc>
                <a:tc>
                  <a:txBody>
                    <a:bodyPr/>
                    <a:lstStyle/>
                    <a:p>
                      <a:r>
                        <a:rPr sz="1800" b="0">
                          <a:solidFill>
                            <a:srgbClr val="15253B"/>
                          </a:solidFill>
                          <a:latin typeface="DejaVu Sans"/>
                          <a:ea typeface="DejaVu Sans"/>
                          <a:cs typeface="DejaVu Sans"/>
                        </a:rPr>
                        <a:t>DH(EK_A, SPK_B)</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FFFFF"/>
                    </a:solidFill>
                  </a:tcPr>
                </a:tc>
                <a:tc>
                  <a:txBody>
                    <a:bodyPr/>
                    <a:lstStyle/>
                    <a:p>
                      <a:r>
                        <a:rPr sz="1800" b="0">
                          <a:solidFill>
                            <a:srgbClr val="15253B"/>
                          </a:solidFill>
                          <a:latin typeface="DejaVu Sans"/>
                          <a:ea typeface="DejaVu Sans"/>
                          <a:cs typeface="DejaVu Sans"/>
                        </a:rPr>
                        <a:t>DH(SPK_B, EK_A)</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FFFFF"/>
                    </a:solidFill>
                  </a:tcPr>
                </a:tc>
                <a:extLst>
                  <a:ext uri="{0D108BD9-81ED-4DB2-BD59-A6C34878D82A}">
                    <a16:rowId xmlns:a16="http://schemas.microsoft.com/office/drawing/2014/main" val="10003"/>
                  </a:ext>
                </a:extLst>
              </a:tr>
              <a:tr h="438150">
                <a:tc>
                  <a:txBody>
                    <a:bodyPr/>
                    <a:lstStyle/>
                    <a:p>
                      <a:r>
                        <a:rPr sz="1800" b="1">
                          <a:solidFill>
                            <a:srgbClr val="15253B"/>
                          </a:solidFill>
                          <a:latin typeface="DejaVu Sans"/>
                          <a:ea typeface="DejaVu Sans"/>
                          <a:cs typeface="DejaVu Sans"/>
                        </a:rPr>
                        <a:t>DH4 *</a:t>
                      </a:r>
                    </a:p>
                  </a:txBody>
                  <a:tcPr marL="142875" marR="142875" marT="76200" marB="76200" anchor="ctr">
                    <a:lnL w="9525">
                      <a:solidFill>
                        <a:srgbClr val="C7D5DF"/>
                      </a:solidFill>
                      <a:prstDash val="soli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3F7FA"/>
                    </a:solidFill>
                  </a:tcPr>
                </a:tc>
                <a:tc>
                  <a:txBody>
                    <a:bodyPr/>
                    <a:lstStyle/>
                    <a:p>
                      <a:r>
                        <a:rPr sz="1800" b="0">
                          <a:solidFill>
                            <a:srgbClr val="15253B"/>
                          </a:solidFill>
                          <a:latin typeface="DejaVu Sans"/>
                          <a:ea typeface="DejaVu Sans"/>
                          <a:cs typeface="DejaVu Sans"/>
                        </a:rPr>
                        <a:t>DH(EK_A, OPK_B)</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3F7FA"/>
                    </a:solidFill>
                  </a:tcPr>
                </a:tc>
                <a:tc>
                  <a:txBody>
                    <a:bodyPr/>
                    <a:lstStyle/>
                    <a:p>
                      <a:r>
                        <a:rPr sz="1800" b="0">
                          <a:solidFill>
                            <a:srgbClr val="15253B"/>
                          </a:solidFill>
                          <a:latin typeface="DejaVu Sans"/>
                          <a:ea typeface="DejaVu Sans"/>
                          <a:cs typeface="DejaVu Sans"/>
                        </a:rPr>
                        <a:t>DH(OPK_B, EK_A)</a:t>
                      </a:r>
                    </a:p>
                  </a:txBody>
                  <a:tcPr marL="142875" marR="142875" marT="76200" marB="76200" anchor="ctr">
                    <a:lnL w="9525" cap="flat" cmpd="sng" algn="ctr">
                      <a:solidFill>
                        <a:srgbClr val="C7D5DF"/>
                      </a:solidFill>
                      <a:prstDash val="solid"/>
                      <a:round/>
                      <a:headEnd type="none" w="med" len="med"/>
                      <a:tailEnd type="none" w="med" len="med"/>
                    </a:lnL>
                    <a:lnR w="9525">
                      <a:solidFill>
                        <a:srgbClr val="C7D5DF"/>
                      </a:solidFill>
                      <a:prstDash val="solid"/>
                    </a:lnR>
                    <a:lnT w="9525" cap="flat" cmpd="sng" algn="ctr">
                      <a:solidFill>
                        <a:srgbClr val="C7D5DF"/>
                      </a:solidFill>
                      <a:prstDash val="solid"/>
                      <a:round/>
                      <a:headEnd type="none" w="med" len="med"/>
                      <a:tailEnd type="none" w="med" len="med"/>
                    </a:lnT>
                    <a:lnB w="9525">
                      <a:solidFill>
                        <a:srgbClr val="C7D5DF"/>
                      </a:solidFill>
                      <a:prstDash val="solid"/>
                    </a:lnB>
                    <a:solidFill>
                      <a:srgbClr val="F3F7FA"/>
                    </a:solidFill>
                  </a:tcPr>
                </a:tc>
                <a:extLst>
                  <a:ext uri="{0D108BD9-81ED-4DB2-BD59-A6C34878D82A}">
                    <a16:rowId xmlns:a16="http://schemas.microsoft.com/office/drawing/2014/main" val="10004"/>
                  </a:ext>
                </a:extLst>
              </a:tr>
            </a:tbl>
          </a:graphicData>
        </a:graphic>
      </p:graphicFrame>
      <p:sp>
        <p:nvSpPr>
          <p:cNvPr id="6" name="x3dh-kdf">
            <a:extLst>
              <a:ext uri="{FF2B5EF4-FFF2-40B4-BE49-F238E27FC236}">
                <a16:creationId xmlns:a16="http://schemas.microsoft.com/office/drawing/2014/main" id="{99EC1D9C-4244-4A3E-BB32-867E0264D04D}"/>
              </a:ext>
            </a:extLst>
          </p:cNvPr>
          <p:cNvSpPr>
            <a:spLocks noGrp="1"/>
          </p:cNvSpPr>
          <p:nvPr/>
        </p:nvSpPr>
        <p:spPr>
          <a:xfrm>
            <a:off x="609600" y="5048250"/>
            <a:ext cx="10972800" cy="457200"/>
          </a:xfrm>
          <a:prstGeom prst="rect">
            <a:avLst/>
          </a:prstGeom>
          <a:noFill/>
          <a:ln w="0">
            <a:noFill/>
            <a:prstDash val="solid"/>
          </a:ln>
        </p:spPr>
        <p:txBody>
          <a:bodyPr wrap="square" lIns="0" tIns="0" rIns="0" bIns="0" anchor="t">
            <a:noAutofit/>
          </a:bodyPr>
          <a:lstStyle>
            <a:defPPr algn="l">
              <a:defRPr sz="2250" b="1">
                <a:solidFill>
                  <a:srgbClr val="007E82"/>
                </a:solidFill>
                <a:latin typeface="DejaVu Sans"/>
                <a:ea typeface="DejaVu Sans"/>
                <a:cs typeface="DejaVu Sans"/>
              </a:defRPr>
            </a:defPPr>
          </a:lstStyle>
          <a:p>
            <a:pPr algn="l">
              <a:defRPr sz="2250" b="1">
                <a:solidFill>
                  <a:srgbClr val="007E82"/>
                </a:solidFill>
                <a:latin typeface="DejaVu Sans"/>
                <a:ea typeface="DejaVu Sans"/>
                <a:cs typeface="DejaVu Sans"/>
              </a:defRPr>
            </a:pPr>
            <a:r>
              <a:rPr sz="2250" b="1">
                <a:solidFill>
                  <a:srgbClr val="007E82"/>
                </a:solidFill>
                <a:latin typeface="DejaVu Sans"/>
                <a:ea typeface="DejaVu Sans"/>
                <a:cs typeface="DejaVu Sans"/>
              </a:rPr>
              <a:t>SK = KDF(DH1 || DH2 || DH3 [|| DH4])</a:t>
            </a:r>
          </a:p>
        </p:txBody>
      </p:sp>
      <p:sp>
        <p:nvSpPr>
          <p:cNvPr id="7" name="x3dh-kdf-caption">
            <a:extLst>
              <a:ext uri="{FF2B5EF4-FFF2-40B4-BE49-F238E27FC236}">
                <a16:creationId xmlns:a16="http://schemas.microsoft.com/office/drawing/2014/main" id="{34DC25FF-1A4D-48C1-8BC3-C2B3982CCC43}"/>
              </a:ext>
            </a:extLst>
          </p:cNvPr>
          <p:cNvSpPr>
            <a:spLocks noGrp="1"/>
          </p:cNvSpPr>
          <p:nvPr/>
        </p:nvSpPr>
        <p:spPr>
          <a:xfrm>
            <a:off x="609600" y="5562600"/>
            <a:ext cx="10972800" cy="333375"/>
          </a:xfrm>
          <a:prstGeom prst="rect">
            <a:avLst/>
          </a:prstGeom>
          <a:noFill/>
          <a:ln w="0">
            <a:noFill/>
            <a:prstDash val="solid"/>
          </a:ln>
        </p:spPr>
        <p:txBody>
          <a:bodyPr wrap="square" lIns="0" tIns="0" rIns="0" bIns="0" anchor="t">
            <a:noAutofit/>
          </a:bodyPr>
          <a:lstStyle>
            <a:defPPr algn="l">
              <a:defRPr sz="1650" b="0">
                <a:solidFill>
                  <a:srgbClr val="516177"/>
                </a:solidFill>
                <a:latin typeface="DejaVu Sans"/>
                <a:ea typeface="DejaVu Sans"/>
                <a:cs typeface="DejaVu Sans"/>
              </a:defRPr>
            </a:defPPr>
          </a:lstStyle>
          <a:p>
            <a:pPr algn="l">
              <a:defRPr sz="1650" b="0">
                <a:solidFill>
                  <a:srgbClr val="516177"/>
                </a:solidFill>
                <a:latin typeface="DejaVu Sans"/>
                <a:ea typeface="DejaVu Sans"/>
                <a:cs typeface="DejaVu Sans"/>
              </a:defRPr>
            </a:pPr>
            <a:r>
              <a:rPr sz="1650" b="0">
                <a:solidFill>
                  <a:srgbClr val="516177"/>
                </a:solidFill>
                <a:latin typeface="DejaVu Sans"/>
                <a:ea typeface="DejaVu Sans"/>
                <a:cs typeface="DejaVu Sans"/>
              </a:rPr>
              <a:t>Repo dùng HKDF-SHA256, tạo SK 32 byte. * DH4 chỉ có khi bundle còn OPK.</a:t>
            </a:r>
          </a:p>
        </p:txBody>
      </p:sp>
      <p:sp>
        <p:nvSpPr>
          <p:cNvPr id="8" name="x3dh-boundary">
            <a:extLst>
              <a:ext uri="{FF2B5EF4-FFF2-40B4-BE49-F238E27FC236}">
                <a16:creationId xmlns:a16="http://schemas.microsoft.com/office/drawing/2014/main" id="{272570B6-2607-47B5-B10A-4E74F87272DE}"/>
              </a:ext>
            </a:extLst>
          </p:cNvPr>
          <p:cNvSpPr>
            <a:spLocks noGrp="1"/>
          </p:cNvSpPr>
          <p:nvPr/>
        </p:nvSpPr>
        <p:spPr>
          <a:xfrm>
            <a:off x="609600" y="6019800"/>
            <a:ext cx="10972800" cy="285750"/>
          </a:xfrm>
          <a:prstGeom prst="rect">
            <a:avLst/>
          </a:prstGeom>
          <a:noFill/>
          <a:ln w="0">
            <a:noFill/>
            <a:prstDash val="solid"/>
          </a:ln>
        </p:spPr>
        <p:txBody>
          <a:bodyPr wrap="square" lIns="0" tIns="0" rIns="0" bIns="0" anchor="t">
            <a:noAutofit/>
          </a:bodyPr>
          <a:lstStyle>
            <a:defPPr algn="l">
              <a:defRPr sz="1425" b="0">
                <a:solidFill>
                  <a:srgbClr val="516177"/>
                </a:solidFill>
                <a:latin typeface="DejaVu Sans"/>
                <a:ea typeface="DejaVu Sans"/>
                <a:cs typeface="DejaVu Sans"/>
              </a:defRPr>
            </a:defPPr>
          </a:lstStyle>
          <a:p>
            <a:pPr algn="l">
              <a:defRPr sz="1425" b="0">
                <a:solidFill>
                  <a:srgbClr val="516177"/>
                </a:solidFill>
                <a:latin typeface="DejaVu Sans"/>
                <a:ea typeface="DejaVu Sans"/>
                <a:cs typeface="DejaVu Sans"/>
              </a:defRPr>
            </a:pPr>
            <a:r>
              <a:rPr sz="1425" b="0">
                <a:solidFill>
                  <a:srgbClr val="516177"/>
                </a:solidFill>
                <a:latin typeface="DejaVu Sans"/>
                <a:ea typeface="DejaVu Sans"/>
                <a:cs typeface="DejaVu Sans"/>
              </a:rPr>
              <a:t>SK không truyền dạng rõ. Mini-Hermes dùng phiên cố định, chưa có Double Ratchet.</a:t>
            </a:r>
          </a:p>
        </p:txBody>
      </p:sp>
      <p:sp>
        <p:nvSpPr>
          <p:cNvPr id="9" name="x3dh-footer">
            <a:extLst>
              <a:ext uri="{FF2B5EF4-FFF2-40B4-BE49-F238E27FC236}">
                <a16:creationId xmlns:a16="http://schemas.microsoft.com/office/drawing/2014/main" id="{84E3093B-4674-420D-BDD5-99DDA3AECB47}"/>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10" name="x3dh-page">
            <a:extLst>
              <a:ext uri="{FF2B5EF4-FFF2-40B4-BE49-F238E27FC236}">
                <a16:creationId xmlns:a16="http://schemas.microsoft.com/office/drawing/2014/main" id="{4E59106E-4C98-414A-A0E6-F88036AA2015}"/>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11 / 17</a:t>
            </a:r>
          </a:p>
        </p:txBody>
      </p:sp>
    </p:spTree>
    <p:extLst>
      <p:ext uri="{BB962C8B-B14F-4D97-AF65-F5344CB8AC3E}">
        <p14:creationId xmlns:p14="http://schemas.microsoft.com/office/powerpoint/2010/main" val="1901254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text-110">
            <a:extLst>
              <a:ext uri="{FF2B5EF4-FFF2-40B4-BE49-F238E27FC236}">
                <a16:creationId xmlns:a16="http://schemas.microsoft.com/office/drawing/2014/main" id="{50597838-85CF-4CBE-A658-FDE489B65725}"/>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Khởi tạo phiên E2EE</a:t>
            </a:r>
          </a:p>
        </p:txBody>
      </p:sp>
      <p:sp>
        <p:nvSpPr>
          <p:cNvPr id="2" name="text-111">
            <a:extLst>
              <a:ext uri="{FF2B5EF4-FFF2-40B4-BE49-F238E27FC236}">
                <a16:creationId xmlns:a16="http://schemas.microsoft.com/office/drawing/2014/main" id="{385C10C2-A162-45D3-AE8A-00D193E6DBC3}"/>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Một direct dùng một epoch cố định cho hai chiều và các thiết bị.</a:t>
            </a:r>
          </a:p>
        </p:txBody>
      </p:sp>
      <p:sp>
        <p:nvSpPr>
          <p:cNvPr id="3" name="text-112">
            <a:extLst>
              <a:ext uri="{FF2B5EF4-FFF2-40B4-BE49-F238E27FC236}">
                <a16:creationId xmlns:a16="http://schemas.microsoft.com/office/drawing/2014/main" id="{6A32F859-92B2-4B4F-9E73-2E31CEB22A54}"/>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113">
            <a:extLst>
              <a:ext uri="{FF2B5EF4-FFF2-40B4-BE49-F238E27FC236}">
                <a16:creationId xmlns:a16="http://schemas.microsoft.com/office/drawing/2014/main" id="{72BEB139-A694-484E-88D8-78B459981892}"/>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12 / 17</a:t>
            </a:r>
          </a:p>
        </p:txBody>
      </p:sp>
      <p:sp>
        <p:nvSpPr>
          <p:cNvPr id="5" name="text-114">
            <a:extLst>
              <a:ext uri="{FF2B5EF4-FFF2-40B4-BE49-F238E27FC236}">
                <a16:creationId xmlns:a16="http://schemas.microsoft.com/office/drawing/2014/main" id="{D178BFAA-4561-4C02-8855-7F94560EA231}"/>
              </a:ext>
            </a:extLst>
          </p:cNvPr>
          <p:cNvSpPr>
            <a:spLocks noGrp="1"/>
          </p:cNvSpPr>
          <p:nvPr/>
        </p:nvSpPr>
        <p:spPr>
          <a:xfrm>
            <a:off x="733425"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Browser A</a:t>
            </a:r>
          </a:p>
        </p:txBody>
      </p:sp>
      <p:cxnSp>
        <p:nvCxnSpPr>
          <p:cNvPr id="6" name="diagram-line-115">
            <a:extLst>
              <a:ext uri="{FF2B5EF4-FFF2-40B4-BE49-F238E27FC236}">
                <a16:creationId xmlns:a16="http://schemas.microsoft.com/office/drawing/2014/main" id="{5CD6F3C1-CFCE-45DE-842B-42A928507DB1}"/>
              </a:ext>
            </a:extLst>
          </p:cNvPr>
          <p:cNvCxnSpPr/>
          <p:nvPr/>
        </p:nvCxnSpPr>
        <p:spPr>
          <a:xfrm>
            <a:off x="1924050" y="2266950"/>
            <a:ext cx="95" cy="3467100"/>
          </a:xfrm>
          <a:prstGeom prst="straightConnector1">
            <a:avLst/>
          </a:prstGeom>
          <a:ln w="11430">
            <a:solidFill>
              <a:srgbClr val="C7D5DF"/>
            </a:solidFill>
            <a:prstDash val="dash"/>
          </a:ln>
        </p:spPr>
      </p:cxnSp>
      <p:sp>
        <p:nvSpPr>
          <p:cNvPr id="7" name="text-116">
            <a:extLst>
              <a:ext uri="{FF2B5EF4-FFF2-40B4-BE49-F238E27FC236}">
                <a16:creationId xmlns:a16="http://schemas.microsoft.com/office/drawing/2014/main" id="{E5448328-0BD6-4F50-920A-12CF715D2559}"/>
              </a:ext>
            </a:extLst>
          </p:cNvPr>
          <p:cNvSpPr>
            <a:spLocks noGrp="1"/>
          </p:cNvSpPr>
          <p:nvPr/>
        </p:nvSpPr>
        <p:spPr>
          <a:xfrm>
            <a:off x="4914900"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API / PostgreSQL</a:t>
            </a:r>
          </a:p>
        </p:txBody>
      </p:sp>
      <p:cxnSp>
        <p:nvCxnSpPr>
          <p:cNvPr id="8" name="diagram-line-117">
            <a:extLst>
              <a:ext uri="{FF2B5EF4-FFF2-40B4-BE49-F238E27FC236}">
                <a16:creationId xmlns:a16="http://schemas.microsoft.com/office/drawing/2014/main" id="{F45B74CB-AA39-4085-9242-31E371ECBD3A}"/>
              </a:ext>
            </a:extLst>
          </p:cNvPr>
          <p:cNvCxnSpPr/>
          <p:nvPr/>
        </p:nvCxnSpPr>
        <p:spPr>
          <a:xfrm>
            <a:off x="6105525" y="2266950"/>
            <a:ext cx="95" cy="3467100"/>
          </a:xfrm>
          <a:prstGeom prst="straightConnector1">
            <a:avLst/>
          </a:prstGeom>
          <a:ln w="11430">
            <a:solidFill>
              <a:srgbClr val="C7D5DF"/>
            </a:solidFill>
            <a:prstDash val="dash"/>
          </a:ln>
        </p:spPr>
      </p:cxnSp>
      <p:sp>
        <p:nvSpPr>
          <p:cNvPr id="9" name="text-118">
            <a:extLst>
              <a:ext uri="{FF2B5EF4-FFF2-40B4-BE49-F238E27FC236}">
                <a16:creationId xmlns:a16="http://schemas.microsoft.com/office/drawing/2014/main" id="{59605EEB-0191-452E-B290-3BC2C09FC555}"/>
              </a:ext>
            </a:extLst>
          </p:cNvPr>
          <p:cNvSpPr>
            <a:spLocks noGrp="1"/>
          </p:cNvSpPr>
          <p:nvPr/>
        </p:nvSpPr>
        <p:spPr>
          <a:xfrm>
            <a:off x="9096375" y="1743075"/>
            <a:ext cx="2381250" cy="428625"/>
          </a:xfrm>
          <a:prstGeom prst="rect">
            <a:avLst/>
          </a:prstGeom>
          <a:noFill/>
          <a:ln w="0">
            <a:noFill/>
            <a:prstDash val="solid"/>
          </a:ln>
        </p:spPr>
        <p:txBody>
          <a:bodyPr wrap="square" lIns="0" tIns="0" rIns="0" bIns="0" anchor="t">
            <a:noAutofit/>
          </a:bodyPr>
          <a:lstStyle>
            <a:defPPr algn="ctr">
              <a:defRPr sz="1950" b="1">
                <a:solidFill>
                  <a:srgbClr val="15253B"/>
                </a:solidFill>
                <a:latin typeface="DejaVu Sans"/>
                <a:ea typeface="DejaVu Sans"/>
                <a:cs typeface="DejaVu Sans"/>
              </a:defRPr>
            </a:defPPr>
          </a:lstStyle>
          <a:p>
            <a:pPr algn="ctr">
              <a:buNone/>
              <a:defRPr sz="1950" b="1">
                <a:solidFill>
                  <a:srgbClr val="15253B"/>
                </a:solidFill>
                <a:latin typeface="DejaVu Sans"/>
                <a:ea typeface="DejaVu Sans"/>
                <a:cs typeface="DejaVu Sans"/>
              </a:defRPr>
            </a:pPr>
            <a:r>
              <a:rPr sz="1950" b="1">
                <a:solidFill>
                  <a:srgbClr val="15253B"/>
                </a:solidFill>
                <a:latin typeface="DejaVu Sans"/>
                <a:ea typeface="DejaVu Sans"/>
                <a:cs typeface="DejaVu Sans"/>
              </a:rPr>
              <a:t>Browser B</a:t>
            </a:r>
          </a:p>
        </p:txBody>
      </p:sp>
      <p:cxnSp>
        <p:nvCxnSpPr>
          <p:cNvPr id="10" name="diagram-line-119">
            <a:extLst>
              <a:ext uri="{FF2B5EF4-FFF2-40B4-BE49-F238E27FC236}">
                <a16:creationId xmlns:a16="http://schemas.microsoft.com/office/drawing/2014/main" id="{C30407F0-D4AE-47FE-AB84-0D5F8BC5775C}"/>
              </a:ext>
            </a:extLst>
          </p:cNvPr>
          <p:cNvCxnSpPr/>
          <p:nvPr/>
        </p:nvCxnSpPr>
        <p:spPr>
          <a:xfrm>
            <a:off x="10287000" y="2266950"/>
            <a:ext cx="95" cy="3467100"/>
          </a:xfrm>
          <a:prstGeom prst="straightConnector1">
            <a:avLst/>
          </a:prstGeom>
          <a:ln w="11430">
            <a:solidFill>
              <a:srgbClr val="C7D5DF"/>
            </a:solidFill>
            <a:prstDash val="dash"/>
          </a:ln>
        </p:spPr>
      </p:cxnSp>
      <p:cxnSp>
        <p:nvCxnSpPr>
          <p:cNvPr id="11" name="diagram-line-120">
            <a:extLst>
              <a:ext uri="{FF2B5EF4-FFF2-40B4-BE49-F238E27FC236}">
                <a16:creationId xmlns:a16="http://schemas.microsoft.com/office/drawing/2014/main" id="{67396A7A-998F-419F-92DE-4AFFDA2EAFBD}"/>
              </a:ext>
            </a:extLst>
          </p:cNvPr>
          <p:cNvCxnSpPr/>
          <p:nvPr/>
        </p:nvCxnSpPr>
        <p:spPr>
          <a:xfrm>
            <a:off x="1924050" y="2486025"/>
            <a:ext cx="4181475" cy="95"/>
          </a:xfrm>
          <a:prstGeom prst="straightConnector1">
            <a:avLst/>
          </a:prstGeom>
          <a:ln w="20955">
            <a:solidFill>
              <a:srgbClr val="176A9C"/>
            </a:solidFill>
            <a:prstDash val="solid"/>
            <a:headEnd type="triangle" w="med" len="med"/>
          </a:ln>
        </p:spPr>
      </p:cxnSp>
      <p:sp>
        <p:nvSpPr>
          <p:cNvPr id="12" name="text-121">
            <a:extLst>
              <a:ext uri="{FF2B5EF4-FFF2-40B4-BE49-F238E27FC236}">
                <a16:creationId xmlns:a16="http://schemas.microsoft.com/office/drawing/2014/main" id="{C1A6CBDC-5C14-45D3-9AD3-0C8B85E1AFEE}"/>
              </a:ext>
            </a:extLst>
          </p:cNvPr>
          <p:cNvSpPr>
            <a:spLocks noGrp="1"/>
          </p:cNvSpPr>
          <p:nvPr/>
        </p:nvSpPr>
        <p:spPr>
          <a:xfrm>
            <a:off x="2038350" y="2152650"/>
            <a:ext cx="3952875"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Bundle B sau claim</a:t>
            </a:r>
          </a:p>
        </p:txBody>
      </p:sp>
      <p:sp>
        <p:nvSpPr>
          <p:cNvPr id="13" name="diagram-node-122">
            <a:extLst>
              <a:ext uri="{FF2B5EF4-FFF2-40B4-BE49-F238E27FC236}">
                <a16:creationId xmlns:a16="http://schemas.microsoft.com/office/drawing/2014/main" id="{B245E01C-E10F-489C-88AF-DFC9BE34B4EA}"/>
              </a:ext>
            </a:extLst>
          </p:cNvPr>
          <p:cNvSpPr>
            <a:spLocks noGrp="1"/>
          </p:cNvSpPr>
          <p:nvPr/>
        </p:nvSpPr>
        <p:spPr>
          <a:xfrm>
            <a:off x="619125" y="2876550"/>
            <a:ext cx="2609850" cy="1057275"/>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A tính SK</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Xác minh chữ ký</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X25519 + HKDF</a:t>
            </a:r>
          </a:p>
        </p:txBody>
      </p:sp>
      <p:cxnSp>
        <p:nvCxnSpPr>
          <p:cNvPr id="14" name="diagram-line-123">
            <a:extLst>
              <a:ext uri="{FF2B5EF4-FFF2-40B4-BE49-F238E27FC236}">
                <a16:creationId xmlns:a16="http://schemas.microsoft.com/office/drawing/2014/main" id="{7DB02A12-3931-48C8-9F61-2ACA2EE22BB1}"/>
              </a:ext>
            </a:extLst>
          </p:cNvPr>
          <p:cNvCxnSpPr/>
          <p:nvPr/>
        </p:nvCxnSpPr>
        <p:spPr>
          <a:xfrm>
            <a:off x="1924050" y="4343400"/>
            <a:ext cx="4181475" cy="95"/>
          </a:xfrm>
          <a:prstGeom prst="straightConnector1">
            <a:avLst/>
          </a:prstGeom>
          <a:ln w="20955">
            <a:solidFill>
              <a:srgbClr val="176A9C"/>
            </a:solidFill>
            <a:prstDash val="solid"/>
            <a:tailEnd type="triangle" w="med" len="med"/>
          </a:ln>
        </p:spPr>
      </p:cxnSp>
      <p:sp>
        <p:nvSpPr>
          <p:cNvPr id="15" name="text-124">
            <a:extLst>
              <a:ext uri="{FF2B5EF4-FFF2-40B4-BE49-F238E27FC236}">
                <a16:creationId xmlns:a16="http://schemas.microsoft.com/office/drawing/2014/main" id="{C4C68830-8C25-4F47-9A06-B289A893836B}"/>
              </a:ext>
            </a:extLst>
          </p:cNvPr>
          <p:cNvSpPr>
            <a:spLocks noGrp="1"/>
          </p:cNvSpPr>
          <p:nvPr/>
        </p:nvSpPr>
        <p:spPr>
          <a:xfrm>
            <a:off x="2038350" y="4010025"/>
            <a:ext cx="3952875"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Lưu bootstrap + backup A</a:t>
            </a:r>
          </a:p>
        </p:txBody>
      </p:sp>
      <p:cxnSp>
        <p:nvCxnSpPr>
          <p:cNvPr id="16" name="diagram-line-125">
            <a:extLst>
              <a:ext uri="{FF2B5EF4-FFF2-40B4-BE49-F238E27FC236}">
                <a16:creationId xmlns:a16="http://schemas.microsoft.com/office/drawing/2014/main" id="{F172DF14-ED5B-4444-A90E-A697606DDCDF}"/>
              </a:ext>
            </a:extLst>
          </p:cNvPr>
          <p:cNvCxnSpPr/>
          <p:nvPr/>
        </p:nvCxnSpPr>
        <p:spPr>
          <a:xfrm>
            <a:off x="6105525" y="4791075"/>
            <a:ext cx="4181475" cy="95"/>
          </a:xfrm>
          <a:prstGeom prst="straightConnector1">
            <a:avLst/>
          </a:prstGeom>
          <a:ln w="20955">
            <a:solidFill>
              <a:srgbClr val="176A9C"/>
            </a:solidFill>
            <a:prstDash val="solid"/>
            <a:tailEnd type="triangle" w="med" len="med"/>
          </a:ln>
        </p:spPr>
      </p:cxnSp>
      <p:sp>
        <p:nvSpPr>
          <p:cNvPr id="17" name="text-126">
            <a:extLst>
              <a:ext uri="{FF2B5EF4-FFF2-40B4-BE49-F238E27FC236}">
                <a16:creationId xmlns:a16="http://schemas.microsoft.com/office/drawing/2014/main" id="{E79C59BD-74C6-40D3-B0C2-F31FF8E67EC9}"/>
              </a:ext>
            </a:extLst>
          </p:cNvPr>
          <p:cNvSpPr>
            <a:spLocks noGrp="1"/>
          </p:cNvSpPr>
          <p:nvPr/>
        </p:nvSpPr>
        <p:spPr>
          <a:xfrm>
            <a:off x="6219825" y="4457700"/>
            <a:ext cx="3952875" cy="314325"/>
          </a:xfrm>
          <a:prstGeom prst="rect">
            <a:avLst/>
          </a:prstGeom>
          <a:noFill/>
          <a:ln w="0">
            <a:noFill/>
            <a:prstDash val="solid"/>
          </a:ln>
        </p:spPr>
        <p:txBody>
          <a:bodyPr wrap="square" lIns="0" tIns="0" rIns="0" bIns="0" anchor="t">
            <a:noAutofit/>
          </a:bodyPr>
          <a:lstStyle>
            <a:defPPr algn="ctr">
              <a:defRPr sz="1725" b="0">
                <a:solidFill>
                  <a:srgbClr val="176A9C"/>
                </a:solidFill>
                <a:latin typeface="DejaVu Sans"/>
                <a:ea typeface="DejaVu Sans"/>
                <a:cs typeface="DejaVu Sans"/>
              </a:defRPr>
            </a:defPPr>
          </a:lstStyle>
          <a:p>
            <a:pPr algn="ctr">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Bootstrap khi B online</a:t>
            </a:r>
          </a:p>
        </p:txBody>
      </p:sp>
      <p:sp>
        <p:nvSpPr>
          <p:cNvPr id="18" name="diagram-node-127">
            <a:extLst>
              <a:ext uri="{FF2B5EF4-FFF2-40B4-BE49-F238E27FC236}">
                <a16:creationId xmlns:a16="http://schemas.microsoft.com/office/drawing/2014/main" id="{7BE19076-6033-4476-83A2-A5BD6BEAA35C}"/>
              </a:ext>
            </a:extLst>
          </p:cNvPr>
          <p:cNvSpPr>
            <a:spLocks noGrp="1"/>
          </p:cNvSpPr>
          <p:nvPr/>
        </p:nvSpPr>
        <p:spPr>
          <a:xfrm>
            <a:off x="8896350" y="5038725"/>
            <a:ext cx="2686050" cy="952500"/>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B tính cùng SK</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Private keys B</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Xác minh và backup</a:t>
            </a:r>
          </a:p>
        </p:txBody>
      </p:sp>
      <p:sp>
        <p:nvSpPr>
          <p:cNvPr id="19" name="text-128">
            <a:extLst>
              <a:ext uri="{FF2B5EF4-FFF2-40B4-BE49-F238E27FC236}">
                <a16:creationId xmlns:a16="http://schemas.microsoft.com/office/drawing/2014/main" id="{DDA148DC-6A10-4EE5-9A90-E2250C5580D4}"/>
              </a:ext>
            </a:extLst>
          </p:cNvPr>
          <p:cNvSpPr>
            <a:spLocks noGrp="1"/>
          </p:cNvSpPr>
          <p:nvPr/>
        </p:nvSpPr>
        <p:spPr>
          <a:xfrm>
            <a:off x="609600" y="6038850"/>
            <a:ext cx="10972800" cy="304800"/>
          </a:xfrm>
          <a:prstGeom prst="rect">
            <a:avLst/>
          </a:prstGeom>
          <a:noFill/>
          <a:ln w="0">
            <a:noFill/>
            <a:prstDash val="solid"/>
          </a:ln>
        </p:spPr>
        <p:txBody>
          <a:bodyPr wrap="square" lIns="0" tIns="0" rIns="0" bIns="0" anchor="t">
            <a:noAutofit/>
          </a:bodyPr>
          <a:lstStyle>
            <a:defPPr algn="l">
              <a:defRPr sz="1725" b="0">
                <a:solidFill>
                  <a:srgbClr val="516177"/>
                </a:solidFill>
                <a:latin typeface="DejaVu Sans"/>
                <a:ea typeface="DejaVu Sans"/>
                <a:cs typeface="DejaVu Sans"/>
              </a:defRPr>
            </a:defPPr>
          </a:lstStyle>
          <a:p>
            <a:pPr algn="l">
              <a:buNone/>
              <a:defRPr sz="1725" b="0">
                <a:solidFill>
                  <a:srgbClr val="516177"/>
                </a:solidFill>
                <a:latin typeface="DejaVu Sans"/>
                <a:ea typeface="DejaVu Sans"/>
                <a:cs typeface="DejaVu Sans"/>
              </a:defRPr>
            </a:pPr>
            <a:r>
              <a:rPr sz="1725" b="0">
                <a:solidFill>
                  <a:srgbClr val="516177"/>
                </a:solidFill>
                <a:latin typeface="DejaVu Sans"/>
                <a:ea typeface="DejaVu Sans"/>
                <a:cs typeface="DejaVu Sans"/>
              </a:rPr>
              <a:t>Epoch chứa bootstrap. Backup A và B mã hóa cùng SK bằng khóa riêng từng tài khoản.</a:t>
            </a:r>
          </a:p>
        </p:txBody>
      </p:sp>
    </p:spTree>
    <p:extLst>
      <p:ext uri="{BB962C8B-B14F-4D97-AF65-F5344CB8AC3E}">
        <p14:creationId xmlns:p14="http://schemas.microsoft.com/office/powerpoint/2010/main" val="414356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ext-129">
            <a:extLst>
              <a:ext uri="{FF2B5EF4-FFF2-40B4-BE49-F238E27FC236}">
                <a16:creationId xmlns:a16="http://schemas.microsoft.com/office/drawing/2014/main" id="{A5F1D8BE-563B-4C48-817F-EC8568E8062E}"/>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Mã hóa từng tin tại browser</a:t>
            </a:r>
          </a:p>
        </p:txBody>
      </p:sp>
      <p:sp>
        <p:nvSpPr>
          <p:cNvPr id="2" name="text-130">
            <a:extLst>
              <a:ext uri="{FF2B5EF4-FFF2-40B4-BE49-F238E27FC236}">
                <a16:creationId xmlns:a16="http://schemas.microsoft.com/office/drawing/2014/main" id="{1780D3F7-40A2-402B-991E-5E5DDF035CB7}"/>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HKDF dẫn xuất MK. Context tạo AAD để AES-GCM xác thực đúng tin.</a:t>
            </a:r>
          </a:p>
        </p:txBody>
      </p:sp>
      <p:sp>
        <p:nvSpPr>
          <p:cNvPr id="3" name="text-131">
            <a:extLst>
              <a:ext uri="{FF2B5EF4-FFF2-40B4-BE49-F238E27FC236}">
                <a16:creationId xmlns:a16="http://schemas.microsoft.com/office/drawing/2014/main" id="{2B423F5B-C2D6-424D-870D-197298A7E2D8}"/>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132">
            <a:extLst>
              <a:ext uri="{FF2B5EF4-FFF2-40B4-BE49-F238E27FC236}">
                <a16:creationId xmlns:a16="http://schemas.microsoft.com/office/drawing/2014/main" id="{EBE986CD-4470-426C-BB0B-EC02AFDE60A3}"/>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13 / 17</a:t>
            </a:r>
          </a:p>
        </p:txBody>
      </p:sp>
      <p:sp>
        <p:nvSpPr>
          <p:cNvPr id="5" name="diagram-node-133">
            <a:extLst>
              <a:ext uri="{FF2B5EF4-FFF2-40B4-BE49-F238E27FC236}">
                <a16:creationId xmlns:a16="http://schemas.microsoft.com/office/drawing/2014/main" id="{D38F70DD-A28E-4682-B303-193C3E6832E2}"/>
              </a:ext>
            </a:extLst>
          </p:cNvPr>
          <p:cNvSpPr>
            <a:spLocks noGrp="1"/>
          </p:cNvSpPr>
          <p:nvPr/>
        </p:nvSpPr>
        <p:spPr>
          <a:xfrm>
            <a:off x="609600" y="1838325"/>
            <a:ext cx="2095500" cy="1066800"/>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SK</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Khóa phiên 32 byte</a:t>
            </a:r>
          </a:p>
        </p:txBody>
      </p:sp>
      <p:sp>
        <p:nvSpPr>
          <p:cNvPr id="6" name="diagram-node-134">
            <a:extLst>
              <a:ext uri="{FF2B5EF4-FFF2-40B4-BE49-F238E27FC236}">
                <a16:creationId xmlns:a16="http://schemas.microsoft.com/office/drawing/2014/main" id="{A6C83A59-07AF-416D-98D2-3D486A91CA3C}"/>
              </a:ext>
            </a:extLst>
          </p:cNvPr>
          <p:cNvSpPr>
            <a:spLocks noGrp="1"/>
          </p:cNvSpPr>
          <p:nvPr/>
        </p:nvSpPr>
        <p:spPr>
          <a:xfrm>
            <a:off x="609600" y="3114675"/>
            <a:ext cx="2476500" cy="1009650"/>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Context</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thread, epoch, UUID</a:t>
            </a:r>
            <a:br>
              <a:rPr sz="1725" b="0">
                <a:solidFill>
                  <a:srgbClr val="15253B"/>
                </a:solidFill>
                <a:latin typeface="DejaVu Sans"/>
                <a:ea typeface="DejaVu Sans"/>
                <a:cs typeface="DejaVu Sans"/>
              </a:rPr>
            </a:br>
            <a:r>
              <a:rPr sz="1725" b="0">
                <a:solidFill>
                  <a:srgbClr val="15253B"/>
                </a:solidFill>
                <a:latin typeface="DejaVu Sans"/>
                <a:ea typeface="DejaVu Sans"/>
                <a:cs typeface="DejaVu Sans"/>
              </a:rPr>
              <a:t>sender, recipient</a:t>
            </a:r>
          </a:p>
        </p:txBody>
      </p:sp>
      <p:sp>
        <p:nvSpPr>
          <p:cNvPr id="7" name="diagram-node-135">
            <a:extLst>
              <a:ext uri="{FF2B5EF4-FFF2-40B4-BE49-F238E27FC236}">
                <a16:creationId xmlns:a16="http://schemas.microsoft.com/office/drawing/2014/main" id="{CBBAC6D9-1CDA-4876-9F5D-68107CD3E839}"/>
              </a:ext>
            </a:extLst>
          </p:cNvPr>
          <p:cNvSpPr>
            <a:spLocks noGrp="1"/>
          </p:cNvSpPr>
          <p:nvPr/>
        </p:nvSpPr>
        <p:spPr>
          <a:xfrm>
            <a:off x="3495675" y="2466975"/>
            <a:ext cx="2190750" cy="1095375"/>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HKDF-SHA256</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SK + context</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MK 32 byte</a:t>
            </a:r>
          </a:p>
        </p:txBody>
      </p:sp>
      <p:sp>
        <p:nvSpPr>
          <p:cNvPr id="8" name="diagram-node-136">
            <a:extLst>
              <a:ext uri="{FF2B5EF4-FFF2-40B4-BE49-F238E27FC236}">
                <a16:creationId xmlns:a16="http://schemas.microsoft.com/office/drawing/2014/main" id="{5939EAE7-85D4-472C-97B6-C6D2640A0A59}"/>
              </a:ext>
            </a:extLst>
          </p:cNvPr>
          <p:cNvSpPr>
            <a:spLocks noGrp="1"/>
          </p:cNvSpPr>
          <p:nvPr/>
        </p:nvSpPr>
        <p:spPr>
          <a:xfrm>
            <a:off x="6438900" y="2466975"/>
            <a:ext cx="2190750" cy="1095375"/>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AES-256-GCM</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MK, nonce, AAD</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Nội dung rõ</a:t>
            </a:r>
          </a:p>
        </p:txBody>
      </p:sp>
      <p:sp>
        <p:nvSpPr>
          <p:cNvPr id="9" name="diagram-node-137">
            <a:extLst>
              <a:ext uri="{FF2B5EF4-FFF2-40B4-BE49-F238E27FC236}">
                <a16:creationId xmlns:a16="http://schemas.microsoft.com/office/drawing/2014/main" id="{C1E732DB-A206-4339-AB24-FD2AF83BA746}"/>
              </a:ext>
            </a:extLst>
          </p:cNvPr>
          <p:cNvSpPr>
            <a:spLocks noGrp="1"/>
          </p:cNvSpPr>
          <p:nvPr/>
        </p:nvSpPr>
        <p:spPr>
          <a:xfrm>
            <a:off x="9248775" y="2466975"/>
            <a:ext cx="2333625" cy="109537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650" b="0">
                <a:solidFill>
                  <a:srgbClr val="15253B"/>
                </a:solidFill>
                <a:latin typeface="DejaVu Sans"/>
                <a:ea typeface="DejaVu Sans"/>
                <a:cs typeface="DejaVu Sans"/>
              </a:defRPr>
            </a:defPPr>
          </a:lstStyle>
          <a:p>
            <a:pPr algn="ctr">
              <a:buNone/>
              <a:defRPr sz="1650" b="0">
                <a:solidFill>
                  <a:srgbClr val="15253B"/>
                </a:solidFill>
                <a:latin typeface="DejaVu Sans"/>
                <a:ea typeface="DejaVu Sans"/>
                <a:cs typeface="DejaVu Sans"/>
              </a:defRPr>
            </a:pPr>
            <a:r>
              <a:rPr sz="1650" b="0">
                <a:solidFill>
                  <a:srgbClr val="15253B"/>
                </a:solidFill>
                <a:latin typeface="DejaVu Sans"/>
                <a:ea typeface="DejaVu Sans"/>
                <a:cs typeface="DejaVu Sans"/>
              </a:rPr>
              <a:t>Envelope</a:t>
            </a:r>
          </a:p>
          <a:p>
            <a:pPr algn="ctr">
              <a:buNone/>
              <a:defRPr sz="1650" b="0">
                <a:solidFill>
                  <a:srgbClr val="15253B"/>
                </a:solidFill>
                <a:latin typeface="DejaVu Sans"/>
                <a:ea typeface="DejaVu Sans"/>
                <a:cs typeface="DejaVu Sans"/>
              </a:defRPr>
            </a:pPr>
            <a:r>
              <a:rPr sz="1650" b="0">
                <a:solidFill>
                  <a:srgbClr val="15253B"/>
                </a:solidFill>
                <a:latin typeface="DejaVu Sans"/>
                <a:ea typeface="DejaVu Sans"/>
                <a:cs typeface="DejaVu Sans"/>
              </a:rPr>
              <a:t>epoch, recipient</a:t>
            </a:r>
            <a:br>
              <a:rPr sz="1650" b="0">
                <a:solidFill>
                  <a:srgbClr val="15253B"/>
                </a:solidFill>
                <a:latin typeface="DejaVu Sans"/>
                <a:ea typeface="DejaVu Sans"/>
                <a:cs typeface="DejaVu Sans"/>
              </a:rPr>
            </a:br>
            <a:r>
              <a:rPr sz="1650" b="0">
                <a:solidFill>
                  <a:srgbClr val="15253B"/>
                </a:solidFill>
                <a:latin typeface="DejaVu Sans"/>
                <a:ea typeface="DejaVu Sans"/>
                <a:cs typeface="DejaVu Sans"/>
              </a:rPr>
              <a:t>nonce, ciphertext</a:t>
            </a:r>
          </a:p>
        </p:txBody>
      </p:sp>
      <p:cxnSp>
        <p:nvCxnSpPr>
          <p:cNvPr id="10" name="diagram-line-138">
            <a:extLst>
              <a:ext uri="{FF2B5EF4-FFF2-40B4-BE49-F238E27FC236}">
                <a16:creationId xmlns:a16="http://schemas.microsoft.com/office/drawing/2014/main" id="{182F295D-FA39-443F-831C-1B7C5B333A3B}"/>
              </a:ext>
            </a:extLst>
          </p:cNvPr>
          <p:cNvCxnSpPr/>
          <p:nvPr/>
        </p:nvCxnSpPr>
        <p:spPr>
          <a:xfrm>
            <a:off x="2705100" y="2371725"/>
            <a:ext cx="419100" cy="95"/>
          </a:xfrm>
          <a:prstGeom prst="straightConnector1">
            <a:avLst/>
          </a:prstGeom>
          <a:ln w="20955">
            <a:solidFill>
              <a:srgbClr val="176A9C"/>
            </a:solidFill>
            <a:prstDash val="solid"/>
          </a:ln>
        </p:spPr>
      </p:cxnSp>
      <p:cxnSp>
        <p:nvCxnSpPr>
          <p:cNvPr id="11" name="diagram-line-139">
            <a:extLst>
              <a:ext uri="{FF2B5EF4-FFF2-40B4-BE49-F238E27FC236}">
                <a16:creationId xmlns:a16="http://schemas.microsoft.com/office/drawing/2014/main" id="{1218AA87-7EA9-42AE-BAE8-3980310A8AF5}"/>
              </a:ext>
            </a:extLst>
          </p:cNvPr>
          <p:cNvCxnSpPr/>
          <p:nvPr/>
        </p:nvCxnSpPr>
        <p:spPr>
          <a:xfrm>
            <a:off x="3124200" y="2371725"/>
            <a:ext cx="95" cy="485775"/>
          </a:xfrm>
          <a:prstGeom prst="straightConnector1">
            <a:avLst/>
          </a:prstGeom>
          <a:ln w="20955">
            <a:solidFill>
              <a:srgbClr val="176A9C"/>
            </a:solidFill>
            <a:prstDash val="solid"/>
          </a:ln>
        </p:spPr>
      </p:cxnSp>
      <p:cxnSp>
        <p:nvCxnSpPr>
          <p:cNvPr id="12" name="diagram-line-140">
            <a:extLst>
              <a:ext uri="{FF2B5EF4-FFF2-40B4-BE49-F238E27FC236}">
                <a16:creationId xmlns:a16="http://schemas.microsoft.com/office/drawing/2014/main" id="{EDD214D8-37BF-4ACE-9144-63165E28EFCA}"/>
              </a:ext>
            </a:extLst>
          </p:cNvPr>
          <p:cNvCxnSpPr/>
          <p:nvPr/>
        </p:nvCxnSpPr>
        <p:spPr>
          <a:xfrm>
            <a:off x="3124200" y="2857500"/>
            <a:ext cx="371475" cy="95"/>
          </a:xfrm>
          <a:prstGeom prst="straightConnector1">
            <a:avLst/>
          </a:prstGeom>
          <a:ln w="20955">
            <a:solidFill>
              <a:srgbClr val="176A9C"/>
            </a:solidFill>
            <a:prstDash val="solid"/>
            <a:tailEnd type="triangle" w="med" len="med"/>
          </a:ln>
        </p:spPr>
      </p:cxnSp>
      <p:cxnSp>
        <p:nvCxnSpPr>
          <p:cNvPr id="13" name="diagram-line-141">
            <a:extLst>
              <a:ext uri="{FF2B5EF4-FFF2-40B4-BE49-F238E27FC236}">
                <a16:creationId xmlns:a16="http://schemas.microsoft.com/office/drawing/2014/main" id="{648F90B0-9769-4E48-AC55-D5504EBC3B40}"/>
              </a:ext>
            </a:extLst>
          </p:cNvPr>
          <p:cNvCxnSpPr/>
          <p:nvPr/>
        </p:nvCxnSpPr>
        <p:spPr>
          <a:xfrm>
            <a:off x="3086100" y="3619500"/>
            <a:ext cx="209550" cy="95"/>
          </a:xfrm>
          <a:prstGeom prst="straightConnector1">
            <a:avLst/>
          </a:prstGeom>
          <a:ln w="20955">
            <a:solidFill>
              <a:srgbClr val="176A9C"/>
            </a:solidFill>
            <a:prstDash val="solid"/>
          </a:ln>
        </p:spPr>
      </p:cxnSp>
      <p:cxnSp>
        <p:nvCxnSpPr>
          <p:cNvPr id="14" name="diagram-line-142">
            <a:extLst>
              <a:ext uri="{FF2B5EF4-FFF2-40B4-BE49-F238E27FC236}">
                <a16:creationId xmlns:a16="http://schemas.microsoft.com/office/drawing/2014/main" id="{194D8F77-5FEA-4094-9364-4578E694D3C8}"/>
              </a:ext>
            </a:extLst>
          </p:cNvPr>
          <p:cNvCxnSpPr/>
          <p:nvPr/>
        </p:nvCxnSpPr>
        <p:spPr>
          <a:xfrm>
            <a:off x="3295650" y="3181350"/>
            <a:ext cx="95" cy="438150"/>
          </a:xfrm>
          <a:prstGeom prst="straightConnector1">
            <a:avLst/>
          </a:prstGeom>
          <a:ln w="20955">
            <a:solidFill>
              <a:srgbClr val="176A9C"/>
            </a:solidFill>
            <a:prstDash val="solid"/>
          </a:ln>
        </p:spPr>
      </p:cxnSp>
      <p:cxnSp>
        <p:nvCxnSpPr>
          <p:cNvPr id="15" name="diagram-line-143">
            <a:extLst>
              <a:ext uri="{FF2B5EF4-FFF2-40B4-BE49-F238E27FC236}">
                <a16:creationId xmlns:a16="http://schemas.microsoft.com/office/drawing/2014/main" id="{E38E4830-8866-42A4-98DF-9A1778EBD089}"/>
              </a:ext>
            </a:extLst>
          </p:cNvPr>
          <p:cNvCxnSpPr/>
          <p:nvPr/>
        </p:nvCxnSpPr>
        <p:spPr>
          <a:xfrm>
            <a:off x="3295650" y="3181350"/>
            <a:ext cx="200025" cy="95"/>
          </a:xfrm>
          <a:prstGeom prst="straightConnector1">
            <a:avLst/>
          </a:prstGeom>
          <a:ln w="20955">
            <a:solidFill>
              <a:srgbClr val="176A9C"/>
            </a:solidFill>
            <a:prstDash val="solid"/>
            <a:tailEnd type="triangle" w="med" len="med"/>
          </a:ln>
        </p:spPr>
      </p:cxnSp>
      <p:cxnSp>
        <p:nvCxnSpPr>
          <p:cNvPr id="16" name="diagram-line-144">
            <a:extLst>
              <a:ext uri="{FF2B5EF4-FFF2-40B4-BE49-F238E27FC236}">
                <a16:creationId xmlns:a16="http://schemas.microsoft.com/office/drawing/2014/main" id="{7624D68D-ED6A-49F3-A702-49AA45ADDAFE}"/>
              </a:ext>
            </a:extLst>
          </p:cNvPr>
          <p:cNvCxnSpPr/>
          <p:nvPr/>
        </p:nvCxnSpPr>
        <p:spPr>
          <a:xfrm>
            <a:off x="5686425" y="3019425"/>
            <a:ext cx="752475" cy="95"/>
          </a:xfrm>
          <a:prstGeom prst="straightConnector1">
            <a:avLst/>
          </a:prstGeom>
          <a:ln w="20955">
            <a:solidFill>
              <a:srgbClr val="176A9C"/>
            </a:solidFill>
            <a:prstDash val="solid"/>
            <a:tailEnd type="triangle" w="med" len="med"/>
          </a:ln>
        </p:spPr>
      </p:cxnSp>
      <p:sp>
        <p:nvSpPr>
          <p:cNvPr id="17" name="text-145">
            <a:extLst>
              <a:ext uri="{FF2B5EF4-FFF2-40B4-BE49-F238E27FC236}">
                <a16:creationId xmlns:a16="http://schemas.microsoft.com/office/drawing/2014/main" id="{EACF70CA-E34F-4202-B8D7-5E20A68BBE35}"/>
              </a:ext>
            </a:extLst>
          </p:cNvPr>
          <p:cNvSpPr>
            <a:spLocks noGrp="1"/>
          </p:cNvSpPr>
          <p:nvPr/>
        </p:nvSpPr>
        <p:spPr>
          <a:xfrm>
            <a:off x="5743575" y="2628900"/>
            <a:ext cx="638175" cy="333375"/>
          </a:xfrm>
          <a:prstGeom prst="rect">
            <a:avLst/>
          </a:prstGeom>
          <a:noFill/>
          <a:ln w="0">
            <a:noFill/>
            <a:prstDash val="solid"/>
          </a:ln>
        </p:spPr>
        <p:txBody>
          <a:bodyPr wrap="square" lIns="0" tIns="0" rIns="0" bIns="0" anchor="t">
            <a:noAutofit/>
          </a:bodyPr>
          <a:lstStyle>
            <a:defPPr algn="ctr">
              <a:defRPr sz="1800" b="0">
                <a:solidFill>
                  <a:srgbClr val="176A9C"/>
                </a:solidFill>
                <a:latin typeface="DejaVu Sans"/>
                <a:ea typeface="DejaVu Sans"/>
                <a:cs typeface="DejaVu Sans"/>
              </a:defRPr>
            </a:defPPr>
          </a:lstStyle>
          <a:p>
            <a:pPr algn="ctr">
              <a:buNone/>
              <a:defRPr sz="1800" b="0">
                <a:solidFill>
                  <a:srgbClr val="176A9C"/>
                </a:solidFill>
                <a:latin typeface="DejaVu Sans"/>
                <a:ea typeface="DejaVu Sans"/>
                <a:cs typeface="DejaVu Sans"/>
              </a:defRPr>
            </a:pPr>
            <a:r>
              <a:rPr sz="1800" b="0">
                <a:solidFill>
                  <a:srgbClr val="176A9C"/>
                </a:solidFill>
                <a:latin typeface="DejaVu Sans"/>
                <a:ea typeface="DejaVu Sans"/>
                <a:cs typeface="DejaVu Sans"/>
              </a:rPr>
              <a:t>MK</a:t>
            </a:r>
          </a:p>
        </p:txBody>
      </p:sp>
      <p:cxnSp>
        <p:nvCxnSpPr>
          <p:cNvPr id="18" name="diagram-line-146">
            <a:extLst>
              <a:ext uri="{FF2B5EF4-FFF2-40B4-BE49-F238E27FC236}">
                <a16:creationId xmlns:a16="http://schemas.microsoft.com/office/drawing/2014/main" id="{D95C2AD2-3DD0-4AE2-9ECA-31637C48B14C}"/>
              </a:ext>
            </a:extLst>
          </p:cNvPr>
          <p:cNvCxnSpPr/>
          <p:nvPr/>
        </p:nvCxnSpPr>
        <p:spPr>
          <a:xfrm>
            <a:off x="8629650" y="3019425"/>
            <a:ext cx="619125" cy="95"/>
          </a:xfrm>
          <a:prstGeom prst="straightConnector1">
            <a:avLst/>
          </a:prstGeom>
          <a:ln w="20955">
            <a:solidFill>
              <a:srgbClr val="176A9C"/>
            </a:solidFill>
            <a:prstDash val="solid"/>
            <a:tailEnd type="triangle" w="med" len="med"/>
          </a:ln>
        </p:spPr>
      </p:cxnSp>
      <p:sp>
        <p:nvSpPr>
          <p:cNvPr id="19" name="text-147">
            <a:extLst>
              <a:ext uri="{FF2B5EF4-FFF2-40B4-BE49-F238E27FC236}">
                <a16:creationId xmlns:a16="http://schemas.microsoft.com/office/drawing/2014/main" id="{67E17A55-E02E-4FBE-94A3-33237652D774}"/>
              </a:ext>
            </a:extLst>
          </p:cNvPr>
          <p:cNvSpPr>
            <a:spLocks noGrp="1"/>
          </p:cNvSpPr>
          <p:nvPr/>
        </p:nvSpPr>
        <p:spPr>
          <a:xfrm>
            <a:off x="609600" y="4562475"/>
            <a:ext cx="4857750" cy="419100"/>
          </a:xfrm>
          <a:prstGeom prst="rect">
            <a:avLst/>
          </a:prstGeom>
          <a:noFill/>
          <a:ln w="0">
            <a:noFill/>
            <a:prstDash val="solid"/>
          </a:ln>
        </p:spPr>
        <p:txBody>
          <a:bodyPr wrap="square" lIns="0" tIns="0" rIns="0" bIns="0" anchor="t">
            <a:noAutofit/>
          </a:bodyPr>
          <a:lstStyle>
            <a:defPPr algn="l">
              <a:defRPr sz="2250" b="1">
                <a:solidFill>
                  <a:srgbClr val="176A9C"/>
                </a:solidFill>
                <a:latin typeface="DejaVu Sans"/>
                <a:ea typeface="DejaVu Sans"/>
                <a:cs typeface="DejaVu Sans"/>
              </a:defRPr>
            </a:defPPr>
          </a:lstStyle>
          <a:p>
            <a:pPr algn="l">
              <a:buNone/>
              <a:defRPr sz="2250" b="1">
                <a:solidFill>
                  <a:srgbClr val="176A9C"/>
                </a:solidFill>
                <a:latin typeface="DejaVu Sans"/>
                <a:ea typeface="DejaVu Sans"/>
                <a:cs typeface="DejaVu Sans"/>
              </a:defRPr>
            </a:pPr>
            <a:r>
              <a:rPr sz="2250" b="1">
                <a:solidFill>
                  <a:srgbClr val="176A9C"/>
                </a:solidFill>
                <a:latin typeface="DejaVu Sans"/>
                <a:ea typeface="DejaVu Sans"/>
                <a:cs typeface="DejaVu Sans"/>
              </a:rPr>
              <a:t>Server nhìn thấy</a:t>
            </a:r>
          </a:p>
        </p:txBody>
      </p:sp>
      <p:sp>
        <p:nvSpPr>
          <p:cNvPr id="20" name="text-148">
            <a:extLst>
              <a:ext uri="{FF2B5EF4-FFF2-40B4-BE49-F238E27FC236}">
                <a16:creationId xmlns:a16="http://schemas.microsoft.com/office/drawing/2014/main" id="{EC349A56-F3E7-43B7-A510-E2B95C32C8D9}"/>
              </a:ext>
            </a:extLst>
          </p:cNvPr>
          <p:cNvSpPr>
            <a:spLocks noGrp="1"/>
          </p:cNvSpPr>
          <p:nvPr/>
        </p:nvSpPr>
        <p:spPr>
          <a:xfrm>
            <a:off x="609600" y="5133975"/>
            <a:ext cx="4857750" cy="914400"/>
          </a:xfrm>
          <a:prstGeom prst="rect">
            <a:avLst/>
          </a:prstGeom>
          <a:noFill/>
          <a:ln w="0">
            <a:noFill/>
            <a:prstDash val="solid"/>
          </a:ln>
        </p:spPr>
        <p:txBody>
          <a:bodyPr wrap="square" lIns="0" tIns="0" rIns="0" bIns="0" anchor="t">
            <a:noAutofit/>
          </a:bodyPr>
          <a:lstStyle>
            <a:defPPr algn="l">
              <a:defRPr sz="2025" b="0">
                <a:solidFill>
                  <a:srgbClr val="15253B"/>
                </a:solidFill>
                <a:latin typeface="DejaVu Sans"/>
                <a:ea typeface="DejaVu Sans"/>
                <a:cs typeface="DejaVu Sans"/>
              </a:defRPr>
            </a:defPPr>
          </a:lstStyle>
          <a:p>
            <a:pPr algn="l">
              <a:buNone/>
              <a:defRPr sz="2025" b="0">
                <a:solidFill>
                  <a:srgbClr val="15253B"/>
                </a:solidFill>
                <a:latin typeface="DejaVu Sans"/>
                <a:ea typeface="DejaVu Sans"/>
                <a:cs typeface="DejaVu Sans"/>
              </a:defRPr>
            </a:pPr>
            <a:r>
              <a:rPr sz="2025" b="0">
                <a:solidFill>
                  <a:srgbClr val="15253B"/>
                </a:solidFill>
                <a:latin typeface="DejaVu Sans"/>
                <a:ea typeface="DejaVu Sans"/>
                <a:cs typeface="DejaVu Sans"/>
              </a:rPr>
              <a:t>Bản mã và metadata</a:t>
            </a:r>
          </a:p>
          <a:p>
            <a:pPr algn="l">
              <a:buNone/>
              <a:defRPr sz="2025" b="0">
                <a:solidFill>
                  <a:srgbClr val="15253B"/>
                </a:solidFill>
                <a:latin typeface="DejaVu Sans"/>
                <a:ea typeface="DejaVu Sans"/>
                <a:cs typeface="DejaVu Sans"/>
              </a:defRPr>
            </a:pPr>
            <a:r>
              <a:rPr sz="2025" b="0">
                <a:solidFill>
                  <a:srgbClr val="15253B"/>
                </a:solidFill>
                <a:latin typeface="DejaVu Sans"/>
                <a:ea typeface="DejaVu Sans"/>
                <a:cs typeface="DejaVu Sans"/>
              </a:rPr>
              <a:t>thread, sender, seq, thời gian</a:t>
            </a:r>
          </a:p>
        </p:txBody>
      </p:sp>
      <p:sp>
        <p:nvSpPr>
          <p:cNvPr id="21" name="text-149">
            <a:extLst>
              <a:ext uri="{FF2B5EF4-FFF2-40B4-BE49-F238E27FC236}">
                <a16:creationId xmlns:a16="http://schemas.microsoft.com/office/drawing/2014/main" id="{EDFC726A-65D9-4FB1-8A3E-F649AB770C4C}"/>
              </a:ext>
            </a:extLst>
          </p:cNvPr>
          <p:cNvSpPr>
            <a:spLocks noGrp="1"/>
          </p:cNvSpPr>
          <p:nvPr/>
        </p:nvSpPr>
        <p:spPr>
          <a:xfrm>
            <a:off x="6553200" y="4562475"/>
            <a:ext cx="5029200" cy="419100"/>
          </a:xfrm>
          <a:prstGeom prst="rect">
            <a:avLst/>
          </a:prstGeom>
          <a:noFill/>
          <a:ln w="0">
            <a:noFill/>
            <a:prstDash val="solid"/>
          </a:ln>
        </p:spPr>
        <p:txBody>
          <a:bodyPr wrap="square" lIns="0" tIns="0" rIns="0" bIns="0" anchor="t">
            <a:noAutofit/>
          </a:bodyPr>
          <a:lstStyle>
            <a:defPPr algn="l">
              <a:defRPr sz="2250" b="1">
                <a:solidFill>
                  <a:srgbClr val="007E82"/>
                </a:solidFill>
                <a:latin typeface="DejaVu Sans"/>
                <a:ea typeface="DejaVu Sans"/>
                <a:cs typeface="DejaVu Sans"/>
              </a:defRPr>
            </a:defPPr>
          </a:lstStyle>
          <a:p>
            <a:pPr algn="l">
              <a:buNone/>
              <a:defRPr sz="2250" b="1">
                <a:solidFill>
                  <a:srgbClr val="007E82"/>
                </a:solidFill>
                <a:latin typeface="DejaVu Sans"/>
                <a:ea typeface="DejaVu Sans"/>
                <a:cs typeface="DejaVu Sans"/>
              </a:defRPr>
            </a:pPr>
            <a:r>
              <a:rPr sz="2250" b="1">
                <a:solidFill>
                  <a:srgbClr val="007E82"/>
                </a:solidFill>
                <a:latin typeface="DejaVu Sans"/>
                <a:ea typeface="DejaVu Sans"/>
                <a:cs typeface="DejaVu Sans"/>
              </a:rPr>
              <a:t>Browser nhận</a:t>
            </a:r>
          </a:p>
        </p:txBody>
      </p:sp>
      <p:sp>
        <p:nvSpPr>
          <p:cNvPr id="22" name="text-150">
            <a:extLst>
              <a:ext uri="{FF2B5EF4-FFF2-40B4-BE49-F238E27FC236}">
                <a16:creationId xmlns:a16="http://schemas.microsoft.com/office/drawing/2014/main" id="{FD9514B8-4776-4F5B-A130-3C8AB3FA3FBF}"/>
              </a:ext>
            </a:extLst>
          </p:cNvPr>
          <p:cNvSpPr>
            <a:spLocks noGrp="1"/>
          </p:cNvSpPr>
          <p:nvPr/>
        </p:nvSpPr>
        <p:spPr>
          <a:xfrm>
            <a:off x="6553200" y="5133975"/>
            <a:ext cx="5029200" cy="914400"/>
          </a:xfrm>
          <a:prstGeom prst="rect">
            <a:avLst/>
          </a:prstGeom>
          <a:noFill/>
          <a:ln w="0">
            <a:noFill/>
            <a:prstDash val="solid"/>
          </a:ln>
        </p:spPr>
        <p:txBody>
          <a:bodyPr wrap="square" lIns="0" tIns="0" rIns="0" bIns="0" anchor="t">
            <a:noAutofit/>
          </a:bodyPr>
          <a:lstStyle>
            <a:defPPr algn="l">
              <a:defRPr sz="2025" b="0">
                <a:solidFill>
                  <a:srgbClr val="15253B"/>
                </a:solidFill>
                <a:latin typeface="DejaVu Sans"/>
                <a:ea typeface="DejaVu Sans"/>
                <a:cs typeface="DejaVu Sans"/>
              </a:defRPr>
            </a:defPPr>
          </a:lstStyle>
          <a:p>
            <a:pPr algn="l">
              <a:buNone/>
              <a:defRPr sz="2025" b="0">
                <a:solidFill>
                  <a:srgbClr val="15253B"/>
                </a:solidFill>
                <a:latin typeface="DejaVu Sans"/>
                <a:ea typeface="DejaVu Sans"/>
                <a:cs typeface="DejaVu Sans"/>
              </a:defRPr>
            </a:pPr>
            <a:r>
              <a:rPr sz="2025" b="0">
                <a:solidFill>
                  <a:srgbClr val="15253B"/>
                </a:solidFill>
                <a:latin typeface="DejaVu Sans"/>
                <a:ea typeface="DejaVu Sans"/>
                <a:cs typeface="DejaVu Sans"/>
              </a:rPr>
              <a:t>Khôi phục đúng SK, tạo lại MK</a:t>
            </a:r>
          </a:p>
          <a:p>
            <a:pPr algn="l">
              <a:buNone/>
              <a:defRPr sz="2025" b="0">
                <a:solidFill>
                  <a:srgbClr val="15253B"/>
                </a:solidFill>
                <a:latin typeface="DejaVu Sans"/>
                <a:ea typeface="DejaVu Sans"/>
                <a:cs typeface="DejaVu Sans"/>
              </a:defRPr>
            </a:pPr>
            <a:r>
              <a:rPr sz="2025" b="0">
                <a:solidFill>
                  <a:srgbClr val="15253B"/>
                </a:solidFill>
                <a:latin typeface="DejaVu Sans"/>
                <a:ea typeface="DejaVu Sans"/>
                <a:cs typeface="DejaVu Sans"/>
              </a:rPr>
              <a:t>AES-GCM kiểm tra tag rồi giải mã</a:t>
            </a:r>
          </a:p>
        </p:txBody>
      </p:sp>
    </p:spTree>
    <p:extLst>
      <p:ext uri="{BB962C8B-B14F-4D97-AF65-F5344CB8AC3E}">
        <p14:creationId xmlns:p14="http://schemas.microsoft.com/office/powerpoint/2010/main" val="103263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xt-151">
            <a:extLst>
              <a:ext uri="{FF2B5EF4-FFF2-40B4-BE49-F238E27FC236}">
                <a16:creationId xmlns:a16="http://schemas.microsoft.com/office/drawing/2014/main" id="{0CEF1E77-09DA-4535-8069-1FD281FC23D1}"/>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Khôi phục khóa trên máy mới</a:t>
            </a:r>
          </a:p>
        </p:txBody>
      </p:sp>
      <p:sp>
        <p:nvSpPr>
          <p:cNvPr id="2" name="text-152">
            <a:extLst>
              <a:ext uri="{FF2B5EF4-FFF2-40B4-BE49-F238E27FC236}">
                <a16:creationId xmlns:a16="http://schemas.microsoft.com/office/drawing/2014/main" id="{C5210B25-7481-4A1F-89A5-3ADE8D8CCD41}"/>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Mật khẩu mở lại khóa tài khoản. Backup giúp dùng lại SK của từng direct.</a:t>
            </a:r>
          </a:p>
        </p:txBody>
      </p:sp>
      <p:sp>
        <p:nvSpPr>
          <p:cNvPr id="3" name="text-153">
            <a:extLst>
              <a:ext uri="{FF2B5EF4-FFF2-40B4-BE49-F238E27FC236}">
                <a16:creationId xmlns:a16="http://schemas.microsoft.com/office/drawing/2014/main" id="{D1903CA1-EA45-43FF-9E12-6ECAC102EB0F}"/>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154">
            <a:extLst>
              <a:ext uri="{FF2B5EF4-FFF2-40B4-BE49-F238E27FC236}">
                <a16:creationId xmlns:a16="http://schemas.microsoft.com/office/drawing/2014/main" id="{0874D609-D8FB-4E17-9E98-AAAD00705C98}"/>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14 / 17</a:t>
            </a:r>
          </a:p>
        </p:txBody>
      </p:sp>
      <p:sp>
        <p:nvSpPr>
          <p:cNvPr id="5" name="diagram-node-155">
            <a:extLst>
              <a:ext uri="{FF2B5EF4-FFF2-40B4-BE49-F238E27FC236}">
                <a16:creationId xmlns:a16="http://schemas.microsoft.com/office/drawing/2014/main" id="{CB1B7CB0-5763-4311-8E26-358238C84BD4}"/>
              </a:ext>
            </a:extLst>
          </p:cNvPr>
          <p:cNvSpPr>
            <a:spLocks noGrp="1"/>
          </p:cNvSpPr>
          <p:nvPr/>
        </p:nvSpPr>
        <p:spPr>
          <a:xfrm>
            <a:off x="609600" y="2219325"/>
            <a:ext cx="2219325" cy="1028700"/>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Mật khẩu + salt</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Tham số KDF đã lưu</a:t>
            </a:r>
          </a:p>
        </p:txBody>
      </p:sp>
      <p:sp>
        <p:nvSpPr>
          <p:cNvPr id="6" name="diagram-node-156">
            <a:extLst>
              <a:ext uri="{FF2B5EF4-FFF2-40B4-BE49-F238E27FC236}">
                <a16:creationId xmlns:a16="http://schemas.microsoft.com/office/drawing/2014/main" id="{9C27DDB3-F910-49BF-8741-E69B38030626}"/>
              </a:ext>
            </a:extLst>
          </p:cNvPr>
          <p:cNvSpPr>
            <a:spLocks noGrp="1"/>
          </p:cNvSpPr>
          <p:nvPr/>
        </p:nvSpPr>
        <p:spPr>
          <a:xfrm>
            <a:off x="3562350" y="2219325"/>
            <a:ext cx="2571750" cy="1028700"/>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Argon2id + HKDF</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Tạo lại hai giá trị riêng</a:t>
            </a:r>
          </a:p>
        </p:txBody>
      </p:sp>
      <p:sp>
        <p:nvSpPr>
          <p:cNvPr id="7" name="diagram-node-157">
            <a:extLst>
              <a:ext uri="{FF2B5EF4-FFF2-40B4-BE49-F238E27FC236}">
                <a16:creationId xmlns:a16="http://schemas.microsoft.com/office/drawing/2014/main" id="{366A93D1-A872-4BE6-A6F7-F5012DF881CB}"/>
              </a:ext>
            </a:extLst>
          </p:cNvPr>
          <p:cNvSpPr>
            <a:spLocks noGrp="1"/>
          </p:cNvSpPr>
          <p:nvPr/>
        </p:nvSpPr>
        <p:spPr>
          <a:xfrm>
            <a:off x="6838950" y="2219325"/>
            <a:ext cx="1819275" cy="1028700"/>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VK</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Khóa mở vault</a:t>
            </a:r>
          </a:p>
        </p:txBody>
      </p:sp>
      <p:sp>
        <p:nvSpPr>
          <p:cNvPr id="8" name="diagram-node-158">
            <a:extLst>
              <a:ext uri="{FF2B5EF4-FFF2-40B4-BE49-F238E27FC236}">
                <a16:creationId xmlns:a16="http://schemas.microsoft.com/office/drawing/2014/main" id="{324BC6D1-3AE1-428A-9246-395F2108460B}"/>
              </a:ext>
            </a:extLst>
          </p:cNvPr>
          <p:cNvSpPr>
            <a:spLocks noGrp="1"/>
          </p:cNvSpPr>
          <p:nvPr/>
        </p:nvSpPr>
        <p:spPr>
          <a:xfrm>
            <a:off x="9401175" y="2219325"/>
            <a:ext cx="2181225" cy="1028700"/>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BK</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HKDF từ VK</a:t>
            </a:r>
          </a:p>
        </p:txBody>
      </p:sp>
      <p:cxnSp>
        <p:nvCxnSpPr>
          <p:cNvPr id="9" name="diagram-line-159">
            <a:extLst>
              <a:ext uri="{FF2B5EF4-FFF2-40B4-BE49-F238E27FC236}">
                <a16:creationId xmlns:a16="http://schemas.microsoft.com/office/drawing/2014/main" id="{8063AEB8-EF57-4D3B-9761-D9C02F91AF87}"/>
              </a:ext>
            </a:extLst>
          </p:cNvPr>
          <p:cNvCxnSpPr/>
          <p:nvPr/>
        </p:nvCxnSpPr>
        <p:spPr>
          <a:xfrm>
            <a:off x="2828925" y="2733675"/>
            <a:ext cx="733425" cy="95"/>
          </a:xfrm>
          <a:prstGeom prst="straightConnector1">
            <a:avLst/>
          </a:prstGeom>
          <a:ln w="20955">
            <a:solidFill>
              <a:srgbClr val="176A9C"/>
            </a:solidFill>
            <a:prstDash val="solid"/>
            <a:tailEnd type="triangle" w="med" len="med"/>
          </a:ln>
        </p:spPr>
      </p:cxnSp>
      <p:cxnSp>
        <p:nvCxnSpPr>
          <p:cNvPr id="10" name="diagram-line-160">
            <a:extLst>
              <a:ext uri="{FF2B5EF4-FFF2-40B4-BE49-F238E27FC236}">
                <a16:creationId xmlns:a16="http://schemas.microsoft.com/office/drawing/2014/main" id="{463E7302-CAE3-4B49-B7AE-CE584621E1C1}"/>
              </a:ext>
            </a:extLst>
          </p:cNvPr>
          <p:cNvCxnSpPr/>
          <p:nvPr/>
        </p:nvCxnSpPr>
        <p:spPr>
          <a:xfrm>
            <a:off x="6134100" y="2733675"/>
            <a:ext cx="704850" cy="95"/>
          </a:xfrm>
          <a:prstGeom prst="straightConnector1">
            <a:avLst/>
          </a:prstGeom>
          <a:ln w="20955">
            <a:solidFill>
              <a:srgbClr val="176A9C"/>
            </a:solidFill>
            <a:prstDash val="solid"/>
            <a:tailEnd type="triangle" w="med" len="med"/>
          </a:ln>
        </p:spPr>
      </p:cxnSp>
      <p:cxnSp>
        <p:nvCxnSpPr>
          <p:cNvPr id="11" name="diagram-line-161">
            <a:extLst>
              <a:ext uri="{FF2B5EF4-FFF2-40B4-BE49-F238E27FC236}">
                <a16:creationId xmlns:a16="http://schemas.microsoft.com/office/drawing/2014/main" id="{BBBA1D08-3E46-4421-B412-E4727094B0FC}"/>
              </a:ext>
            </a:extLst>
          </p:cNvPr>
          <p:cNvCxnSpPr/>
          <p:nvPr/>
        </p:nvCxnSpPr>
        <p:spPr>
          <a:xfrm>
            <a:off x="8658225" y="2733675"/>
            <a:ext cx="742950" cy="95"/>
          </a:xfrm>
          <a:prstGeom prst="straightConnector1">
            <a:avLst/>
          </a:prstGeom>
          <a:ln w="20955">
            <a:solidFill>
              <a:srgbClr val="176A9C"/>
            </a:solidFill>
            <a:prstDash val="solid"/>
            <a:tailEnd type="triangle" w="med" len="med"/>
          </a:ln>
        </p:spPr>
      </p:cxnSp>
      <p:sp>
        <p:nvSpPr>
          <p:cNvPr id="12" name="diagram-node-162">
            <a:extLst>
              <a:ext uri="{FF2B5EF4-FFF2-40B4-BE49-F238E27FC236}">
                <a16:creationId xmlns:a16="http://schemas.microsoft.com/office/drawing/2014/main" id="{D640F8DF-8DF0-484D-BA3B-FFC70E88AEA8}"/>
              </a:ext>
            </a:extLst>
          </p:cNvPr>
          <p:cNvSpPr>
            <a:spLocks noGrp="1"/>
          </p:cNvSpPr>
          <p:nvPr/>
        </p:nvSpPr>
        <p:spPr>
          <a:xfrm>
            <a:off x="3562350" y="4219575"/>
            <a:ext cx="2571750" cy="1066800"/>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Credential</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Server kiểm tra bcrypt</a:t>
            </a:r>
            <a:br>
              <a:rPr sz="1725" b="0">
                <a:solidFill>
                  <a:srgbClr val="15253B"/>
                </a:solidFill>
                <a:latin typeface="DejaVu Sans"/>
                <a:ea typeface="DejaVu Sans"/>
                <a:cs typeface="DejaVu Sans"/>
              </a:rPr>
            </a:br>
            <a:r>
              <a:rPr sz="1725" b="0">
                <a:solidFill>
                  <a:srgbClr val="15253B"/>
                </a:solidFill>
                <a:latin typeface="DejaVu Sans"/>
                <a:ea typeface="DejaVu Sans"/>
                <a:cs typeface="DejaVu Sans"/>
              </a:rPr>
              <a:t>để cấp JWT</a:t>
            </a:r>
          </a:p>
        </p:txBody>
      </p:sp>
      <p:sp>
        <p:nvSpPr>
          <p:cNvPr id="13" name="diagram-node-163">
            <a:extLst>
              <a:ext uri="{FF2B5EF4-FFF2-40B4-BE49-F238E27FC236}">
                <a16:creationId xmlns:a16="http://schemas.microsoft.com/office/drawing/2014/main" id="{613DC4AE-ABE0-4645-A29F-B6F04C4A8407}"/>
              </a:ext>
            </a:extLst>
          </p:cNvPr>
          <p:cNvSpPr>
            <a:spLocks noGrp="1"/>
          </p:cNvSpPr>
          <p:nvPr/>
        </p:nvSpPr>
        <p:spPr>
          <a:xfrm>
            <a:off x="6591300" y="4219575"/>
            <a:ext cx="2324100" cy="1066800"/>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Vault tài khoản</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Mở private keys</a:t>
            </a:r>
            <a:br>
              <a:rPr sz="1725" b="0">
                <a:solidFill>
                  <a:srgbClr val="15253B"/>
                </a:solidFill>
                <a:latin typeface="DejaVu Sans"/>
                <a:ea typeface="DejaVu Sans"/>
                <a:cs typeface="DejaVu Sans"/>
              </a:rPr>
            </a:br>
            <a:r>
              <a:rPr sz="1725" b="0">
                <a:solidFill>
                  <a:srgbClr val="15253B"/>
                </a:solidFill>
                <a:latin typeface="DejaVu Sans"/>
                <a:ea typeface="DejaVu Sans"/>
                <a:cs typeface="DejaVu Sans"/>
              </a:rPr>
              <a:t>IK, SPK, OPK</a:t>
            </a:r>
          </a:p>
        </p:txBody>
      </p:sp>
      <p:sp>
        <p:nvSpPr>
          <p:cNvPr id="14" name="diagram-node-164">
            <a:extLst>
              <a:ext uri="{FF2B5EF4-FFF2-40B4-BE49-F238E27FC236}">
                <a16:creationId xmlns:a16="http://schemas.microsoft.com/office/drawing/2014/main" id="{3335DE8E-74D5-4C14-9901-67DC6C1D31A0}"/>
              </a:ext>
            </a:extLst>
          </p:cNvPr>
          <p:cNvSpPr>
            <a:spLocks noGrp="1"/>
          </p:cNvSpPr>
          <p:nvPr/>
        </p:nvSpPr>
        <p:spPr>
          <a:xfrm>
            <a:off x="9239250" y="4219575"/>
            <a:ext cx="2343150" cy="1066800"/>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Backup phiên</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Mở SK đã mã hóa</a:t>
            </a:r>
            <a:br>
              <a:rPr sz="1725" b="0">
                <a:solidFill>
                  <a:srgbClr val="15253B"/>
                </a:solidFill>
                <a:latin typeface="DejaVu Sans"/>
                <a:ea typeface="DejaVu Sans"/>
                <a:cs typeface="DejaVu Sans"/>
              </a:rPr>
            </a:br>
            <a:r>
              <a:rPr sz="1725" b="0">
                <a:solidFill>
                  <a:srgbClr val="15253B"/>
                </a:solidFill>
                <a:latin typeface="DejaVu Sans"/>
                <a:ea typeface="DejaVu Sans"/>
                <a:cs typeface="DejaVu Sans"/>
              </a:rPr>
              <a:t>để đọc/gửi direct</a:t>
            </a:r>
          </a:p>
        </p:txBody>
      </p:sp>
      <p:cxnSp>
        <p:nvCxnSpPr>
          <p:cNvPr id="15" name="diagram-line-165">
            <a:extLst>
              <a:ext uri="{FF2B5EF4-FFF2-40B4-BE49-F238E27FC236}">
                <a16:creationId xmlns:a16="http://schemas.microsoft.com/office/drawing/2014/main" id="{3853393F-D96D-4221-90D8-2276402EBFB7}"/>
              </a:ext>
            </a:extLst>
          </p:cNvPr>
          <p:cNvCxnSpPr/>
          <p:nvPr/>
        </p:nvCxnSpPr>
        <p:spPr>
          <a:xfrm>
            <a:off x="4848225" y="3248025"/>
            <a:ext cx="95" cy="971550"/>
          </a:xfrm>
          <a:prstGeom prst="straightConnector1">
            <a:avLst/>
          </a:prstGeom>
          <a:ln w="20955">
            <a:solidFill>
              <a:srgbClr val="176A9C"/>
            </a:solidFill>
            <a:prstDash val="solid"/>
            <a:tailEnd type="triangle" w="med" len="med"/>
          </a:ln>
        </p:spPr>
      </p:cxnSp>
      <p:cxnSp>
        <p:nvCxnSpPr>
          <p:cNvPr id="16" name="diagram-line-166">
            <a:extLst>
              <a:ext uri="{FF2B5EF4-FFF2-40B4-BE49-F238E27FC236}">
                <a16:creationId xmlns:a16="http://schemas.microsoft.com/office/drawing/2014/main" id="{81822C00-454A-4C76-8FBD-35A54E41131F}"/>
              </a:ext>
            </a:extLst>
          </p:cNvPr>
          <p:cNvCxnSpPr/>
          <p:nvPr/>
        </p:nvCxnSpPr>
        <p:spPr>
          <a:xfrm>
            <a:off x="7753350" y="3248025"/>
            <a:ext cx="95" cy="971550"/>
          </a:xfrm>
          <a:prstGeom prst="straightConnector1">
            <a:avLst/>
          </a:prstGeom>
          <a:ln w="20955">
            <a:solidFill>
              <a:srgbClr val="176A9C"/>
            </a:solidFill>
            <a:prstDash val="solid"/>
            <a:tailEnd type="triangle" w="med" len="med"/>
          </a:ln>
        </p:spPr>
      </p:cxnSp>
      <p:cxnSp>
        <p:nvCxnSpPr>
          <p:cNvPr id="17" name="diagram-line-167">
            <a:extLst>
              <a:ext uri="{FF2B5EF4-FFF2-40B4-BE49-F238E27FC236}">
                <a16:creationId xmlns:a16="http://schemas.microsoft.com/office/drawing/2014/main" id="{B1BDDEDB-73F2-4954-AF7A-7E506F03CE4E}"/>
              </a:ext>
            </a:extLst>
          </p:cNvPr>
          <p:cNvCxnSpPr/>
          <p:nvPr/>
        </p:nvCxnSpPr>
        <p:spPr>
          <a:xfrm>
            <a:off x="10496550" y="3248025"/>
            <a:ext cx="95" cy="971550"/>
          </a:xfrm>
          <a:prstGeom prst="straightConnector1">
            <a:avLst/>
          </a:prstGeom>
          <a:ln w="20955">
            <a:solidFill>
              <a:srgbClr val="176A9C"/>
            </a:solidFill>
            <a:prstDash val="solid"/>
            <a:tailEnd type="triangle" w="med" len="med"/>
          </a:ln>
        </p:spPr>
      </p:cxnSp>
      <p:sp>
        <p:nvSpPr>
          <p:cNvPr id="18" name="text-168">
            <a:extLst>
              <a:ext uri="{FF2B5EF4-FFF2-40B4-BE49-F238E27FC236}">
                <a16:creationId xmlns:a16="http://schemas.microsoft.com/office/drawing/2014/main" id="{320075DE-38B8-4389-86C5-D5CECD17B53B}"/>
              </a:ext>
            </a:extLst>
          </p:cNvPr>
          <p:cNvSpPr>
            <a:spLocks noGrp="1"/>
          </p:cNvSpPr>
          <p:nvPr/>
        </p:nvSpPr>
        <p:spPr>
          <a:xfrm>
            <a:off x="609600" y="5695950"/>
            <a:ext cx="10972800" cy="647700"/>
          </a:xfrm>
          <a:prstGeom prst="rect">
            <a:avLst/>
          </a:prstGeom>
          <a:noFill/>
          <a:ln w="0">
            <a:noFill/>
            <a:prstDash val="solid"/>
          </a:ln>
        </p:spPr>
        <p:txBody>
          <a:bodyPr wrap="square" lIns="0" tIns="0" rIns="0" bIns="0" anchor="t">
            <a:noAutofit/>
          </a:bodyPr>
          <a:lstStyle>
            <a:defPPr algn="l">
              <a:defRPr sz="1800" b="0">
                <a:solidFill>
                  <a:srgbClr val="516177"/>
                </a:solidFill>
                <a:latin typeface="DejaVu Sans"/>
                <a:ea typeface="DejaVu Sans"/>
                <a:cs typeface="DejaVu Sans"/>
              </a:defRPr>
            </a:defPPr>
          </a:lstStyle>
          <a:p>
            <a:pPr algn="l">
              <a:buNone/>
              <a:defRPr sz="1800" b="0">
                <a:solidFill>
                  <a:srgbClr val="516177"/>
                </a:solidFill>
                <a:latin typeface="DejaVu Sans"/>
                <a:ea typeface="DejaVu Sans"/>
                <a:cs typeface="DejaVu Sans"/>
              </a:defRPr>
            </a:pPr>
            <a:r>
              <a:rPr sz="1800" b="0">
                <a:solidFill>
                  <a:srgbClr val="516177"/>
                </a:solidFill>
                <a:latin typeface="DejaVu Sans"/>
                <a:ea typeface="DejaVu Sans"/>
                <a:cs typeface="DejaVu Sans"/>
              </a:rPr>
              <a:t>Máy mới dùng lại SK của epoch, tiếp tục đọc và gửi trong cùng phiên.</a:t>
            </a:r>
          </a:p>
          <a:p>
            <a:pPr algn="l">
              <a:buNone/>
              <a:defRPr sz="1800" b="0">
                <a:solidFill>
                  <a:srgbClr val="516177"/>
                </a:solidFill>
                <a:latin typeface="DejaVu Sans"/>
                <a:ea typeface="DejaVu Sans"/>
                <a:cs typeface="DejaVu Sans"/>
              </a:defRPr>
            </a:pPr>
            <a:r>
              <a:rPr sz="1800" b="0">
                <a:solidFill>
                  <a:srgbClr val="516177"/>
                </a:solidFill>
                <a:latin typeface="DejaVu Sans"/>
                <a:ea typeface="DejaVu Sans"/>
                <a:cs typeface="DejaVu Sans"/>
              </a:rPr>
              <a:t>Vault và backup đã mã hóa cần còn trên server để khôi phục.</a:t>
            </a:r>
          </a:p>
        </p:txBody>
      </p:sp>
    </p:spTree>
    <p:extLst>
      <p:ext uri="{BB962C8B-B14F-4D97-AF65-F5344CB8AC3E}">
        <p14:creationId xmlns:p14="http://schemas.microsoft.com/office/powerpoint/2010/main" val="1796532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defense-title-25">
            <a:extLst>
              <a:ext uri="{FF2B5EF4-FFF2-40B4-BE49-F238E27FC236}">
                <a16:creationId xmlns:a16="http://schemas.microsoft.com/office/drawing/2014/main" id="{F6EC4AEF-B2F3-44AA-B0FA-7DAEC90DCC7D}"/>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Demo các luồng chính</a:t>
            </a:r>
          </a:p>
        </p:txBody>
      </p:sp>
      <p:sp>
        <p:nvSpPr>
          <p:cNvPr id="2" name="defense-text-26">
            <a:extLst>
              <a:ext uri="{FF2B5EF4-FFF2-40B4-BE49-F238E27FC236}">
                <a16:creationId xmlns:a16="http://schemas.microsoft.com/office/drawing/2014/main" id="{9ADF6040-993F-49CF-B7E4-9094975172A3}"/>
              </a:ext>
            </a:extLst>
          </p:cNvPr>
          <p:cNvSpPr>
            <a:spLocks noGrp="1"/>
          </p:cNvSpPr>
          <p:nvPr/>
        </p:nvSpPr>
        <p:spPr>
          <a:xfrm>
            <a:off x="609600" y="1171575"/>
            <a:ext cx="10972800" cy="552450"/>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Quan sát realtime, quyền truy cập và khả năng đọc lại lịch sử E2EE.</a:t>
            </a:r>
          </a:p>
        </p:txBody>
      </p:sp>
      <p:sp>
        <p:nvSpPr>
          <p:cNvPr id="3" name="defense-text-27">
            <a:extLst>
              <a:ext uri="{FF2B5EF4-FFF2-40B4-BE49-F238E27FC236}">
                <a16:creationId xmlns:a16="http://schemas.microsoft.com/office/drawing/2014/main" id="{B9C378D5-01A9-4F2E-83CB-3A9D0E612348}"/>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defense-page">
            <a:extLst>
              <a:ext uri="{FF2B5EF4-FFF2-40B4-BE49-F238E27FC236}">
                <a16:creationId xmlns:a16="http://schemas.microsoft.com/office/drawing/2014/main" id="{6441ADA4-4A06-488A-8286-F1CDCA6801BD}"/>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15 / 17</a:t>
            </a:r>
          </a:p>
        </p:txBody>
      </p:sp>
      <p:graphicFrame>
        <p:nvGraphicFramePr>
          <p:cNvPr id="5" name="Table 4">
            <a:extLst>
              <a:ext uri="{FF2B5EF4-FFF2-40B4-BE49-F238E27FC236}">
                <a16:creationId xmlns:a16="http://schemas.microsoft.com/office/drawing/2014/main" id="{E7954A6B-6FD1-46B4-BECE-68230EBE6302}"/>
              </a:ext>
            </a:extLst>
          </p:cNvPr>
          <p:cNvGraphicFramePr/>
          <p:nvPr/>
        </p:nvGraphicFramePr>
        <p:xfrm>
          <a:off x="609600" y="2009775"/>
          <a:ext cx="10972800" cy="3181350"/>
        </p:xfrm>
        <a:graphic>
          <a:graphicData uri="http://schemas.openxmlformats.org/drawingml/2006/table">
            <a:tbl>
              <a:tblPr/>
              <a:tblGrid>
                <a:gridCol w="2552700">
                  <a:extLst>
                    <a:ext uri="{9D8B030D-6E8A-4147-A177-3AD203B41FA5}">
                      <a16:colId xmlns:a16="http://schemas.microsoft.com/office/drawing/2014/main" val="20000"/>
                    </a:ext>
                  </a:extLst>
                </a:gridCol>
                <a:gridCol w="4171950">
                  <a:extLst>
                    <a:ext uri="{9D8B030D-6E8A-4147-A177-3AD203B41FA5}">
                      <a16:colId xmlns:a16="http://schemas.microsoft.com/office/drawing/2014/main" val="20001"/>
                    </a:ext>
                  </a:extLst>
                </a:gridCol>
                <a:gridCol w="4248150">
                  <a:extLst>
                    <a:ext uri="{9D8B030D-6E8A-4147-A177-3AD203B41FA5}">
                      <a16:colId xmlns:a16="http://schemas.microsoft.com/office/drawing/2014/main" val="20002"/>
                    </a:ext>
                  </a:extLst>
                </a:gridCol>
              </a:tblGrid>
              <a:tr h="514350">
                <a:tc>
                  <a:txBody>
                    <a:bodyPr/>
                    <a:lstStyle/>
                    <a:p>
                      <a:r>
                        <a:rPr sz="1725" b="1">
                          <a:solidFill>
                            <a:srgbClr val="FFFFFF"/>
                          </a:solidFill>
                          <a:latin typeface="DejaVu Sans"/>
                          <a:ea typeface="DejaVu Sans"/>
                          <a:cs typeface="DejaVu Sans"/>
                        </a:rPr>
                        <a:t>Nội dung</a:t>
                      </a:r>
                    </a:p>
                  </a:txBody>
                  <a:tcPr marL="152400" marR="152400" marT="95250" marB="85725">
                    <a:lnL w="6668">
                      <a:solidFill>
                        <a:srgbClr val="C7D5DF"/>
                      </a:solidFill>
                      <a:prstDash val="soli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725" b="1">
                          <a:solidFill>
                            <a:srgbClr val="FFFFFF"/>
                          </a:solidFill>
                          <a:latin typeface="DejaVu Sans"/>
                          <a:ea typeface="DejaVu Sans"/>
                          <a:cs typeface="DejaVu Sans"/>
                        </a:rPr>
                        <a:t>Thao tác demo</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725" b="1">
                          <a:solidFill>
                            <a:srgbClr val="FFFFFF"/>
                          </a:solidFill>
                          <a:latin typeface="DejaVu Sans"/>
                          <a:ea typeface="DejaVu Sans"/>
                          <a:cs typeface="DejaVu Sans"/>
                        </a:rPr>
                        <a:t>Kết quả cần quan sát</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extLst>
                  <a:ext uri="{0D108BD9-81ED-4DB2-BD59-A6C34878D82A}">
                    <a16:rowId xmlns:a16="http://schemas.microsoft.com/office/drawing/2014/main" val="10000"/>
                  </a:ext>
                </a:extLst>
              </a:tr>
              <a:tr h="889000">
                <a:tc>
                  <a:txBody>
                    <a:bodyPr/>
                    <a:lstStyle/>
                    <a:p>
                      <a:r>
                        <a:rPr sz="1725">
                          <a:solidFill>
                            <a:srgbClr val="15253B"/>
                          </a:solidFill>
                          <a:latin typeface="DejaVu Sans"/>
                          <a:ea typeface="DejaVu Sans"/>
                          <a:cs typeface="DejaVu Sans"/>
                        </a:rPr>
                        <a:t>Realtime và lấy bù</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Gửi tin tới nhiều tab của B.</a:t>
                      </a:r>
                    </a:p>
                    <a:p>
                      <a:r>
                        <a:rPr sz="1725">
                          <a:solidFill>
                            <a:srgbClr val="15253B"/>
                          </a:solidFill>
                          <a:latin typeface="DejaVu Sans"/>
                          <a:ea typeface="DejaVu Sans"/>
                          <a:cs typeface="DejaVu Sans"/>
                        </a:rPr>
                        <a:t>Ngắt rồi kết nối lại WS.</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Gộp UUID, sắp theo seq.</a:t>
                      </a:r>
                    </a:p>
                    <a:p>
                      <a:r>
                        <a:rPr sz="1725">
                          <a:solidFill>
                            <a:srgbClr val="15253B"/>
                          </a:solidFill>
                          <a:latin typeface="DejaVu Sans"/>
                          <a:ea typeface="DejaVu Sans"/>
                          <a:cs typeface="DejaVu Sans"/>
                        </a:rPr>
                        <a:t>Lấy bù tin qua REST.</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1"/>
                  </a:ext>
                </a:extLst>
              </a:tr>
              <a:tr h="889000">
                <a:tc>
                  <a:txBody>
                    <a:bodyPr/>
                    <a:lstStyle/>
                    <a:p>
                      <a:r>
                        <a:rPr sz="1725">
                          <a:solidFill>
                            <a:srgbClr val="15253B"/>
                          </a:solidFill>
                          <a:latin typeface="DejaVu Sans"/>
                          <a:ea typeface="DejaVu Sans"/>
                          <a:cs typeface="DejaVu Sans"/>
                        </a:rPr>
                        <a:t>Quyền trong nhóm</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Cho C rời nhóm A/B/C.</a:t>
                      </a:r>
                    </a:p>
                    <a:p>
                      <a:r>
                        <a:rPr sz="1725">
                          <a:solidFill>
                            <a:srgbClr val="15253B"/>
                          </a:solidFill>
                          <a:latin typeface="DejaVu Sans"/>
                          <a:ea typeface="DejaVu Sans"/>
                          <a:cs typeface="DejaVu Sans"/>
                        </a:rPr>
                        <a:t>Gửi tin mới, C tải lịch sử.</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C nhận tin hệ thống khi rời.</a:t>
                      </a:r>
                    </a:p>
                    <a:p>
                      <a:r>
                        <a:rPr sz="1725">
                          <a:solidFill>
                            <a:srgbClr val="15253B"/>
                          </a:solidFill>
                          <a:latin typeface="DejaVu Sans"/>
                          <a:ea typeface="DejaVu Sans"/>
                          <a:cs typeface="DejaVu Sans"/>
                        </a:rPr>
                        <a:t>C chỉ đọc đến mốc rời.</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2"/>
                  </a:ext>
                </a:extLst>
              </a:tr>
              <a:tr h="889000">
                <a:tc>
                  <a:txBody>
                    <a:bodyPr/>
                    <a:lstStyle/>
                    <a:p>
                      <a:r>
                        <a:rPr sz="1725">
                          <a:solidFill>
                            <a:srgbClr val="15253B"/>
                          </a:solidFill>
                          <a:latin typeface="DejaVu Sans"/>
                          <a:ea typeface="DejaVu Sans"/>
                          <a:cs typeface="DejaVu Sans"/>
                        </a:rPr>
                        <a:t>E2EE và máy mới</a:t>
                      </a:r>
                    </a:p>
                  </a:txBody>
                  <a:tcPr marL="152400" marR="152400" marT="95250" marB="85725">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Gửi direct, xem payload.</a:t>
                      </a:r>
                    </a:p>
                    <a:p>
                      <a:r>
                        <a:rPr sz="1725">
                          <a:solidFill>
                            <a:srgbClr val="15253B"/>
                          </a:solidFill>
                          <a:latin typeface="DejaVu Sans"/>
                          <a:ea typeface="DejaVu Sans"/>
                          <a:cs typeface="DejaVu Sans"/>
                        </a:rPr>
                        <a:t>Đăng nhập ở profile mới.</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725">
                          <a:solidFill>
                            <a:srgbClr val="15253B"/>
                          </a:solidFill>
                          <a:latin typeface="DejaVu Sans"/>
                          <a:ea typeface="DejaVu Sans"/>
                          <a:cs typeface="DejaVu Sans"/>
                        </a:rPr>
                        <a:t>Payload chứa bản mã.</a:t>
                      </a:r>
                    </a:p>
                    <a:p>
                      <a:r>
                        <a:rPr sz="1725">
                          <a:solidFill>
                            <a:srgbClr val="15253B"/>
                          </a:solidFill>
                          <a:latin typeface="DejaVu Sans"/>
                          <a:ea typeface="DejaVu Sans"/>
                          <a:cs typeface="DejaVu Sans"/>
                        </a:rPr>
                        <a:t>Mở lại lịch sử hai chiều.</a:t>
                      </a:r>
                    </a:p>
                  </a:txBody>
                  <a:tcPr marL="152400" marR="152400" marT="95250" marB="85725">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defense-text-28">
            <a:extLst>
              <a:ext uri="{FF2B5EF4-FFF2-40B4-BE49-F238E27FC236}">
                <a16:creationId xmlns:a16="http://schemas.microsoft.com/office/drawing/2014/main" id="{0A69FC6D-2A77-4646-ACA8-707E53E60218}"/>
              </a:ext>
            </a:extLst>
          </p:cNvPr>
          <p:cNvSpPr>
            <a:spLocks noGrp="1"/>
          </p:cNvSpPr>
          <p:nvPr/>
        </p:nvSpPr>
        <p:spPr>
          <a:xfrm>
            <a:off x="609600" y="5524500"/>
            <a:ext cx="10972800" cy="381000"/>
          </a:xfrm>
          <a:prstGeom prst="rect">
            <a:avLst/>
          </a:prstGeom>
          <a:noFill/>
          <a:ln w="0">
            <a:noFill/>
            <a:prstDash val="solid"/>
          </a:ln>
        </p:spPr>
        <p:txBody>
          <a:bodyPr wrap="square" lIns="0" tIns="0" rIns="0" bIns="0" anchor="t">
            <a:noAutofit/>
          </a:bodyPr>
          <a:lstStyle>
            <a:defPPr algn="l">
              <a:defRPr sz="2175" b="1">
                <a:solidFill>
                  <a:srgbClr val="007E82"/>
                </a:solidFill>
                <a:latin typeface="DejaVu Sans"/>
                <a:ea typeface="DejaVu Sans"/>
                <a:cs typeface="DejaVu Sans"/>
              </a:defRPr>
            </a:defPPr>
          </a:lstStyle>
          <a:p>
            <a:pPr algn="l">
              <a:buNone/>
              <a:defRPr sz="2175" b="1">
                <a:solidFill>
                  <a:srgbClr val="007E82"/>
                </a:solidFill>
                <a:latin typeface="DejaVu Sans"/>
                <a:ea typeface="DejaVu Sans"/>
                <a:cs typeface="DejaVu Sans"/>
              </a:defRPr>
            </a:pPr>
            <a:r>
              <a:rPr sz="2175" b="1">
                <a:solidFill>
                  <a:srgbClr val="007E82"/>
                </a:solidFill>
                <a:latin typeface="DejaVu Sans"/>
                <a:ea typeface="DejaVu Sans"/>
                <a:cs typeface="DejaVu Sans"/>
              </a:rPr>
              <a:t>Môi trường demo</a:t>
            </a:r>
          </a:p>
        </p:txBody>
      </p:sp>
      <p:sp>
        <p:nvSpPr>
          <p:cNvPr id="7" name="defense-text-29">
            <a:extLst>
              <a:ext uri="{FF2B5EF4-FFF2-40B4-BE49-F238E27FC236}">
                <a16:creationId xmlns:a16="http://schemas.microsoft.com/office/drawing/2014/main" id="{06B71D9C-B579-4817-8927-132F90EF126A}"/>
              </a:ext>
            </a:extLst>
          </p:cNvPr>
          <p:cNvSpPr>
            <a:spLocks noGrp="1"/>
          </p:cNvSpPr>
          <p:nvPr/>
        </p:nvSpPr>
        <p:spPr>
          <a:xfrm>
            <a:off x="609600" y="6000750"/>
            <a:ext cx="10972800" cy="333375"/>
          </a:xfrm>
          <a:prstGeom prst="rect">
            <a:avLst/>
          </a:prstGeom>
          <a:noFill/>
          <a:ln w="0">
            <a:noFill/>
            <a:prstDash val="solid"/>
          </a:ln>
        </p:spPr>
        <p:txBody>
          <a:bodyPr wrap="square" lIns="0" tIns="0" rIns="0" bIns="0" anchor="t">
            <a:noAutofit/>
          </a:bodyPr>
          <a:lstStyle>
            <a:defPPr algn="l">
              <a:defRPr sz="1800" b="0">
                <a:solidFill>
                  <a:srgbClr val="516177"/>
                </a:solidFill>
                <a:latin typeface="DejaVu Sans"/>
                <a:ea typeface="DejaVu Sans"/>
                <a:cs typeface="DejaVu Sans"/>
              </a:defRPr>
            </a:defPPr>
          </a:lstStyle>
          <a:p>
            <a:pPr algn="l">
              <a:buNone/>
              <a:defRPr sz="1800" b="0">
                <a:solidFill>
                  <a:srgbClr val="516177"/>
                </a:solidFill>
                <a:latin typeface="DejaVu Sans"/>
                <a:ea typeface="DejaVu Sans"/>
                <a:cs typeface="DejaVu Sans"/>
              </a:defRPr>
            </a:pPr>
            <a:r>
              <a:rPr sz="1800" b="0">
                <a:solidFill>
                  <a:srgbClr val="516177"/>
                </a:solidFill>
                <a:latin typeface="DejaVu Sans"/>
                <a:ea typeface="DejaVu Sans"/>
                <a:cs typeface="DejaVu Sans"/>
              </a:rPr>
              <a:t>Windows qua Cloudflare Tunnel, API :8080 và gateway :8081.</a:t>
            </a:r>
          </a:p>
        </p:txBody>
      </p:sp>
    </p:spTree>
    <p:extLst>
      <p:ext uri="{BB962C8B-B14F-4D97-AF65-F5344CB8AC3E}">
        <p14:creationId xmlns:p14="http://schemas.microsoft.com/office/powerpoint/2010/main" val="843811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169">
            <a:extLst>
              <a:ext uri="{FF2B5EF4-FFF2-40B4-BE49-F238E27FC236}">
                <a16:creationId xmlns:a16="http://schemas.microsoft.com/office/drawing/2014/main" id="{CF96C91A-C430-48E7-9E6C-B2F02C0FB352}"/>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Đánh đổi và hướng phát triển</a:t>
            </a:r>
          </a:p>
        </p:txBody>
      </p:sp>
      <p:sp>
        <p:nvSpPr>
          <p:cNvPr id="2" name="text-170">
            <a:extLst>
              <a:ext uri="{FF2B5EF4-FFF2-40B4-BE49-F238E27FC236}">
                <a16:creationId xmlns:a16="http://schemas.microsoft.com/office/drawing/2014/main" id="{0EA8DEC5-F156-4A5D-A6C3-F08A9AC7E4A6}"/>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Các hướng cải tiến dưới đây cần triển khai thêm.</a:t>
            </a:r>
          </a:p>
        </p:txBody>
      </p:sp>
      <p:sp>
        <p:nvSpPr>
          <p:cNvPr id="3" name="text-171">
            <a:extLst>
              <a:ext uri="{FF2B5EF4-FFF2-40B4-BE49-F238E27FC236}">
                <a16:creationId xmlns:a16="http://schemas.microsoft.com/office/drawing/2014/main" id="{E70ECA04-FE2B-4736-B98D-9E692481BF2F}"/>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172">
            <a:extLst>
              <a:ext uri="{FF2B5EF4-FFF2-40B4-BE49-F238E27FC236}">
                <a16:creationId xmlns:a16="http://schemas.microsoft.com/office/drawing/2014/main" id="{04ADA4B5-B84F-4291-A1B4-5AC80466DA15}"/>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16 / 17</a:t>
            </a:r>
          </a:p>
        </p:txBody>
      </p:sp>
      <p:graphicFrame>
        <p:nvGraphicFramePr>
          <p:cNvPr id="5" name="Table 4">
            <a:extLst>
              <a:ext uri="{FF2B5EF4-FFF2-40B4-BE49-F238E27FC236}">
                <a16:creationId xmlns:a16="http://schemas.microsoft.com/office/drawing/2014/main" id="{D3EBAAA8-F022-4155-9ED1-107BC34FC172}"/>
              </a:ext>
            </a:extLst>
          </p:cNvPr>
          <p:cNvGraphicFramePr/>
          <p:nvPr/>
        </p:nvGraphicFramePr>
        <p:xfrm>
          <a:off x="609600" y="2038350"/>
          <a:ext cx="10972800" cy="3055143"/>
        </p:xfrm>
        <a:graphic>
          <a:graphicData uri="http://schemas.openxmlformats.org/drawingml/2006/table">
            <a:tbl>
              <a:tblPr/>
              <a:tblGrid>
                <a:gridCol w="2924175">
                  <a:extLst>
                    <a:ext uri="{9D8B030D-6E8A-4147-A177-3AD203B41FA5}">
                      <a16:colId xmlns:a16="http://schemas.microsoft.com/office/drawing/2014/main" val="20000"/>
                    </a:ext>
                  </a:extLst>
                </a:gridCol>
                <a:gridCol w="4105275">
                  <a:extLst>
                    <a:ext uri="{9D8B030D-6E8A-4147-A177-3AD203B41FA5}">
                      <a16:colId xmlns:a16="http://schemas.microsoft.com/office/drawing/2014/main" val="20001"/>
                    </a:ext>
                  </a:extLst>
                </a:gridCol>
                <a:gridCol w="3943350">
                  <a:extLst>
                    <a:ext uri="{9D8B030D-6E8A-4147-A177-3AD203B41FA5}">
                      <a16:colId xmlns:a16="http://schemas.microsoft.com/office/drawing/2014/main" val="20002"/>
                    </a:ext>
                  </a:extLst>
                </a:gridCol>
              </a:tblGrid>
              <a:tr h="533400">
                <a:tc>
                  <a:txBody>
                    <a:bodyPr/>
                    <a:lstStyle/>
                    <a:p>
                      <a:r>
                        <a:rPr sz="1800" b="1">
                          <a:solidFill>
                            <a:srgbClr val="FFFFFF"/>
                          </a:solidFill>
                          <a:latin typeface="DejaVu Sans"/>
                          <a:ea typeface="DejaVu Sans"/>
                          <a:cs typeface="DejaVu Sans"/>
                        </a:rPr>
                        <a:t>Thiết kế hiện tại</a:t>
                      </a:r>
                    </a:p>
                  </a:txBody>
                  <a:tcPr marL="152400" marR="152400" marT="114300" marB="95250">
                    <a:lnL w="6668">
                      <a:solidFill>
                        <a:srgbClr val="C7D5DF"/>
                      </a:solidFill>
                      <a:prstDash val="soli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800" b="1">
                          <a:solidFill>
                            <a:srgbClr val="FFFFFF"/>
                          </a:solidFill>
                          <a:latin typeface="DejaVu Sans"/>
                          <a:ea typeface="DejaVu Sans"/>
                          <a:cs typeface="DejaVu Sans"/>
                        </a:rPr>
                        <a:t>Đánh đổi</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800" b="1">
                          <a:solidFill>
                            <a:srgbClr val="FFFFFF"/>
                          </a:solidFill>
                          <a:latin typeface="DejaVu Sans"/>
                          <a:ea typeface="DejaVu Sans"/>
                          <a:cs typeface="DejaVu Sans"/>
                        </a:rPr>
                        <a:t>Hướng mở rộng (đề xuất)</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extLst>
                  <a:ext uri="{0D108BD9-81ED-4DB2-BD59-A6C34878D82A}">
                    <a16:rowId xmlns:a16="http://schemas.microsoft.com/office/drawing/2014/main" val="10000"/>
                  </a:ext>
                </a:extLst>
              </a:tr>
              <a:tr h="1120775">
                <a:tc>
                  <a:txBody>
                    <a:bodyPr/>
                    <a:lstStyle/>
                    <a:p>
                      <a:r>
                        <a:rPr sz="1800">
                          <a:solidFill>
                            <a:srgbClr val="15253B"/>
                          </a:solidFill>
                          <a:latin typeface="DejaVu Sans"/>
                          <a:ea typeface="DejaVu Sans"/>
                          <a:cs typeface="DejaVu Sans"/>
                        </a:rPr>
                        <a:t>Commit rồi XADD</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00">
                          <a:solidFill>
                            <a:srgbClr val="15253B"/>
                          </a:solidFill>
                          <a:latin typeface="DejaVu Sans"/>
                          <a:ea typeface="DejaVu Sans"/>
                          <a:cs typeface="DejaVu Sans"/>
                        </a:rPr>
                        <a:t>Tin đã lưu có thể chưa được publish</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00">
                          <a:solidFill>
                            <a:srgbClr val="15253B"/>
                          </a:solidFill>
                          <a:latin typeface="DejaVu Sans"/>
                          <a:ea typeface="DejaVu Sans"/>
                          <a:cs typeface="DejaVu Sans"/>
                        </a:rPr>
                        <a:t>Transactional outbox backend</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1"/>
                  </a:ext>
                </a:extLst>
              </a:tr>
              <a:tr h="1120775">
                <a:tc>
                  <a:txBody>
                    <a:bodyPr/>
                    <a:lstStyle/>
                    <a:p>
                      <a:r>
                        <a:rPr sz="1800">
                          <a:solidFill>
                            <a:srgbClr val="15253B"/>
                          </a:solidFill>
                          <a:latin typeface="DejaVu Sans"/>
                          <a:ea typeface="DejaVu Sans"/>
                          <a:cs typeface="DejaVu Sans"/>
                        </a:rPr>
                        <a:t>Một gateway instance</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00">
                          <a:solidFill>
                            <a:srgbClr val="15253B"/>
                          </a:solidFill>
                          <a:latin typeface="DejaVu Sans"/>
                          <a:ea typeface="DejaVu Sans"/>
                          <a:cs typeface="DejaVu Sans"/>
                        </a:rPr>
                        <a:t>Thêm node cần phát event tới đúng gateway</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00">
                          <a:solidFill>
                            <a:srgbClr val="15253B"/>
                          </a:solidFill>
                          <a:latin typeface="DejaVu Sans"/>
                          <a:ea typeface="DejaVu Sans"/>
                          <a:cs typeface="DejaVu Sans"/>
                        </a:rPr>
                        <a:t>Fan-out theo gateway hoặc routing user</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2"/>
                  </a:ext>
                </a:extLst>
              </a:tr>
              <a:tr h="1120775">
                <a:tc>
                  <a:txBody>
                    <a:bodyPr/>
                    <a:lstStyle/>
                    <a:p>
                      <a:r>
                        <a:rPr sz="1800">
                          <a:solidFill>
                            <a:srgbClr val="15253B"/>
                          </a:solidFill>
                          <a:latin typeface="DejaVu Sans"/>
                          <a:ea typeface="DejaVu Sans"/>
                          <a:cs typeface="DejaVu Sans"/>
                        </a:rPr>
                        <a:t>SK cố định + backup</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00">
                          <a:solidFill>
                            <a:srgbClr val="15253B"/>
                          </a:solidFill>
                          <a:latin typeface="DejaVu Sans"/>
                          <a:ea typeface="DejaVu Sans"/>
                          <a:cs typeface="DejaVu Sans"/>
                        </a:rPr>
                        <a:t>Đổi máy đọc lại lịch sử.</a:t>
                      </a:r>
                    </a:p>
                    <a:p>
                      <a:r>
                        <a:rPr sz="1800">
                          <a:solidFill>
                            <a:srgbClr val="15253B"/>
                          </a:solidFill>
                          <a:latin typeface="DejaVu Sans"/>
                          <a:ea typeface="DejaVu Sans"/>
                          <a:cs typeface="DejaVu Sans"/>
                        </a:rPr>
                        <a:t>Lộ khóa có thể lộ lịch sử</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800">
                          <a:solidFill>
                            <a:srgbClr val="15253B"/>
                          </a:solidFill>
                          <a:latin typeface="DejaVu Sans"/>
                          <a:ea typeface="DejaVu Sans"/>
                          <a:cs typeface="DejaVu Sans"/>
                        </a:rPr>
                        <a:t>Rekey / Ratchet và chính sách backup mới</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71027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ending-text-1">
            <a:extLst>
              <a:ext uri="{FF2B5EF4-FFF2-40B4-BE49-F238E27FC236}">
                <a16:creationId xmlns:a16="http://schemas.microsoft.com/office/drawing/2014/main" id="{E3068765-B3D6-411A-BCA6-9FE9CC50A526}"/>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Tổng kết kiến trúc</a:t>
            </a:r>
          </a:p>
        </p:txBody>
      </p:sp>
      <p:sp>
        <p:nvSpPr>
          <p:cNvPr id="2" name="ending-text-2">
            <a:extLst>
              <a:ext uri="{FF2B5EF4-FFF2-40B4-BE49-F238E27FC236}">
                <a16:creationId xmlns:a16="http://schemas.microsoft.com/office/drawing/2014/main" id="{9741F8EB-4571-42D5-A3F1-B61009534057}"/>
              </a:ext>
            </a:extLst>
          </p:cNvPr>
          <p:cNvSpPr>
            <a:spLocks noGrp="1"/>
          </p:cNvSpPr>
          <p:nvPr/>
        </p:nvSpPr>
        <p:spPr>
          <a:xfrm>
            <a:off x="609600" y="1171575"/>
            <a:ext cx="10972800" cy="552450"/>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Mỗi thành phần giữ một trách nhiệm trong luồng chat.</a:t>
            </a:r>
          </a:p>
        </p:txBody>
      </p:sp>
      <p:sp>
        <p:nvSpPr>
          <p:cNvPr id="3" name="ending-text-3">
            <a:extLst>
              <a:ext uri="{FF2B5EF4-FFF2-40B4-BE49-F238E27FC236}">
                <a16:creationId xmlns:a16="http://schemas.microsoft.com/office/drawing/2014/main" id="{98BDF4C3-1543-49B9-AF28-F7D8BA4AB2E8}"/>
              </a:ext>
            </a:extLst>
          </p:cNvPr>
          <p:cNvSpPr>
            <a:spLocks noGrp="1"/>
          </p:cNvSpPr>
          <p:nvPr/>
        </p:nvSpPr>
        <p:spPr>
          <a:xfrm>
            <a:off x="609600" y="2076450"/>
            <a:ext cx="3429000" cy="428625"/>
          </a:xfrm>
          <a:prstGeom prst="rect">
            <a:avLst/>
          </a:prstGeom>
          <a:noFill/>
          <a:ln w="0">
            <a:noFill/>
            <a:prstDash val="solid"/>
          </a:ln>
        </p:spPr>
        <p:txBody>
          <a:bodyPr wrap="square" lIns="0" tIns="0" rIns="0" bIns="0" anchor="t">
            <a:noAutofit/>
          </a:bodyPr>
          <a:lstStyle>
            <a:defPPr algn="l">
              <a:defRPr sz="2175" b="1">
                <a:solidFill>
                  <a:srgbClr val="007E82"/>
                </a:solidFill>
                <a:latin typeface="DejaVu Sans"/>
                <a:ea typeface="DejaVu Sans"/>
                <a:cs typeface="DejaVu Sans"/>
              </a:defRPr>
            </a:defPPr>
          </a:lstStyle>
          <a:p>
            <a:pPr algn="l">
              <a:buNone/>
              <a:defRPr sz="2175" b="1">
                <a:solidFill>
                  <a:srgbClr val="007E82"/>
                </a:solidFill>
                <a:latin typeface="DejaVu Sans"/>
                <a:ea typeface="DejaVu Sans"/>
                <a:cs typeface="DejaVu Sans"/>
              </a:defRPr>
            </a:pPr>
            <a:r>
              <a:rPr sz="2175" b="1">
                <a:solidFill>
                  <a:srgbClr val="007E82"/>
                </a:solidFill>
                <a:latin typeface="DejaVu Sans"/>
                <a:ea typeface="DejaVu Sans"/>
                <a:cs typeface="DejaVu Sans"/>
              </a:rPr>
              <a:t>Dữ liệu và quyền</a:t>
            </a:r>
          </a:p>
        </p:txBody>
      </p:sp>
      <p:sp>
        <p:nvSpPr>
          <p:cNvPr id="4" name="ending-text-4">
            <a:extLst>
              <a:ext uri="{FF2B5EF4-FFF2-40B4-BE49-F238E27FC236}">
                <a16:creationId xmlns:a16="http://schemas.microsoft.com/office/drawing/2014/main" id="{2222DFFA-F3A0-4F4E-B110-2AD4924B0B70}"/>
              </a:ext>
            </a:extLst>
          </p:cNvPr>
          <p:cNvSpPr>
            <a:spLocks noGrp="1"/>
          </p:cNvSpPr>
          <p:nvPr/>
        </p:nvSpPr>
        <p:spPr>
          <a:xfrm>
            <a:off x="4381500" y="2047875"/>
            <a:ext cx="7200900" cy="819150"/>
          </a:xfrm>
          <a:prstGeom prst="rect">
            <a:avLst/>
          </a:prstGeom>
          <a:noFill/>
          <a:ln w="0">
            <a:noFill/>
            <a:prstDash val="solid"/>
          </a:ln>
        </p:spPr>
        <p:txBody>
          <a:bodyPr wrap="square" lIns="0" tIns="0" rIns="0" bIns="0" anchor="t">
            <a:noAutofit/>
          </a:bodyPr>
          <a:lstStyle>
            <a:defPPr algn="l">
              <a:defRPr sz="2100" b="0">
                <a:solidFill>
                  <a:srgbClr val="15253B"/>
                </a:solidFill>
                <a:latin typeface="DejaVu Sans"/>
                <a:ea typeface="DejaVu Sans"/>
                <a:cs typeface="DejaVu Sans"/>
              </a:defRPr>
            </a:defPPr>
          </a:lstStyle>
          <a:p>
            <a:pPr algn="l">
              <a:buNone/>
              <a:defRPr sz="2100" b="0">
                <a:solidFill>
                  <a:srgbClr val="15253B"/>
                </a:solidFill>
                <a:latin typeface="DejaVu Sans"/>
                <a:ea typeface="DejaVu Sans"/>
                <a:cs typeface="DejaVu Sans"/>
              </a:defRPr>
            </a:pPr>
            <a:r>
              <a:rPr sz="2100" b="0">
                <a:solidFill>
                  <a:srgbClr val="15253B"/>
                </a:solidFill>
                <a:latin typeface="DejaVu Sans"/>
                <a:ea typeface="DejaVu Sans"/>
                <a:cs typeface="DejaVu Sans"/>
              </a:rPr>
              <a:t>PostgreSQL khóa thread, cấp seq và lưu tin trong cùng transaction.</a:t>
            </a:r>
          </a:p>
        </p:txBody>
      </p:sp>
      <p:sp>
        <p:nvSpPr>
          <p:cNvPr id="5" name="ending-divider-5">
            <a:extLst>
              <a:ext uri="{FF2B5EF4-FFF2-40B4-BE49-F238E27FC236}">
                <a16:creationId xmlns:a16="http://schemas.microsoft.com/office/drawing/2014/main" id="{24A34B1D-2604-4F8F-BDB9-7F54917F0218}"/>
              </a:ext>
            </a:extLst>
          </p:cNvPr>
          <p:cNvSpPr>
            <a:spLocks noGrp="1"/>
          </p:cNvSpPr>
          <p:nvPr/>
        </p:nvSpPr>
        <p:spPr>
          <a:xfrm>
            <a:off x="609600" y="2990850"/>
            <a:ext cx="10972800" cy="95"/>
          </a:xfrm>
          <a:prstGeom prst="line">
            <a:avLst/>
          </a:prstGeom>
          <a:noFill/>
          <a:ln w="9525">
            <a:solidFill>
              <a:srgbClr val="C7D5DF"/>
            </a:solidFill>
            <a:prstDash val="solid"/>
          </a:ln>
        </p:spPr>
        <p:txBody>
          <a:bodyPr/>
          <a:lstStyle/>
          <a:p>
            <a:endParaRPr lang="en-US"/>
          </a:p>
        </p:txBody>
      </p:sp>
      <p:sp>
        <p:nvSpPr>
          <p:cNvPr id="6" name="ending-text-6">
            <a:extLst>
              <a:ext uri="{FF2B5EF4-FFF2-40B4-BE49-F238E27FC236}">
                <a16:creationId xmlns:a16="http://schemas.microsoft.com/office/drawing/2014/main" id="{A36E1409-F5C3-4965-A312-C53D45B01429}"/>
              </a:ext>
            </a:extLst>
          </p:cNvPr>
          <p:cNvSpPr>
            <a:spLocks noGrp="1"/>
          </p:cNvSpPr>
          <p:nvPr/>
        </p:nvSpPr>
        <p:spPr>
          <a:xfrm>
            <a:off x="609600" y="3219450"/>
            <a:ext cx="3429000" cy="428625"/>
          </a:xfrm>
          <a:prstGeom prst="rect">
            <a:avLst/>
          </a:prstGeom>
          <a:noFill/>
          <a:ln w="0">
            <a:noFill/>
            <a:prstDash val="solid"/>
          </a:ln>
        </p:spPr>
        <p:txBody>
          <a:bodyPr wrap="square" lIns="0" tIns="0" rIns="0" bIns="0" anchor="t">
            <a:noAutofit/>
          </a:bodyPr>
          <a:lstStyle>
            <a:defPPr algn="l">
              <a:defRPr sz="2175" b="1">
                <a:solidFill>
                  <a:srgbClr val="007E82"/>
                </a:solidFill>
                <a:latin typeface="DejaVu Sans"/>
                <a:ea typeface="DejaVu Sans"/>
                <a:cs typeface="DejaVu Sans"/>
              </a:defRPr>
            </a:defPPr>
          </a:lstStyle>
          <a:p>
            <a:pPr algn="l">
              <a:buNone/>
              <a:defRPr sz="2175" b="1">
                <a:solidFill>
                  <a:srgbClr val="007E82"/>
                </a:solidFill>
                <a:latin typeface="DejaVu Sans"/>
                <a:ea typeface="DejaVu Sans"/>
                <a:cs typeface="DejaVu Sans"/>
              </a:defRPr>
            </a:pPr>
            <a:r>
              <a:rPr sz="2175" b="1">
                <a:solidFill>
                  <a:srgbClr val="007E82"/>
                </a:solidFill>
                <a:latin typeface="DejaVu Sans"/>
                <a:ea typeface="DejaVu Sans"/>
                <a:cs typeface="DejaVu Sans"/>
              </a:rPr>
              <a:t>Phát tin và lấy bù</a:t>
            </a:r>
          </a:p>
        </p:txBody>
      </p:sp>
      <p:sp>
        <p:nvSpPr>
          <p:cNvPr id="7" name="ending-text-7">
            <a:extLst>
              <a:ext uri="{FF2B5EF4-FFF2-40B4-BE49-F238E27FC236}">
                <a16:creationId xmlns:a16="http://schemas.microsoft.com/office/drawing/2014/main" id="{4104D18D-2F6D-47D5-B29C-201F6243A1F1}"/>
              </a:ext>
            </a:extLst>
          </p:cNvPr>
          <p:cNvSpPr>
            <a:spLocks noGrp="1"/>
          </p:cNvSpPr>
          <p:nvPr/>
        </p:nvSpPr>
        <p:spPr>
          <a:xfrm>
            <a:off x="4381500" y="3190875"/>
            <a:ext cx="7200900" cy="819150"/>
          </a:xfrm>
          <a:prstGeom prst="rect">
            <a:avLst/>
          </a:prstGeom>
          <a:noFill/>
          <a:ln w="0">
            <a:noFill/>
            <a:prstDash val="solid"/>
          </a:ln>
        </p:spPr>
        <p:txBody>
          <a:bodyPr wrap="square" lIns="0" tIns="0" rIns="0" bIns="0" anchor="t">
            <a:noAutofit/>
          </a:bodyPr>
          <a:lstStyle>
            <a:defPPr algn="l">
              <a:defRPr sz="2100" b="0">
                <a:solidFill>
                  <a:srgbClr val="15253B"/>
                </a:solidFill>
                <a:latin typeface="DejaVu Sans"/>
                <a:ea typeface="DejaVu Sans"/>
                <a:cs typeface="DejaVu Sans"/>
              </a:defRPr>
            </a:defPPr>
          </a:lstStyle>
          <a:p>
            <a:pPr algn="l">
              <a:buNone/>
              <a:defRPr sz="2100" b="0">
                <a:solidFill>
                  <a:srgbClr val="15253B"/>
                </a:solidFill>
                <a:latin typeface="DejaVu Sans"/>
                <a:ea typeface="DejaVu Sans"/>
                <a:cs typeface="DejaVu Sans"/>
              </a:defRPr>
            </a:pPr>
            <a:r>
              <a:rPr sz="2100" b="0">
                <a:solidFill>
                  <a:srgbClr val="15253B"/>
                </a:solidFill>
                <a:latin typeface="DejaVu Sans"/>
                <a:ea typeface="DejaVu Sans"/>
                <a:cs typeface="DejaVu Sans"/>
              </a:rPr>
              <a:t>Redis Stream nối API với gateway. Browser dùng REST để lấy bù lịch sử.</a:t>
            </a:r>
          </a:p>
        </p:txBody>
      </p:sp>
      <p:sp>
        <p:nvSpPr>
          <p:cNvPr id="8" name="ending-divider-8">
            <a:extLst>
              <a:ext uri="{FF2B5EF4-FFF2-40B4-BE49-F238E27FC236}">
                <a16:creationId xmlns:a16="http://schemas.microsoft.com/office/drawing/2014/main" id="{BF0DD7B8-54F1-4FE6-9147-5B64DD63A126}"/>
              </a:ext>
            </a:extLst>
          </p:cNvPr>
          <p:cNvSpPr>
            <a:spLocks noGrp="1"/>
          </p:cNvSpPr>
          <p:nvPr/>
        </p:nvSpPr>
        <p:spPr>
          <a:xfrm>
            <a:off x="609600" y="4133850"/>
            <a:ext cx="10972800" cy="95"/>
          </a:xfrm>
          <a:prstGeom prst="line">
            <a:avLst/>
          </a:prstGeom>
          <a:noFill/>
          <a:ln w="9525">
            <a:solidFill>
              <a:srgbClr val="C7D5DF"/>
            </a:solidFill>
            <a:prstDash val="solid"/>
          </a:ln>
        </p:spPr>
        <p:txBody>
          <a:bodyPr/>
          <a:lstStyle/>
          <a:p>
            <a:endParaRPr lang="en-US"/>
          </a:p>
        </p:txBody>
      </p:sp>
      <p:sp>
        <p:nvSpPr>
          <p:cNvPr id="9" name="ending-text-9">
            <a:extLst>
              <a:ext uri="{FF2B5EF4-FFF2-40B4-BE49-F238E27FC236}">
                <a16:creationId xmlns:a16="http://schemas.microsoft.com/office/drawing/2014/main" id="{51549AD4-778E-4070-BA9F-BD7A5FDD5CB5}"/>
              </a:ext>
            </a:extLst>
          </p:cNvPr>
          <p:cNvSpPr>
            <a:spLocks noGrp="1"/>
          </p:cNvSpPr>
          <p:nvPr/>
        </p:nvSpPr>
        <p:spPr>
          <a:xfrm>
            <a:off x="609600" y="4362450"/>
            <a:ext cx="3429000" cy="771525"/>
          </a:xfrm>
          <a:prstGeom prst="rect">
            <a:avLst/>
          </a:prstGeom>
          <a:noFill/>
          <a:ln w="0">
            <a:noFill/>
            <a:prstDash val="solid"/>
          </a:ln>
        </p:spPr>
        <p:txBody>
          <a:bodyPr wrap="square" lIns="0" tIns="0" rIns="0" bIns="0" anchor="t">
            <a:noAutofit/>
          </a:bodyPr>
          <a:lstStyle>
            <a:defPPr algn="l">
              <a:defRPr sz="2175" b="1">
                <a:solidFill>
                  <a:srgbClr val="007E82"/>
                </a:solidFill>
                <a:latin typeface="DejaVu Sans"/>
                <a:ea typeface="DejaVu Sans"/>
                <a:cs typeface="DejaVu Sans"/>
              </a:defRPr>
            </a:defPPr>
          </a:lstStyle>
          <a:p>
            <a:pPr algn="l">
              <a:buNone/>
              <a:defRPr sz="2175" b="1">
                <a:solidFill>
                  <a:srgbClr val="007E82"/>
                </a:solidFill>
                <a:latin typeface="DejaVu Sans"/>
                <a:ea typeface="DejaVu Sans"/>
                <a:cs typeface="DejaVu Sans"/>
              </a:defRPr>
            </a:pPr>
            <a:r>
              <a:rPr sz="2175" b="1">
                <a:solidFill>
                  <a:srgbClr val="007E82"/>
                </a:solidFill>
                <a:latin typeface="DejaVu Sans"/>
                <a:ea typeface="DejaVu Sans"/>
                <a:cs typeface="DejaVu Sans"/>
              </a:rPr>
              <a:t>E2EE và khôi phục khóa</a:t>
            </a:r>
          </a:p>
        </p:txBody>
      </p:sp>
      <p:sp>
        <p:nvSpPr>
          <p:cNvPr id="10" name="ending-text-10">
            <a:extLst>
              <a:ext uri="{FF2B5EF4-FFF2-40B4-BE49-F238E27FC236}">
                <a16:creationId xmlns:a16="http://schemas.microsoft.com/office/drawing/2014/main" id="{8B120C8B-9268-4454-AB60-8B3B3C5BF1FD}"/>
              </a:ext>
            </a:extLst>
          </p:cNvPr>
          <p:cNvSpPr>
            <a:spLocks noGrp="1"/>
          </p:cNvSpPr>
          <p:nvPr/>
        </p:nvSpPr>
        <p:spPr>
          <a:xfrm>
            <a:off x="4381500" y="4333875"/>
            <a:ext cx="7200900" cy="857250"/>
          </a:xfrm>
          <a:prstGeom prst="rect">
            <a:avLst/>
          </a:prstGeom>
          <a:noFill/>
          <a:ln w="0">
            <a:noFill/>
            <a:prstDash val="solid"/>
          </a:ln>
        </p:spPr>
        <p:txBody>
          <a:bodyPr wrap="square" lIns="0" tIns="0" rIns="0" bIns="0" anchor="t">
            <a:noAutofit/>
          </a:bodyPr>
          <a:lstStyle>
            <a:defPPr algn="l">
              <a:defRPr sz="2100" b="0">
                <a:solidFill>
                  <a:srgbClr val="15253B"/>
                </a:solidFill>
                <a:latin typeface="DejaVu Sans"/>
                <a:ea typeface="DejaVu Sans"/>
                <a:cs typeface="DejaVu Sans"/>
              </a:defRPr>
            </a:defPPr>
          </a:lstStyle>
          <a:p>
            <a:pPr algn="l">
              <a:buNone/>
              <a:defRPr sz="2100" b="0">
                <a:solidFill>
                  <a:srgbClr val="15253B"/>
                </a:solidFill>
                <a:latin typeface="DejaVu Sans"/>
                <a:ea typeface="DejaVu Sans"/>
                <a:cs typeface="DejaVu Sans"/>
              </a:defRPr>
            </a:pPr>
            <a:r>
              <a:rPr sz="2100" b="0">
                <a:solidFill>
                  <a:srgbClr val="15253B"/>
                </a:solidFill>
                <a:latin typeface="DejaVu Sans"/>
                <a:ea typeface="DejaVu Sans"/>
                <a:cs typeface="DejaVu Sans"/>
              </a:rPr>
              <a:t>Go/WASM mã hóa tại browser. Vault và backup giúp mở lại khóa trên máy mới.</a:t>
            </a:r>
          </a:p>
        </p:txBody>
      </p:sp>
      <p:sp>
        <p:nvSpPr>
          <p:cNvPr id="11" name="ending-text-11">
            <a:extLst>
              <a:ext uri="{FF2B5EF4-FFF2-40B4-BE49-F238E27FC236}">
                <a16:creationId xmlns:a16="http://schemas.microsoft.com/office/drawing/2014/main" id="{CDEFB978-FF07-478A-A347-506420732D5D}"/>
              </a:ext>
            </a:extLst>
          </p:cNvPr>
          <p:cNvSpPr>
            <a:spLocks noGrp="1"/>
          </p:cNvSpPr>
          <p:nvPr/>
        </p:nvSpPr>
        <p:spPr>
          <a:xfrm>
            <a:off x="609600" y="5810250"/>
            <a:ext cx="10972800" cy="409575"/>
          </a:xfrm>
          <a:prstGeom prst="rect">
            <a:avLst/>
          </a:prstGeom>
          <a:noFill/>
          <a:ln w="0">
            <a:noFill/>
            <a:prstDash val="solid"/>
          </a:ln>
        </p:spPr>
        <p:txBody>
          <a:bodyPr wrap="square" lIns="0" tIns="0" rIns="0" bIns="0" anchor="t">
            <a:noAutofit/>
          </a:bodyPr>
          <a:lstStyle>
            <a:defPPr algn="l">
              <a:defRPr sz="2325" b="1">
                <a:solidFill>
                  <a:srgbClr val="007E82"/>
                </a:solidFill>
                <a:latin typeface="DejaVu Sans"/>
                <a:ea typeface="DejaVu Sans"/>
                <a:cs typeface="DejaVu Sans"/>
              </a:defRPr>
            </a:defPPr>
          </a:lstStyle>
          <a:p>
            <a:pPr algn="l">
              <a:buNone/>
              <a:defRPr sz="2325" b="1">
                <a:solidFill>
                  <a:srgbClr val="007E82"/>
                </a:solidFill>
                <a:latin typeface="DejaVu Sans"/>
                <a:ea typeface="DejaVu Sans"/>
                <a:cs typeface="DejaVu Sans"/>
              </a:defRPr>
            </a:pPr>
            <a:r>
              <a:rPr sz="2325" b="1">
                <a:solidFill>
                  <a:srgbClr val="007E82"/>
                </a:solidFill>
                <a:latin typeface="DejaVu Sans"/>
                <a:ea typeface="DejaVu Sans"/>
                <a:cs typeface="DejaVu Sans"/>
              </a:rPr>
              <a:t>Trao đổi và câu hỏi</a:t>
            </a:r>
          </a:p>
        </p:txBody>
      </p:sp>
      <p:sp>
        <p:nvSpPr>
          <p:cNvPr id="12" name="ending-text-12">
            <a:extLst>
              <a:ext uri="{FF2B5EF4-FFF2-40B4-BE49-F238E27FC236}">
                <a16:creationId xmlns:a16="http://schemas.microsoft.com/office/drawing/2014/main" id="{DCEA4A1B-4D01-491C-914B-16F7FBB71BE5}"/>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13" name="closing-page">
            <a:extLst>
              <a:ext uri="{FF2B5EF4-FFF2-40B4-BE49-F238E27FC236}">
                <a16:creationId xmlns:a16="http://schemas.microsoft.com/office/drawing/2014/main" id="{DE0E10F9-0509-481A-B2A9-CE81B38CEF40}"/>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17 / 17</a:t>
            </a:r>
          </a:p>
        </p:txBody>
      </p:sp>
    </p:spTree>
    <p:extLst>
      <p:ext uri="{BB962C8B-B14F-4D97-AF65-F5344CB8AC3E}">
        <p14:creationId xmlns:p14="http://schemas.microsoft.com/office/powerpoint/2010/main" val="1469036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104">
            <a:extLst>
              <a:ext uri="{FF2B5EF4-FFF2-40B4-BE49-F238E27FC236}">
                <a16:creationId xmlns:a16="http://schemas.microsoft.com/office/drawing/2014/main" id="{11CD126F-489B-44B4-B9A6-DA9734058E79}"/>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Phụ lục A. Thành viên theo sequence</a:t>
            </a:r>
          </a:p>
        </p:txBody>
      </p:sp>
      <p:sp>
        <p:nvSpPr>
          <p:cNvPr id="2" name="text-105">
            <a:extLst>
              <a:ext uri="{FF2B5EF4-FFF2-40B4-BE49-F238E27FC236}">
                <a16:creationId xmlns:a16="http://schemas.microsoft.com/office/drawing/2014/main" id="{51780150-948F-48E9-B0A4-EEE404F46881}"/>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Snapshot thành viên phản ánh thời điểm tin được lưu.</a:t>
            </a:r>
          </a:p>
        </p:txBody>
      </p:sp>
      <p:sp>
        <p:nvSpPr>
          <p:cNvPr id="3" name="text-106">
            <a:extLst>
              <a:ext uri="{FF2B5EF4-FFF2-40B4-BE49-F238E27FC236}">
                <a16:creationId xmlns:a16="http://schemas.microsoft.com/office/drawing/2014/main" id="{76FB8BE0-3DFA-4DA6-9F46-49674A62827D}"/>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107">
            <a:extLst>
              <a:ext uri="{FF2B5EF4-FFF2-40B4-BE49-F238E27FC236}">
                <a16:creationId xmlns:a16="http://schemas.microsoft.com/office/drawing/2014/main" id="{643B67C6-7417-464C-AE33-14E954C84B5F}"/>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Phụ lục A</a:t>
            </a:r>
          </a:p>
        </p:txBody>
      </p:sp>
      <p:graphicFrame>
        <p:nvGraphicFramePr>
          <p:cNvPr id="5" name="Table 4">
            <a:extLst>
              <a:ext uri="{FF2B5EF4-FFF2-40B4-BE49-F238E27FC236}">
                <a16:creationId xmlns:a16="http://schemas.microsoft.com/office/drawing/2014/main" id="{49ECCB61-F256-4C5B-B78F-1054DC1D434B}"/>
              </a:ext>
            </a:extLst>
          </p:cNvPr>
          <p:cNvGraphicFramePr/>
          <p:nvPr/>
        </p:nvGraphicFramePr>
        <p:xfrm>
          <a:off x="609600" y="2019300"/>
          <a:ext cx="10972800" cy="3048000"/>
        </p:xfrm>
        <a:graphic>
          <a:graphicData uri="http://schemas.openxmlformats.org/drawingml/2006/table">
            <a:tbl>
              <a:tblPr/>
              <a:tblGrid>
                <a:gridCol w="1333500">
                  <a:extLst>
                    <a:ext uri="{9D8B030D-6E8A-4147-A177-3AD203B41FA5}">
                      <a16:colId xmlns:a16="http://schemas.microsoft.com/office/drawing/2014/main" val="20000"/>
                    </a:ext>
                  </a:extLst>
                </a:gridCol>
                <a:gridCol w="649605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514350">
                <a:tc>
                  <a:txBody>
                    <a:bodyPr/>
                    <a:lstStyle/>
                    <a:p>
                      <a:r>
                        <a:rPr sz="1950" b="1">
                          <a:solidFill>
                            <a:srgbClr val="FFFFFF"/>
                          </a:solidFill>
                          <a:latin typeface="DejaVu Sans"/>
                          <a:ea typeface="DejaVu Sans"/>
                          <a:cs typeface="DejaVu Sans"/>
                        </a:rPr>
                        <a:t>seq</a:t>
                      </a:r>
                    </a:p>
                  </a:txBody>
                  <a:tcPr marL="152400" marR="152400" marT="114300" marB="95250">
                    <a:lnL w="6668">
                      <a:solidFill>
                        <a:srgbClr val="C7D5DF"/>
                      </a:solidFill>
                      <a:prstDash val="soli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950" b="1">
                          <a:solidFill>
                            <a:srgbClr val="FFFFFF"/>
                          </a:solidFill>
                          <a:latin typeface="DejaVu Sans"/>
                          <a:ea typeface="DejaVu Sans"/>
                          <a:cs typeface="DejaVu Sans"/>
                        </a:rPr>
                        <a:t>Sự kiện</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tc>
                  <a:txBody>
                    <a:bodyPr/>
                    <a:lstStyle/>
                    <a:p>
                      <a:r>
                        <a:rPr sz="1950" b="1">
                          <a:solidFill>
                            <a:srgbClr val="FFFFFF"/>
                          </a:solidFill>
                          <a:latin typeface="DejaVu Sans"/>
                          <a:ea typeface="DejaVu Sans"/>
                          <a:cs typeface="DejaVu Sans"/>
                        </a:rPr>
                        <a:t>Recipient</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a:solidFill>
                        <a:srgbClr val="C7D5DF"/>
                      </a:solidFill>
                      <a:prstDash val="solid"/>
                    </a:lnT>
                    <a:lnB w="6668">
                      <a:solidFill>
                        <a:srgbClr val="C7D5DF"/>
                      </a:solidFill>
                      <a:prstDash val="solid"/>
                    </a:lnB>
                    <a:solidFill>
                      <a:srgbClr val="102238"/>
                    </a:solidFill>
                  </a:tcPr>
                </a:tc>
                <a:extLst>
                  <a:ext uri="{0D108BD9-81ED-4DB2-BD59-A6C34878D82A}">
                    <a16:rowId xmlns:a16="http://schemas.microsoft.com/office/drawing/2014/main" val="10000"/>
                  </a:ext>
                </a:extLst>
              </a:tr>
              <a:tr h="844550">
                <a:tc>
                  <a:txBody>
                    <a:bodyPr/>
                    <a:lstStyle/>
                    <a:p>
                      <a:r>
                        <a:rPr sz="1950">
                          <a:solidFill>
                            <a:srgbClr val="15253B"/>
                          </a:solidFill>
                          <a:latin typeface="DejaVu Sans"/>
                          <a:ea typeface="DejaVu Sans"/>
                          <a:cs typeface="DejaVu Sans"/>
                        </a:rPr>
                        <a:t>7</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950">
                          <a:solidFill>
                            <a:srgbClr val="15253B"/>
                          </a:solidFill>
                          <a:latin typeface="DejaVu Sans"/>
                          <a:ea typeface="DejaVu Sans"/>
                          <a:cs typeface="DejaVu Sans"/>
                        </a:rPr>
                        <a:t>A gửi “Chào nhóm”</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950">
                          <a:solidFill>
                            <a:srgbClr val="15253B"/>
                          </a:solidFill>
                          <a:latin typeface="DejaVu Sans"/>
                          <a:ea typeface="DejaVu Sans"/>
                          <a:cs typeface="DejaVu Sans"/>
                        </a:rPr>
                        <a:t>A, B, C</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1"/>
                  </a:ext>
                </a:extLst>
              </a:tr>
              <a:tr h="844550">
                <a:tc>
                  <a:txBody>
                    <a:bodyPr/>
                    <a:lstStyle/>
                    <a:p>
                      <a:r>
                        <a:rPr sz="1950">
                          <a:solidFill>
                            <a:srgbClr val="15253B"/>
                          </a:solidFill>
                          <a:latin typeface="DejaVu Sans"/>
                          <a:ea typeface="DejaVu Sans"/>
                          <a:cs typeface="DejaVu Sans"/>
                        </a:rPr>
                        <a:t>8</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950">
                          <a:solidFill>
                            <a:srgbClr val="15253B"/>
                          </a:solidFill>
                          <a:latin typeface="DejaVu Sans"/>
                          <a:ea typeface="DejaVu Sans"/>
                          <a:cs typeface="DejaVu Sans"/>
                        </a:rPr>
                        <a:t>C rời nhóm, tạo system message</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950">
                          <a:solidFill>
                            <a:srgbClr val="15253B"/>
                          </a:solidFill>
                          <a:latin typeface="DejaVu Sans"/>
                          <a:ea typeface="DejaVu Sans"/>
                          <a:cs typeface="DejaVu Sans"/>
                        </a:rPr>
                        <a:t>A, B, C</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2"/>
                  </a:ext>
                </a:extLst>
              </a:tr>
              <a:tr h="844550">
                <a:tc>
                  <a:txBody>
                    <a:bodyPr/>
                    <a:lstStyle/>
                    <a:p>
                      <a:r>
                        <a:rPr sz="1950">
                          <a:solidFill>
                            <a:srgbClr val="15253B"/>
                          </a:solidFill>
                          <a:latin typeface="DejaVu Sans"/>
                          <a:ea typeface="DejaVu Sans"/>
                          <a:cs typeface="DejaVu Sans"/>
                        </a:rPr>
                        <a:t>9</a:t>
                      </a:r>
                    </a:p>
                  </a:txBody>
                  <a:tcPr marL="152400" marR="152400" marT="114300" marB="95250">
                    <a:lnL w="6668">
                      <a:solidFill>
                        <a:srgbClr val="C7D5DF"/>
                      </a:solidFill>
                      <a:prstDash val="soli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950">
                          <a:solidFill>
                            <a:srgbClr val="15253B"/>
                          </a:solidFill>
                          <a:latin typeface="DejaVu Sans"/>
                          <a:ea typeface="DejaVu Sans"/>
                          <a:cs typeface="DejaVu Sans"/>
                        </a:rPr>
                        <a:t>A gửi tin tiếp theo</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tc>
                  <a:txBody>
                    <a:bodyPr/>
                    <a:lstStyle/>
                    <a:p>
                      <a:r>
                        <a:rPr sz="1950">
                          <a:solidFill>
                            <a:srgbClr val="15253B"/>
                          </a:solidFill>
                          <a:latin typeface="DejaVu Sans"/>
                          <a:ea typeface="DejaVu Sans"/>
                          <a:cs typeface="DejaVu Sans"/>
                        </a:rPr>
                        <a:t>A, B</a:t>
                      </a:r>
                    </a:p>
                  </a:txBody>
                  <a:tcPr marL="152400" marR="152400" marT="114300" marB="95250">
                    <a:lnL w="6668" cap="flat" cmpd="sng" algn="ctr">
                      <a:solidFill>
                        <a:srgbClr val="C7D5DF"/>
                      </a:solidFill>
                      <a:prstDash val="solid"/>
                      <a:round/>
                      <a:headEnd type="none" w="med" len="med"/>
                      <a:tailEnd type="none" w="med" len="med"/>
                    </a:lnL>
                    <a:lnR w="6668">
                      <a:solidFill>
                        <a:srgbClr val="C7D5DF"/>
                      </a:solidFill>
                      <a:prstDash val="solid"/>
                    </a:lnR>
                    <a:lnT w="6668" cap="flat" cmpd="sng" algn="ctr">
                      <a:solidFill>
                        <a:srgbClr val="C7D5DF"/>
                      </a:solidFill>
                      <a:prstDash val="solid"/>
                      <a:round/>
                      <a:headEnd type="none" w="med" len="med"/>
                      <a:tailEnd type="none" w="med" len="med"/>
                    </a:lnT>
                    <a:lnB w="6668">
                      <a:solidFill>
                        <a:srgbClr val="C7D5D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text-108">
            <a:extLst>
              <a:ext uri="{FF2B5EF4-FFF2-40B4-BE49-F238E27FC236}">
                <a16:creationId xmlns:a16="http://schemas.microsoft.com/office/drawing/2014/main" id="{D2FA2DDF-E3C5-45C4-8DB2-7784E1A3C8DB}"/>
              </a:ext>
            </a:extLst>
          </p:cNvPr>
          <p:cNvSpPr>
            <a:spLocks noGrp="1"/>
          </p:cNvSpPr>
          <p:nvPr/>
        </p:nvSpPr>
        <p:spPr>
          <a:xfrm>
            <a:off x="609600" y="5362575"/>
            <a:ext cx="10972800" cy="447675"/>
          </a:xfrm>
          <a:prstGeom prst="rect">
            <a:avLst/>
          </a:prstGeom>
          <a:noFill/>
          <a:ln w="0">
            <a:noFill/>
            <a:prstDash val="solid"/>
          </a:ln>
        </p:spPr>
        <p:txBody>
          <a:bodyPr wrap="square" lIns="0" tIns="0" rIns="0" bIns="0" anchor="t">
            <a:noAutofit/>
          </a:bodyPr>
          <a:lstStyle>
            <a:defPPr algn="l">
              <a:defRPr sz="2250" b="1">
                <a:solidFill>
                  <a:srgbClr val="007E82"/>
                </a:solidFill>
                <a:latin typeface="DejaVu Sans"/>
                <a:ea typeface="DejaVu Sans"/>
                <a:cs typeface="DejaVu Sans"/>
              </a:defRPr>
            </a:defPPr>
          </a:lstStyle>
          <a:p>
            <a:pPr algn="l">
              <a:buNone/>
              <a:defRPr sz="2250" b="1">
                <a:solidFill>
                  <a:srgbClr val="007E82"/>
                </a:solidFill>
                <a:latin typeface="DejaVu Sans"/>
                <a:ea typeface="DejaVu Sans"/>
                <a:cs typeface="DejaVu Sans"/>
              </a:defRPr>
            </a:pPr>
            <a:r>
              <a:rPr sz="2250" b="1">
                <a:solidFill>
                  <a:srgbClr val="007E82"/>
                </a:solidFill>
                <a:latin typeface="DejaVu Sans"/>
                <a:ea typeface="DejaVu Sans"/>
                <a:cs typeface="DejaVu Sans"/>
              </a:rPr>
              <a:t>Cache theo thread và mốc thay đổi thành viên</a:t>
            </a:r>
          </a:p>
        </p:txBody>
      </p:sp>
      <p:sp>
        <p:nvSpPr>
          <p:cNvPr id="7" name="text-109">
            <a:extLst>
              <a:ext uri="{FF2B5EF4-FFF2-40B4-BE49-F238E27FC236}">
                <a16:creationId xmlns:a16="http://schemas.microsoft.com/office/drawing/2014/main" id="{C0416DF9-419A-4AC2-BB7D-7CD3B2DB07F8}"/>
              </a:ext>
            </a:extLst>
          </p:cNvPr>
          <p:cNvSpPr>
            <a:spLocks noGrp="1"/>
          </p:cNvSpPr>
          <p:nvPr/>
        </p:nvSpPr>
        <p:spPr>
          <a:xfrm>
            <a:off x="609600" y="5829300"/>
            <a:ext cx="10972800" cy="514350"/>
          </a:xfrm>
          <a:prstGeom prst="rect">
            <a:avLst/>
          </a:prstGeom>
          <a:noFill/>
          <a:ln w="0">
            <a:noFill/>
            <a:prstDash val="solid"/>
          </a:ln>
        </p:spPr>
        <p:txBody>
          <a:bodyPr wrap="square" lIns="0" tIns="0" rIns="0" bIns="0" anchor="t">
            <a:noAutofit/>
          </a:bodyPr>
          <a:lstStyle>
            <a:defPPr algn="l">
              <a:defRPr sz="1800" b="0">
                <a:solidFill>
                  <a:srgbClr val="15253B"/>
                </a:solidFill>
                <a:latin typeface="DejaVu Sans"/>
                <a:ea typeface="DejaVu Sans"/>
                <a:cs typeface="DejaVu Sans"/>
              </a:defRPr>
            </a:defPPr>
          </a:lstStyle>
          <a:p>
            <a:pPr algn="l">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TTL 15 phút. Miss hoặc lỗi cache thì đọc snapshot PostgreSQL.</a:t>
            </a:r>
          </a:p>
          <a:p>
            <a:pPr algn="l">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PostgreSQL kiểm tra quyền gửi và khoảng lịch sử được đọc.</a:t>
            </a:r>
          </a:p>
        </p:txBody>
      </p:sp>
    </p:spTree>
    <p:extLst>
      <p:ext uri="{BB962C8B-B14F-4D97-AF65-F5344CB8AC3E}">
        <p14:creationId xmlns:p14="http://schemas.microsoft.com/office/powerpoint/2010/main" val="1737762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197">
            <a:extLst>
              <a:ext uri="{FF2B5EF4-FFF2-40B4-BE49-F238E27FC236}">
                <a16:creationId xmlns:a16="http://schemas.microsoft.com/office/drawing/2014/main" id="{5CA0A90B-CE8B-43D2-9AE9-46640450A102}"/>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Phụ lục B. Read marker và unread</a:t>
            </a:r>
          </a:p>
        </p:txBody>
      </p:sp>
      <p:sp>
        <p:nvSpPr>
          <p:cNvPr id="2" name="text-198">
            <a:extLst>
              <a:ext uri="{FF2B5EF4-FFF2-40B4-BE49-F238E27FC236}">
                <a16:creationId xmlns:a16="http://schemas.microsoft.com/office/drawing/2014/main" id="{928B062D-D61E-4815-A198-8BD8550FFFB6}"/>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Marker chỉ tăng trong lần tham gia active.</a:t>
            </a:r>
          </a:p>
        </p:txBody>
      </p:sp>
      <p:sp>
        <p:nvSpPr>
          <p:cNvPr id="3" name="text-199">
            <a:extLst>
              <a:ext uri="{FF2B5EF4-FFF2-40B4-BE49-F238E27FC236}">
                <a16:creationId xmlns:a16="http://schemas.microsoft.com/office/drawing/2014/main" id="{B393755E-1A2A-4494-8330-6533E8219895}"/>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200">
            <a:extLst>
              <a:ext uri="{FF2B5EF4-FFF2-40B4-BE49-F238E27FC236}">
                <a16:creationId xmlns:a16="http://schemas.microsoft.com/office/drawing/2014/main" id="{4DDD252D-B527-4F41-9AB8-C73ADDB3F629}"/>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Phụ lục B</a:t>
            </a:r>
          </a:p>
        </p:txBody>
      </p:sp>
      <p:sp>
        <p:nvSpPr>
          <p:cNvPr id="5" name="diagram-node-201">
            <a:extLst>
              <a:ext uri="{FF2B5EF4-FFF2-40B4-BE49-F238E27FC236}">
                <a16:creationId xmlns:a16="http://schemas.microsoft.com/office/drawing/2014/main" id="{8C5FF56E-2A75-47FD-9CAF-440D3D1AB6E9}"/>
              </a:ext>
            </a:extLst>
          </p:cNvPr>
          <p:cNvSpPr>
            <a:spLocks noGrp="1"/>
          </p:cNvSpPr>
          <p:nvPr/>
        </p:nvSpPr>
        <p:spPr>
          <a:xfrm>
            <a:off x="609600" y="2257425"/>
            <a:ext cx="2390775" cy="1171575"/>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Tab B</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Đã render tin</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Đang hiển thị, cuối chat</a:t>
            </a:r>
          </a:p>
        </p:txBody>
      </p:sp>
      <p:sp>
        <p:nvSpPr>
          <p:cNvPr id="6" name="diagram-node-202">
            <a:extLst>
              <a:ext uri="{FF2B5EF4-FFF2-40B4-BE49-F238E27FC236}">
                <a16:creationId xmlns:a16="http://schemas.microsoft.com/office/drawing/2014/main" id="{C71C1B17-386C-4A4D-AD04-EEADD671FBBF}"/>
              </a:ext>
            </a:extLst>
          </p:cNvPr>
          <p:cNvSpPr>
            <a:spLocks noGrp="1"/>
          </p:cNvSpPr>
          <p:nvPr/>
        </p:nvSpPr>
        <p:spPr>
          <a:xfrm>
            <a:off x="3762375" y="2257425"/>
            <a:ext cx="2390775" cy="1171575"/>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API / PostgreSQL</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GREATEST marker</a:t>
            </a:r>
            <a:br>
              <a:rPr sz="1800" b="0">
                <a:solidFill>
                  <a:srgbClr val="15253B"/>
                </a:solidFill>
                <a:latin typeface="DejaVu Sans"/>
                <a:ea typeface="DejaVu Sans"/>
                <a:cs typeface="DejaVu Sans"/>
              </a:rPr>
            </a:br>
            <a:r>
              <a:rPr sz="1800" b="0">
                <a:solidFill>
                  <a:srgbClr val="15253B"/>
                </a:solidFill>
                <a:latin typeface="DejaVu Sans"/>
                <a:ea typeface="DejaVu Sans"/>
                <a:cs typeface="DejaVu Sans"/>
              </a:rPr>
              <a:t>Commit</a:t>
            </a:r>
          </a:p>
        </p:txBody>
      </p:sp>
      <p:sp>
        <p:nvSpPr>
          <p:cNvPr id="7" name="diagram-node-203">
            <a:extLst>
              <a:ext uri="{FF2B5EF4-FFF2-40B4-BE49-F238E27FC236}">
                <a16:creationId xmlns:a16="http://schemas.microsoft.com/office/drawing/2014/main" id="{889D9B56-7AC2-4D2C-B084-0F33775AD1A8}"/>
              </a:ext>
            </a:extLst>
          </p:cNvPr>
          <p:cNvSpPr>
            <a:spLocks noGrp="1"/>
          </p:cNvSpPr>
          <p:nvPr/>
        </p:nvSpPr>
        <p:spPr>
          <a:xfrm>
            <a:off x="6915150" y="2257425"/>
            <a:ext cx="2390775" cy="117157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Redis / gateway</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thread.updated</a:t>
            </a:r>
          </a:p>
        </p:txBody>
      </p:sp>
      <p:sp>
        <p:nvSpPr>
          <p:cNvPr id="8" name="diagram-node-204">
            <a:extLst>
              <a:ext uri="{FF2B5EF4-FFF2-40B4-BE49-F238E27FC236}">
                <a16:creationId xmlns:a16="http://schemas.microsoft.com/office/drawing/2014/main" id="{0089EDA7-A305-4F6A-A247-DC5544C3AC6A}"/>
              </a:ext>
            </a:extLst>
          </p:cNvPr>
          <p:cNvSpPr>
            <a:spLocks noGrp="1"/>
          </p:cNvSpPr>
          <p:nvPr/>
        </p:nvSpPr>
        <p:spPr>
          <a:xfrm>
            <a:off x="10067925" y="2257425"/>
            <a:ext cx="1514475" cy="117157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650" b="0">
                <a:solidFill>
                  <a:srgbClr val="15253B"/>
                </a:solidFill>
                <a:latin typeface="DejaVu Sans"/>
                <a:ea typeface="DejaVu Sans"/>
                <a:cs typeface="DejaVu Sans"/>
              </a:defRPr>
            </a:defPPr>
          </a:lstStyle>
          <a:p>
            <a:pPr algn="ctr">
              <a:buNone/>
              <a:defRPr sz="1650" b="0">
                <a:solidFill>
                  <a:srgbClr val="15253B"/>
                </a:solidFill>
                <a:latin typeface="DejaVu Sans"/>
                <a:ea typeface="DejaVu Sans"/>
                <a:cs typeface="DejaVu Sans"/>
              </a:defRPr>
            </a:pPr>
            <a:r>
              <a:rPr sz="1650" b="0">
                <a:solidFill>
                  <a:srgbClr val="15253B"/>
                </a:solidFill>
                <a:latin typeface="DejaVu Sans"/>
                <a:ea typeface="DejaVu Sans"/>
                <a:cs typeface="DejaVu Sans"/>
              </a:rPr>
              <a:t>Các tab</a:t>
            </a:r>
          </a:p>
          <a:p>
            <a:pPr algn="ctr">
              <a:buNone/>
              <a:defRPr sz="1650" b="0">
                <a:solidFill>
                  <a:srgbClr val="15253B"/>
                </a:solidFill>
                <a:latin typeface="DejaVu Sans"/>
                <a:ea typeface="DejaVu Sans"/>
                <a:cs typeface="DejaVu Sans"/>
              </a:defRPr>
            </a:pPr>
            <a:r>
              <a:rPr sz="1650" b="0">
                <a:solidFill>
                  <a:srgbClr val="15253B"/>
                </a:solidFill>
                <a:latin typeface="DejaVu Sans"/>
                <a:ea typeface="DejaVu Sans"/>
                <a:cs typeface="DejaVu Sans"/>
              </a:rPr>
              <a:t>Tải lại summary</a:t>
            </a:r>
          </a:p>
        </p:txBody>
      </p:sp>
      <p:cxnSp>
        <p:nvCxnSpPr>
          <p:cNvPr id="9" name="diagram-line-205">
            <a:extLst>
              <a:ext uri="{FF2B5EF4-FFF2-40B4-BE49-F238E27FC236}">
                <a16:creationId xmlns:a16="http://schemas.microsoft.com/office/drawing/2014/main" id="{E6E97AA5-B62C-42AE-90D3-B77BB56C43CD}"/>
              </a:ext>
            </a:extLst>
          </p:cNvPr>
          <p:cNvCxnSpPr/>
          <p:nvPr/>
        </p:nvCxnSpPr>
        <p:spPr>
          <a:xfrm>
            <a:off x="3000375" y="2838450"/>
            <a:ext cx="762000" cy="95"/>
          </a:xfrm>
          <a:prstGeom prst="straightConnector1">
            <a:avLst/>
          </a:prstGeom>
          <a:ln w="20955">
            <a:solidFill>
              <a:srgbClr val="176A9C"/>
            </a:solidFill>
            <a:prstDash val="solid"/>
            <a:tailEnd type="triangle" w="med" len="med"/>
          </a:ln>
        </p:spPr>
      </p:cxnSp>
      <p:cxnSp>
        <p:nvCxnSpPr>
          <p:cNvPr id="10" name="diagram-line-206">
            <a:extLst>
              <a:ext uri="{FF2B5EF4-FFF2-40B4-BE49-F238E27FC236}">
                <a16:creationId xmlns:a16="http://schemas.microsoft.com/office/drawing/2014/main" id="{59DBAAFF-E421-46F1-8C31-0FA1F21B9659}"/>
              </a:ext>
            </a:extLst>
          </p:cNvPr>
          <p:cNvCxnSpPr/>
          <p:nvPr/>
        </p:nvCxnSpPr>
        <p:spPr>
          <a:xfrm>
            <a:off x="6153150" y="2838450"/>
            <a:ext cx="762000" cy="95"/>
          </a:xfrm>
          <a:prstGeom prst="straightConnector1">
            <a:avLst/>
          </a:prstGeom>
          <a:ln w="20955">
            <a:solidFill>
              <a:srgbClr val="176A9C"/>
            </a:solidFill>
            <a:prstDash val="solid"/>
            <a:tailEnd type="triangle" w="med" len="med"/>
          </a:ln>
        </p:spPr>
      </p:cxnSp>
      <p:cxnSp>
        <p:nvCxnSpPr>
          <p:cNvPr id="11" name="diagram-line-207">
            <a:extLst>
              <a:ext uri="{FF2B5EF4-FFF2-40B4-BE49-F238E27FC236}">
                <a16:creationId xmlns:a16="http://schemas.microsoft.com/office/drawing/2014/main" id="{52203EAC-67B6-41FA-A7F7-99BD6FB2974B}"/>
              </a:ext>
            </a:extLst>
          </p:cNvPr>
          <p:cNvCxnSpPr/>
          <p:nvPr/>
        </p:nvCxnSpPr>
        <p:spPr>
          <a:xfrm>
            <a:off x="9305925" y="2838450"/>
            <a:ext cx="762000" cy="95"/>
          </a:xfrm>
          <a:prstGeom prst="straightConnector1">
            <a:avLst/>
          </a:prstGeom>
          <a:ln w="20955">
            <a:solidFill>
              <a:srgbClr val="176A9C"/>
            </a:solidFill>
            <a:prstDash val="solid"/>
            <a:tailEnd type="triangle" w="med" len="med"/>
          </a:ln>
        </p:spPr>
      </p:cxnSp>
      <p:sp>
        <p:nvSpPr>
          <p:cNvPr id="12" name="text-208">
            <a:extLst>
              <a:ext uri="{FF2B5EF4-FFF2-40B4-BE49-F238E27FC236}">
                <a16:creationId xmlns:a16="http://schemas.microsoft.com/office/drawing/2014/main" id="{1CDE3B89-61BB-4D2E-8930-89339D840EF7}"/>
              </a:ext>
            </a:extLst>
          </p:cNvPr>
          <p:cNvSpPr>
            <a:spLocks noGrp="1"/>
          </p:cNvSpPr>
          <p:nvPr/>
        </p:nvSpPr>
        <p:spPr>
          <a:xfrm>
            <a:off x="609600" y="4029075"/>
            <a:ext cx="10972800" cy="466725"/>
          </a:xfrm>
          <a:prstGeom prst="rect">
            <a:avLst/>
          </a:prstGeom>
          <a:noFill/>
          <a:ln w="0">
            <a:noFill/>
            <a:prstDash val="solid"/>
          </a:ln>
        </p:spPr>
        <p:txBody>
          <a:bodyPr wrap="square" lIns="0" tIns="0" rIns="0" bIns="0" anchor="t">
            <a:noAutofit/>
          </a:bodyPr>
          <a:lstStyle>
            <a:defPPr algn="l">
              <a:defRPr sz="2400" b="1">
                <a:solidFill>
                  <a:srgbClr val="007E82"/>
                </a:solidFill>
                <a:latin typeface="DejaVu Sans"/>
                <a:ea typeface="DejaVu Sans"/>
                <a:cs typeface="DejaVu Sans"/>
              </a:defRPr>
            </a:defPPr>
          </a:lstStyle>
          <a:p>
            <a:pPr algn="l">
              <a:buNone/>
              <a:defRPr sz="2400" b="1">
                <a:solidFill>
                  <a:srgbClr val="007E82"/>
                </a:solidFill>
                <a:latin typeface="DejaVu Sans"/>
                <a:ea typeface="DejaVu Sans"/>
                <a:cs typeface="DejaVu Sans"/>
              </a:defRPr>
            </a:pPr>
            <a:r>
              <a:rPr sz="2400" b="1">
                <a:solidFill>
                  <a:srgbClr val="007E82"/>
                </a:solidFill>
                <a:latin typeface="DejaVu Sans"/>
                <a:ea typeface="DejaVu Sans"/>
                <a:cs typeface="DejaVu Sans"/>
              </a:rPr>
              <a:t>Unread do server COUNT</a:t>
            </a:r>
          </a:p>
        </p:txBody>
      </p:sp>
      <p:sp>
        <p:nvSpPr>
          <p:cNvPr id="13" name="text-209">
            <a:extLst>
              <a:ext uri="{FF2B5EF4-FFF2-40B4-BE49-F238E27FC236}">
                <a16:creationId xmlns:a16="http://schemas.microsoft.com/office/drawing/2014/main" id="{492B5E04-C5B3-45C2-A233-E4D959EFE06F}"/>
              </a:ext>
            </a:extLst>
          </p:cNvPr>
          <p:cNvSpPr>
            <a:spLocks noGrp="1"/>
          </p:cNvSpPr>
          <p:nvPr/>
        </p:nvSpPr>
        <p:spPr>
          <a:xfrm>
            <a:off x="609600" y="4648200"/>
            <a:ext cx="10972800" cy="914400"/>
          </a:xfrm>
          <a:prstGeom prst="rect">
            <a:avLst/>
          </a:prstGeom>
          <a:noFill/>
          <a:ln w="0">
            <a:noFill/>
            <a:prstDash val="solid"/>
          </a:ln>
        </p:spPr>
        <p:txBody>
          <a:bodyPr wrap="square" lIns="0" tIns="0" rIns="0" bIns="0" anchor="t">
            <a:noAutofit/>
          </a:bodyPr>
          <a:lstStyle>
            <a:defPPr algn="l">
              <a:defRPr sz="2025" b="0">
                <a:solidFill>
                  <a:srgbClr val="15253B"/>
                </a:solidFill>
                <a:latin typeface="DejaVu Sans"/>
                <a:ea typeface="DejaVu Sans"/>
                <a:cs typeface="DejaVu Sans"/>
              </a:defRPr>
            </a:defPPr>
          </a:lstStyle>
          <a:p>
            <a:pPr algn="l">
              <a:buNone/>
              <a:defRPr sz="2025" b="0">
                <a:solidFill>
                  <a:srgbClr val="15253B"/>
                </a:solidFill>
                <a:latin typeface="DejaVu Sans"/>
                <a:ea typeface="DejaVu Sans"/>
                <a:cs typeface="DejaVu Sans"/>
              </a:defRPr>
            </a:pPr>
            <a:r>
              <a:rPr sz="2025" b="0">
                <a:solidFill>
                  <a:srgbClr val="15253B"/>
                </a:solidFill>
                <a:latin typeface="DejaVu Sans"/>
                <a:ea typeface="DejaVu Sans"/>
                <a:cs typeface="DejaVu Sans"/>
              </a:rPr>
              <a:t>Tin của người khác, sau last_read_seq, thuộc lần tham gia hiện tại.</a:t>
            </a:r>
          </a:p>
          <a:p>
            <a:pPr algn="l">
              <a:buNone/>
              <a:defRPr sz="2025" b="0">
                <a:solidFill>
                  <a:srgbClr val="15253B"/>
                </a:solidFill>
                <a:latin typeface="DejaVu Sans"/>
                <a:ea typeface="DejaVu Sans"/>
                <a:cs typeface="DejaVu Sans"/>
              </a:defRPr>
            </a:pPr>
            <a:r>
              <a:rPr sz="2025" b="0">
                <a:solidFill>
                  <a:srgbClr val="15253B"/>
                </a:solidFill>
                <a:latin typeface="DejaVu Sans"/>
                <a:ea typeface="DejaVu Sans"/>
                <a:cs typeface="DejaVu Sans"/>
              </a:rPr>
              <a:t>Hiệu last_seq và last_read_seq có thể tính sai số tin chưa đọc.</a:t>
            </a:r>
          </a:p>
        </p:txBody>
      </p:sp>
      <p:sp>
        <p:nvSpPr>
          <p:cNvPr id="14" name="text-210">
            <a:extLst>
              <a:ext uri="{FF2B5EF4-FFF2-40B4-BE49-F238E27FC236}">
                <a16:creationId xmlns:a16="http://schemas.microsoft.com/office/drawing/2014/main" id="{B2FBFF75-2427-4AF1-B3CE-B4E45DE819E5}"/>
              </a:ext>
            </a:extLst>
          </p:cNvPr>
          <p:cNvSpPr>
            <a:spLocks noGrp="1"/>
          </p:cNvSpPr>
          <p:nvPr/>
        </p:nvSpPr>
        <p:spPr>
          <a:xfrm>
            <a:off x="609600" y="5781675"/>
            <a:ext cx="10972800" cy="590550"/>
          </a:xfrm>
          <a:prstGeom prst="rect">
            <a:avLst/>
          </a:prstGeom>
          <a:noFill/>
          <a:ln w="0">
            <a:noFill/>
            <a:prstDash val="solid"/>
          </a:ln>
        </p:spPr>
        <p:txBody>
          <a:bodyPr wrap="square" lIns="0" tIns="0" rIns="0" bIns="0" anchor="t">
            <a:noAutofit/>
          </a:bodyPr>
          <a:lstStyle>
            <a:defPPr algn="l">
              <a:defRPr sz="1800" b="0">
                <a:solidFill>
                  <a:srgbClr val="516177"/>
                </a:solidFill>
                <a:latin typeface="DejaVu Sans"/>
                <a:ea typeface="DejaVu Sans"/>
                <a:cs typeface="DejaVu Sans"/>
              </a:defRPr>
            </a:defPPr>
          </a:lstStyle>
          <a:p>
            <a:pPr algn="l">
              <a:buNone/>
              <a:defRPr sz="1800" b="0">
                <a:solidFill>
                  <a:srgbClr val="516177"/>
                </a:solidFill>
                <a:latin typeface="DejaVu Sans"/>
                <a:ea typeface="DejaVu Sans"/>
                <a:cs typeface="DejaVu Sans"/>
              </a:defRPr>
            </a:pPr>
            <a:r>
              <a:rPr sz="1800" b="0">
                <a:solidFill>
                  <a:srgbClr val="516177"/>
                </a:solidFill>
                <a:latin typeface="DejaVu Sans"/>
                <a:ea typeface="DejaVu Sans"/>
                <a:cs typeface="DejaVu Sans"/>
              </a:rPr>
              <a:t>Direct thông báo cho B và peer A. Nhóm thông báo cho tài khoản B.</a:t>
            </a:r>
          </a:p>
          <a:p>
            <a:pPr algn="l">
              <a:buNone/>
              <a:defRPr sz="1800" b="0">
                <a:solidFill>
                  <a:srgbClr val="516177"/>
                </a:solidFill>
                <a:latin typeface="DejaVu Sans"/>
                <a:ea typeface="DejaVu Sans"/>
                <a:cs typeface="DejaVu Sans"/>
              </a:defRPr>
            </a:pPr>
            <a:r>
              <a:rPr sz="1800" b="0">
                <a:solidFill>
                  <a:srgbClr val="516177"/>
                </a:solidFill>
                <a:latin typeface="DejaVu Sans"/>
                <a:ea typeface="DejaVu Sans"/>
                <a:cs typeface="DejaVu Sans"/>
              </a:rPr>
              <a:t>Publish thông báo lỗi thì log, marker đã commit vẫn thành công.</a:t>
            </a:r>
          </a:p>
        </p:txBody>
      </p:sp>
    </p:spTree>
    <p:extLst>
      <p:ext uri="{BB962C8B-B14F-4D97-AF65-F5344CB8AC3E}">
        <p14:creationId xmlns:p14="http://schemas.microsoft.com/office/powerpoint/2010/main" val="532746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211">
            <a:extLst>
              <a:ext uri="{FF2B5EF4-FFF2-40B4-BE49-F238E27FC236}">
                <a16:creationId xmlns:a16="http://schemas.microsoft.com/office/drawing/2014/main" id="{74F37DC8-3C2E-40F9-AA93-A1D95E4D7287}"/>
              </a:ext>
            </a:extLst>
          </p:cNvPr>
          <p:cNvSpPr>
            <a:spLocks noGrp="1"/>
          </p:cNvSpPr>
          <p:nvPr/>
        </p:nvSpPr>
        <p:spPr>
          <a:xfrm>
            <a:off x="609600" y="447675"/>
            <a:ext cx="10972800" cy="619125"/>
          </a:xfrm>
          <a:prstGeom prst="rect">
            <a:avLst/>
          </a:prstGeom>
          <a:noFill/>
          <a:ln w="0">
            <a:noFill/>
            <a:prstDash val="solid"/>
          </a:ln>
        </p:spPr>
        <p:txBody>
          <a:bodyPr wrap="square" lIns="0" tIns="0" rIns="0" bIns="0" anchor="t">
            <a:noAutofit/>
          </a:bodyPr>
          <a:lstStyle>
            <a:defPPr algn="l">
              <a:defRPr sz="3300" b="1">
                <a:solidFill>
                  <a:srgbClr val="15253B"/>
                </a:solidFill>
                <a:latin typeface="DejaVu Sans"/>
                <a:ea typeface="DejaVu Sans"/>
                <a:cs typeface="DejaVu Sans"/>
              </a:defRPr>
            </a:defPPr>
          </a:lstStyle>
          <a:p>
            <a:pPr algn="l">
              <a:buNone/>
              <a:defRPr sz="3300" b="1">
                <a:solidFill>
                  <a:srgbClr val="15253B"/>
                </a:solidFill>
                <a:latin typeface="DejaVu Sans"/>
                <a:ea typeface="DejaVu Sans"/>
                <a:cs typeface="DejaVu Sans"/>
              </a:defRPr>
            </a:pPr>
            <a:r>
              <a:rPr sz="3300" b="1">
                <a:solidFill>
                  <a:srgbClr val="15253B"/>
                </a:solidFill>
                <a:latin typeface="DejaVu Sans"/>
                <a:ea typeface="DejaVu Sans"/>
                <a:cs typeface="DejaVu Sans"/>
              </a:rPr>
              <a:t>Phụ lục C. Khi có nhiều gateway</a:t>
            </a:r>
          </a:p>
        </p:txBody>
      </p:sp>
      <p:sp>
        <p:nvSpPr>
          <p:cNvPr id="2" name="text-212">
            <a:extLst>
              <a:ext uri="{FF2B5EF4-FFF2-40B4-BE49-F238E27FC236}">
                <a16:creationId xmlns:a16="http://schemas.microsoft.com/office/drawing/2014/main" id="{5857B444-BC6B-4C6F-8845-C52709B032E4}"/>
              </a:ext>
            </a:extLst>
          </p:cNvPr>
          <p:cNvSpPr>
            <a:spLocks noGrp="1"/>
          </p:cNvSpPr>
          <p:nvPr/>
        </p:nvSpPr>
        <p:spPr>
          <a:xfrm>
            <a:off x="609600" y="1171575"/>
            <a:ext cx="10972800" cy="523875"/>
          </a:xfrm>
          <a:prstGeom prst="rect">
            <a:avLst/>
          </a:prstGeom>
          <a:noFill/>
          <a:ln w="0">
            <a:noFill/>
            <a:prstDash val="solid"/>
          </a:ln>
        </p:spPr>
        <p:txBody>
          <a:bodyPr wrap="square" lIns="0" tIns="0" rIns="0" bIns="0" anchor="t">
            <a:noAutofit/>
          </a:bodyPr>
          <a:lstStyle>
            <a:defPPr algn="l">
              <a:defRPr sz="1875" b="0">
                <a:solidFill>
                  <a:srgbClr val="516177"/>
                </a:solidFill>
                <a:latin typeface="DejaVu Sans"/>
                <a:ea typeface="DejaVu Sans"/>
                <a:cs typeface="DejaVu Sans"/>
              </a:defRPr>
            </a:defPPr>
          </a:lstStyle>
          <a:p>
            <a:pPr algn="l">
              <a:buNone/>
              <a:defRPr sz="1875" b="0">
                <a:solidFill>
                  <a:srgbClr val="516177"/>
                </a:solidFill>
                <a:latin typeface="DejaVu Sans"/>
                <a:ea typeface="DejaVu Sans"/>
                <a:cs typeface="DejaVu Sans"/>
              </a:defRPr>
            </a:pPr>
            <a:r>
              <a:rPr sz="1875" b="0">
                <a:solidFill>
                  <a:srgbClr val="516177"/>
                </a:solidFill>
                <a:latin typeface="DejaVu Sans"/>
                <a:ea typeface="DejaVu Sans"/>
                <a:cs typeface="DejaVu Sans"/>
              </a:rPr>
              <a:t>Phương án mở rộng dưới đây cần triển khai thêm.</a:t>
            </a:r>
          </a:p>
        </p:txBody>
      </p:sp>
      <p:sp>
        <p:nvSpPr>
          <p:cNvPr id="3" name="text-213">
            <a:extLst>
              <a:ext uri="{FF2B5EF4-FFF2-40B4-BE49-F238E27FC236}">
                <a16:creationId xmlns:a16="http://schemas.microsoft.com/office/drawing/2014/main" id="{73258D22-2A62-4C2D-AB80-6E8B635511DC}"/>
              </a:ext>
            </a:extLst>
          </p:cNvPr>
          <p:cNvSpPr>
            <a:spLocks noGrp="1"/>
          </p:cNvSpPr>
          <p:nvPr/>
        </p:nvSpPr>
        <p:spPr>
          <a:xfrm>
            <a:off x="609600" y="6419850"/>
            <a:ext cx="2286000" cy="238125"/>
          </a:xfrm>
          <a:prstGeom prst="rect">
            <a:avLst/>
          </a:prstGeom>
          <a:noFill/>
          <a:ln w="0">
            <a:noFill/>
            <a:prstDash val="solid"/>
          </a:ln>
        </p:spPr>
        <p:txBody>
          <a:bodyPr wrap="square" lIns="0" tIns="0" rIns="0" bIns="0" anchor="t">
            <a:noAutofit/>
          </a:bodyPr>
          <a:lstStyle>
            <a:defPPr algn="l">
              <a:defRPr sz="1200" b="0">
                <a:solidFill>
                  <a:srgbClr val="516177"/>
                </a:solidFill>
                <a:latin typeface="DejaVu Sans"/>
                <a:ea typeface="DejaVu Sans"/>
                <a:cs typeface="DejaVu Sans"/>
              </a:defRPr>
            </a:defPPr>
          </a:lstStyle>
          <a:p>
            <a:pPr algn="l">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Mini-Hermes</a:t>
            </a:r>
          </a:p>
        </p:txBody>
      </p:sp>
      <p:sp>
        <p:nvSpPr>
          <p:cNvPr id="4" name="text-214">
            <a:extLst>
              <a:ext uri="{FF2B5EF4-FFF2-40B4-BE49-F238E27FC236}">
                <a16:creationId xmlns:a16="http://schemas.microsoft.com/office/drawing/2014/main" id="{F990CC91-B132-4D37-A77E-CD95E005FCFD}"/>
              </a:ext>
            </a:extLst>
          </p:cNvPr>
          <p:cNvSpPr>
            <a:spLocks noGrp="1"/>
          </p:cNvSpPr>
          <p:nvPr/>
        </p:nvSpPr>
        <p:spPr>
          <a:xfrm>
            <a:off x="10077450" y="6419850"/>
            <a:ext cx="1504950" cy="238125"/>
          </a:xfrm>
          <a:prstGeom prst="rect">
            <a:avLst/>
          </a:prstGeom>
          <a:noFill/>
          <a:ln w="0">
            <a:noFill/>
            <a:prstDash val="solid"/>
          </a:ln>
        </p:spPr>
        <p:txBody>
          <a:bodyPr wrap="square" lIns="0" tIns="0" rIns="0" bIns="0" anchor="t">
            <a:noAutofit/>
          </a:bodyPr>
          <a:lstStyle>
            <a:defPPr algn="r">
              <a:defRPr sz="1200" b="0">
                <a:solidFill>
                  <a:srgbClr val="516177"/>
                </a:solidFill>
                <a:latin typeface="DejaVu Sans"/>
                <a:ea typeface="DejaVu Sans"/>
                <a:cs typeface="DejaVu Sans"/>
              </a:defRPr>
            </a:defPPr>
          </a:lstStyle>
          <a:p>
            <a:pPr algn="r">
              <a:buNone/>
              <a:defRPr sz="1200" b="0">
                <a:solidFill>
                  <a:srgbClr val="516177"/>
                </a:solidFill>
                <a:latin typeface="DejaVu Sans"/>
                <a:ea typeface="DejaVu Sans"/>
                <a:cs typeface="DejaVu Sans"/>
              </a:defRPr>
            </a:pPr>
            <a:r>
              <a:rPr sz="1200" b="0">
                <a:solidFill>
                  <a:srgbClr val="516177"/>
                </a:solidFill>
                <a:latin typeface="DejaVu Sans"/>
                <a:ea typeface="DejaVu Sans"/>
                <a:cs typeface="DejaVu Sans"/>
              </a:rPr>
              <a:t>Phụ lục C</a:t>
            </a:r>
          </a:p>
        </p:txBody>
      </p:sp>
      <p:sp>
        <p:nvSpPr>
          <p:cNvPr id="5" name="text-215">
            <a:extLst>
              <a:ext uri="{FF2B5EF4-FFF2-40B4-BE49-F238E27FC236}">
                <a16:creationId xmlns:a16="http://schemas.microsoft.com/office/drawing/2014/main" id="{92258360-ED78-47A6-815B-62495FBBE7AE}"/>
              </a:ext>
            </a:extLst>
          </p:cNvPr>
          <p:cNvSpPr>
            <a:spLocks noGrp="1"/>
          </p:cNvSpPr>
          <p:nvPr/>
        </p:nvSpPr>
        <p:spPr>
          <a:xfrm>
            <a:off x="609600" y="1952625"/>
            <a:ext cx="5667375" cy="447675"/>
          </a:xfrm>
          <a:prstGeom prst="rect">
            <a:avLst/>
          </a:prstGeom>
          <a:noFill/>
          <a:ln w="0">
            <a:noFill/>
            <a:prstDash val="solid"/>
          </a:ln>
        </p:spPr>
        <p:txBody>
          <a:bodyPr wrap="square" lIns="0" tIns="0" rIns="0" bIns="0" anchor="t">
            <a:noAutofit/>
          </a:bodyPr>
          <a:lstStyle>
            <a:defPPr algn="l">
              <a:defRPr sz="2100" b="1">
                <a:solidFill>
                  <a:srgbClr val="176A9C"/>
                </a:solidFill>
                <a:latin typeface="DejaVu Sans"/>
                <a:ea typeface="DejaVu Sans"/>
                <a:cs typeface="DejaVu Sans"/>
              </a:defRPr>
            </a:defPPr>
          </a:lstStyle>
          <a:p>
            <a:pPr algn="l">
              <a:buNone/>
              <a:defRPr sz="2100" b="1">
                <a:solidFill>
                  <a:srgbClr val="176A9C"/>
                </a:solidFill>
                <a:latin typeface="DejaVu Sans"/>
                <a:ea typeface="DejaVu Sans"/>
                <a:cs typeface="DejaVu Sans"/>
              </a:defRPr>
            </a:pPr>
            <a:r>
              <a:rPr sz="2100" b="1">
                <a:solidFill>
                  <a:srgbClr val="176A9C"/>
                </a:solidFill>
                <a:latin typeface="DejaVu Sans"/>
                <a:ea typeface="DejaVu Sans"/>
                <a:cs typeface="DejaVu Sans"/>
              </a:rPr>
              <a:t>Hai node cùng consumer group</a:t>
            </a:r>
          </a:p>
        </p:txBody>
      </p:sp>
      <p:sp>
        <p:nvSpPr>
          <p:cNvPr id="6" name="text-216">
            <a:extLst>
              <a:ext uri="{FF2B5EF4-FFF2-40B4-BE49-F238E27FC236}">
                <a16:creationId xmlns:a16="http://schemas.microsoft.com/office/drawing/2014/main" id="{18586609-0E26-40F0-90B7-DD936154865F}"/>
              </a:ext>
            </a:extLst>
          </p:cNvPr>
          <p:cNvSpPr>
            <a:spLocks noGrp="1"/>
          </p:cNvSpPr>
          <p:nvPr/>
        </p:nvSpPr>
        <p:spPr>
          <a:xfrm>
            <a:off x="6858000" y="1952625"/>
            <a:ext cx="4724400" cy="657225"/>
          </a:xfrm>
          <a:prstGeom prst="rect">
            <a:avLst/>
          </a:prstGeom>
          <a:noFill/>
          <a:ln w="0">
            <a:noFill/>
            <a:prstDash val="solid"/>
          </a:ln>
        </p:spPr>
        <p:txBody>
          <a:bodyPr wrap="square" lIns="0" tIns="0" rIns="0" bIns="0" anchor="t">
            <a:noAutofit/>
          </a:bodyPr>
          <a:lstStyle>
            <a:defPPr algn="l">
              <a:defRPr sz="2100" b="1">
                <a:solidFill>
                  <a:srgbClr val="007E82"/>
                </a:solidFill>
                <a:latin typeface="DejaVu Sans"/>
                <a:ea typeface="DejaVu Sans"/>
                <a:cs typeface="DejaVu Sans"/>
              </a:defRPr>
            </a:defPPr>
          </a:lstStyle>
          <a:p>
            <a:pPr algn="l">
              <a:buNone/>
              <a:defRPr sz="2100" b="1">
                <a:solidFill>
                  <a:srgbClr val="007E82"/>
                </a:solidFill>
                <a:latin typeface="DejaVu Sans"/>
                <a:ea typeface="DejaVu Sans"/>
                <a:cs typeface="DejaVu Sans"/>
              </a:defRPr>
            </a:pPr>
            <a:r>
              <a:rPr sz="2100" b="1">
                <a:solidFill>
                  <a:srgbClr val="007E82"/>
                </a:solidFill>
                <a:latin typeface="DejaVu Sans"/>
                <a:ea typeface="DejaVu Sans"/>
                <a:cs typeface="DejaVu Sans"/>
              </a:rPr>
              <a:t>Đề xuất: group riêng từng gateway</a:t>
            </a:r>
          </a:p>
        </p:txBody>
      </p:sp>
      <p:sp>
        <p:nvSpPr>
          <p:cNvPr id="7" name="diagram-node-217">
            <a:extLst>
              <a:ext uri="{FF2B5EF4-FFF2-40B4-BE49-F238E27FC236}">
                <a16:creationId xmlns:a16="http://schemas.microsoft.com/office/drawing/2014/main" id="{23FA50DD-8E3C-4613-B2EF-C3AA5B506EE1}"/>
              </a:ext>
            </a:extLst>
          </p:cNvPr>
          <p:cNvSpPr>
            <a:spLocks noGrp="1"/>
          </p:cNvSpPr>
          <p:nvPr/>
        </p:nvSpPr>
        <p:spPr>
          <a:xfrm>
            <a:off x="609600" y="3248025"/>
            <a:ext cx="1971675" cy="88582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800" b="0">
                <a:solidFill>
                  <a:srgbClr val="15253B"/>
                </a:solidFill>
                <a:latin typeface="DejaVu Sans"/>
                <a:ea typeface="DejaVu Sans"/>
                <a:cs typeface="DejaVu Sans"/>
              </a:defRPr>
            </a:defPPr>
          </a:lstStyle>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Stream</a:t>
            </a:r>
          </a:p>
          <a:p>
            <a:pPr algn="ctr">
              <a:buNone/>
              <a:defRPr sz="1800" b="0">
                <a:solidFill>
                  <a:srgbClr val="15253B"/>
                </a:solidFill>
                <a:latin typeface="DejaVu Sans"/>
                <a:ea typeface="DejaVu Sans"/>
                <a:cs typeface="DejaVu Sans"/>
              </a:defRPr>
            </a:pPr>
            <a:r>
              <a:rPr sz="1800" b="0">
                <a:solidFill>
                  <a:srgbClr val="15253B"/>
                </a:solidFill>
                <a:latin typeface="DejaVu Sans"/>
                <a:ea typeface="DejaVu Sans"/>
                <a:cs typeface="DejaVu Sans"/>
              </a:rPr>
              <a:t>Một event</a:t>
            </a:r>
          </a:p>
        </p:txBody>
      </p:sp>
      <p:sp>
        <p:nvSpPr>
          <p:cNvPr id="8" name="diagram-node-218">
            <a:extLst>
              <a:ext uri="{FF2B5EF4-FFF2-40B4-BE49-F238E27FC236}">
                <a16:creationId xmlns:a16="http://schemas.microsoft.com/office/drawing/2014/main" id="{D8C4200A-E8A6-48E6-A0A2-4C21B83A2668}"/>
              </a:ext>
            </a:extLst>
          </p:cNvPr>
          <p:cNvSpPr>
            <a:spLocks noGrp="1"/>
          </p:cNvSpPr>
          <p:nvPr/>
        </p:nvSpPr>
        <p:spPr>
          <a:xfrm>
            <a:off x="4067175" y="2686050"/>
            <a:ext cx="1990725" cy="828675"/>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Gateway 1</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Giữ socket A</a:t>
            </a:r>
          </a:p>
        </p:txBody>
      </p:sp>
      <p:sp>
        <p:nvSpPr>
          <p:cNvPr id="9" name="diagram-node-219">
            <a:extLst>
              <a:ext uri="{FF2B5EF4-FFF2-40B4-BE49-F238E27FC236}">
                <a16:creationId xmlns:a16="http://schemas.microsoft.com/office/drawing/2014/main" id="{FD3823D5-4D65-4FA0-9093-1B21DAB065B5}"/>
              </a:ext>
            </a:extLst>
          </p:cNvPr>
          <p:cNvSpPr>
            <a:spLocks noGrp="1"/>
          </p:cNvSpPr>
          <p:nvPr/>
        </p:nvSpPr>
        <p:spPr>
          <a:xfrm>
            <a:off x="4067175" y="4552950"/>
            <a:ext cx="1990725" cy="828675"/>
          </a:xfrm>
          <a:prstGeom prst="rect">
            <a:avLst/>
          </a:prstGeom>
          <a:solidFill>
            <a:srgbClr val="F1F6FA"/>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Gateway 2</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Giữ socket B</a:t>
            </a:r>
          </a:p>
        </p:txBody>
      </p:sp>
      <p:cxnSp>
        <p:nvCxnSpPr>
          <p:cNvPr id="10" name="diagram-line-220">
            <a:extLst>
              <a:ext uri="{FF2B5EF4-FFF2-40B4-BE49-F238E27FC236}">
                <a16:creationId xmlns:a16="http://schemas.microsoft.com/office/drawing/2014/main" id="{42DBB1E4-002B-47C5-A3FE-8A5BC40BC690}"/>
              </a:ext>
            </a:extLst>
          </p:cNvPr>
          <p:cNvCxnSpPr/>
          <p:nvPr/>
        </p:nvCxnSpPr>
        <p:spPr>
          <a:xfrm>
            <a:off x="2581275" y="3686175"/>
            <a:ext cx="666750" cy="95"/>
          </a:xfrm>
          <a:prstGeom prst="straightConnector1">
            <a:avLst/>
          </a:prstGeom>
          <a:ln w="20955">
            <a:solidFill>
              <a:srgbClr val="176A9C"/>
            </a:solidFill>
            <a:prstDash val="solid"/>
          </a:ln>
        </p:spPr>
      </p:cxnSp>
      <p:cxnSp>
        <p:nvCxnSpPr>
          <p:cNvPr id="11" name="diagram-line-221">
            <a:extLst>
              <a:ext uri="{FF2B5EF4-FFF2-40B4-BE49-F238E27FC236}">
                <a16:creationId xmlns:a16="http://schemas.microsoft.com/office/drawing/2014/main" id="{A74ABE19-D6FB-432D-BB7E-A3989562BB92}"/>
              </a:ext>
            </a:extLst>
          </p:cNvPr>
          <p:cNvCxnSpPr/>
          <p:nvPr/>
        </p:nvCxnSpPr>
        <p:spPr>
          <a:xfrm>
            <a:off x="3248025" y="3095625"/>
            <a:ext cx="95" cy="590550"/>
          </a:xfrm>
          <a:prstGeom prst="straightConnector1">
            <a:avLst/>
          </a:prstGeom>
          <a:ln w="20955">
            <a:solidFill>
              <a:srgbClr val="176A9C"/>
            </a:solidFill>
            <a:prstDash val="solid"/>
          </a:ln>
        </p:spPr>
      </p:cxnSp>
      <p:cxnSp>
        <p:nvCxnSpPr>
          <p:cNvPr id="12" name="diagram-line-222">
            <a:extLst>
              <a:ext uri="{FF2B5EF4-FFF2-40B4-BE49-F238E27FC236}">
                <a16:creationId xmlns:a16="http://schemas.microsoft.com/office/drawing/2014/main" id="{72B89A5B-B0CE-4E6B-BB12-F7EF0471B317}"/>
              </a:ext>
            </a:extLst>
          </p:cNvPr>
          <p:cNvCxnSpPr/>
          <p:nvPr/>
        </p:nvCxnSpPr>
        <p:spPr>
          <a:xfrm>
            <a:off x="3248025" y="3095625"/>
            <a:ext cx="819150" cy="95"/>
          </a:xfrm>
          <a:prstGeom prst="straightConnector1">
            <a:avLst/>
          </a:prstGeom>
          <a:ln w="20955">
            <a:solidFill>
              <a:srgbClr val="176A9C"/>
            </a:solidFill>
            <a:prstDash val="solid"/>
            <a:tailEnd type="triangle" w="med" len="med"/>
          </a:ln>
        </p:spPr>
      </p:cxnSp>
      <p:cxnSp>
        <p:nvCxnSpPr>
          <p:cNvPr id="13" name="diagram-line-223">
            <a:extLst>
              <a:ext uri="{FF2B5EF4-FFF2-40B4-BE49-F238E27FC236}">
                <a16:creationId xmlns:a16="http://schemas.microsoft.com/office/drawing/2014/main" id="{12CF912F-4F74-4693-9A48-510A1AF6D212}"/>
              </a:ext>
            </a:extLst>
          </p:cNvPr>
          <p:cNvCxnSpPr/>
          <p:nvPr/>
        </p:nvCxnSpPr>
        <p:spPr>
          <a:xfrm>
            <a:off x="2581275" y="3686175"/>
            <a:ext cx="666750" cy="95"/>
          </a:xfrm>
          <a:prstGeom prst="straightConnector1">
            <a:avLst/>
          </a:prstGeom>
          <a:ln w="20955">
            <a:solidFill>
              <a:srgbClr val="176A9C"/>
            </a:solidFill>
            <a:prstDash val="dash"/>
          </a:ln>
        </p:spPr>
      </p:cxnSp>
      <p:cxnSp>
        <p:nvCxnSpPr>
          <p:cNvPr id="14" name="diagram-line-224">
            <a:extLst>
              <a:ext uri="{FF2B5EF4-FFF2-40B4-BE49-F238E27FC236}">
                <a16:creationId xmlns:a16="http://schemas.microsoft.com/office/drawing/2014/main" id="{9C51C215-33BE-47FD-AFE0-4F7DD687CD09}"/>
              </a:ext>
            </a:extLst>
          </p:cNvPr>
          <p:cNvCxnSpPr/>
          <p:nvPr/>
        </p:nvCxnSpPr>
        <p:spPr>
          <a:xfrm>
            <a:off x="3248025" y="3686175"/>
            <a:ext cx="95" cy="1276350"/>
          </a:xfrm>
          <a:prstGeom prst="straightConnector1">
            <a:avLst/>
          </a:prstGeom>
          <a:ln w="20955">
            <a:solidFill>
              <a:srgbClr val="176A9C"/>
            </a:solidFill>
            <a:prstDash val="dash"/>
          </a:ln>
        </p:spPr>
      </p:cxnSp>
      <p:cxnSp>
        <p:nvCxnSpPr>
          <p:cNvPr id="15" name="diagram-line-225">
            <a:extLst>
              <a:ext uri="{FF2B5EF4-FFF2-40B4-BE49-F238E27FC236}">
                <a16:creationId xmlns:a16="http://schemas.microsoft.com/office/drawing/2014/main" id="{139F1941-A0DB-49DA-B6F2-0CD6BFA427E9}"/>
              </a:ext>
            </a:extLst>
          </p:cNvPr>
          <p:cNvCxnSpPr/>
          <p:nvPr/>
        </p:nvCxnSpPr>
        <p:spPr>
          <a:xfrm>
            <a:off x="3248025" y="4962525"/>
            <a:ext cx="819150" cy="95"/>
          </a:xfrm>
          <a:prstGeom prst="straightConnector1">
            <a:avLst/>
          </a:prstGeom>
          <a:ln w="20955">
            <a:solidFill>
              <a:srgbClr val="176A9C"/>
            </a:solidFill>
            <a:prstDash val="dash"/>
          </a:ln>
        </p:spPr>
      </p:cxnSp>
      <p:sp>
        <p:nvSpPr>
          <p:cNvPr id="16" name="text-226">
            <a:extLst>
              <a:ext uri="{FF2B5EF4-FFF2-40B4-BE49-F238E27FC236}">
                <a16:creationId xmlns:a16="http://schemas.microsoft.com/office/drawing/2014/main" id="{177D49B3-3AE8-451A-8CAD-F8E36186E646}"/>
              </a:ext>
            </a:extLst>
          </p:cNvPr>
          <p:cNvSpPr>
            <a:spLocks noGrp="1"/>
          </p:cNvSpPr>
          <p:nvPr/>
        </p:nvSpPr>
        <p:spPr>
          <a:xfrm>
            <a:off x="609600" y="4476750"/>
            <a:ext cx="2428875" cy="809625"/>
          </a:xfrm>
          <a:prstGeom prst="rect">
            <a:avLst/>
          </a:prstGeom>
          <a:noFill/>
          <a:ln w="0">
            <a:noFill/>
            <a:prstDash val="solid"/>
          </a:ln>
        </p:spPr>
        <p:txBody>
          <a:bodyPr wrap="square" lIns="0" tIns="0" rIns="0" bIns="0" anchor="t">
            <a:noAutofit/>
          </a:bodyPr>
          <a:lstStyle>
            <a:defPPr algn="l">
              <a:defRPr sz="1725" b="0">
                <a:solidFill>
                  <a:srgbClr val="176A9C"/>
                </a:solidFill>
                <a:latin typeface="DejaVu Sans"/>
                <a:ea typeface="DejaVu Sans"/>
                <a:cs typeface="DejaVu Sans"/>
              </a:defRPr>
            </a:defPPr>
          </a:lstStyle>
          <a:p>
            <a:pPr algn="l">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Một event chỉ tới</a:t>
            </a:r>
          </a:p>
          <a:p>
            <a:pPr algn="l">
              <a:buNone/>
              <a:defRPr sz="1725" b="0">
                <a:solidFill>
                  <a:srgbClr val="176A9C"/>
                </a:solidFill>
                <a:latin typeface="DejaVu Sans"/>
                <a:ea typeface="DejaVu Sans"/>
                <a:cs typeface="DejaVu Sans"/>
              </a:defRPr>
            </a:pPr>
            <a:r>
              <a:rPr sz="1725" b="0">
                <a:solidFill>
                  <a:srgbClr val="176A9C"/>
                </a:solidFill>
                <a:latin typeface="DejaVu Sans"/>
                <a:ea typeface="DejaVu Sans"/>
                <a:cs typeface="DejaVu Sans"/>
              </a:rPr>
              <a:t>một consumer</a:t>
            </a:r>
          </a:p>
        </p:txBody>
      </p:sp>
      <p:sp>
        <p:nvSpPr>
          <p:cNvPr id="17" name="diagram-node-227">
            <a:extLst>
              <a:ext uri="{FF2B5EF4-FFF2-40B4-BE49-F238E27FC236}">
                <a16:creationId xmlns:a16="http://schemas.microsoft.com/office/drawing/2014/main" id="{4B9800C9-5A2B-48A1-A395-F9C8950CF99C}"/>
              </a:ext>
            </a:extLst>
          </p:cNvPr>
          <p:cNvSpPr>
            <a:spLocks noGrp="1"/>
          </p:cNvSpPr>
          <p:nvPr/>
        </p:nvSpPr>
        <p:spPr>
          <a:xfrm>
            <a:off x="6858000" y="3248025"/>
            <a:ext cx="1752600" cy="885825"/>
          </a:xfrm>
          <a:prstGeom prst="rect">
            <a:avLst/>
          </a:prstGeom>
          <a:solidFill>
            <a:srgbClr val="FFFFFF"/>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Stream</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Cùng event</a:t>
            </a:r>
          </a:p>
        </p:txBody>
      </p:sp>
      <p:sp>
        <p:nvSpPr>
          <p:cNvPr id="18" name="diagram-node-228">
            <a:extLst>
              <a:ext uri="{FF2B5EF4-FFF2-40B4-BE49-F238E27FC236}">
                <a16:creationId xmlns:a16="http://schemas.microsoft.com/office/drawing/2014/main" id="{1929CCE7-B885-4325-BE63-8433E043917B}"/>
              </a:ext>
            </a:extLst>
          </p:cNvPr>
          <p:cNvSpPr>
            <a:spLocks noGrp="1"/>
          </p:cNvSpPr>
          <p:nvPr/>
        </p:nvSpPr>
        <p:spPr>
          <a:xfrm>
            <a:off x="9744075" y="2686050"/>
            <a:ext cx="1838325" cy="1076325"/>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Gateway 1</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Group g1</a:t>
            </a:r>
            <a:br>
              <a:rPr sz="1725" b="0">
                <a:solidFill>
                  <a:srgbClr val="15253B"/>
                </a:solidFill>
                <a:latin typeface="DejaVu Sans"/>
                <a:ea typeface="DejaVu Sans"/>
                <a:cs typeface="DejaVu Sans"/>
              </a:rPr>
            </a:br>
            <a:r>
              <a:rPr sz="1725" b="0">
                <a:solidFill>
                  <a:srgbClr val="15253B"/>
                </a:solidFill>
                <a:latin typeface="DejaVu Sans"/>
                <a:ea typeface="DejaVu Sans"/>
                <a:cs typeface="DejaVu Sans"/>
              </a:rPr>
              <a:t>Socket A</a:t>
            </a:r>
          </a:p>
        </p:txBody>
      </p:sp>
      <p:sp>
        <p:nvSpPr>
          <p:cNvPr id="19" name="diagram-node-229">
            <a:extLst>
              <a:ext uri="{FF2B5EF4-FFF2-40B4-BE49-F238E27FC236}">
                <a16:creationId xmlns:a16="http://schemas.microsoft.com/office/drawing/2014/main" id="{3CEACAA9-BAAF-46FE-A19B-5CE9622EB3C8}"/>
              </a:ext>
            </a:extLst>
          </p:cNvPr>
          <p:cNvSpPr>
            <a:spLocks noGrp="1"/>
          </p:cNvSpPr>
          <p:nvPr/>
        </p:nvSpPr>
        <p:spPr>
          <a:xfrm>
            <a:off x="9744075" y="4552950"/>
            <a:ext cx="1838325" cy="1076325"/>
          </a:xfrm>
          <a:prstGeom prst="rect">
            <a:avLst/>
          </a:prstGeom>
          <a:solidFill>
            <a:srgbClr val="EAF6F6"/>
          </a:solidFill>
          <a:ln w="14288">
            <a:solidFill>
              <a:srgbClr val="C7D5DF"/>
            </a:solidFill>
            <a:prstDash val="solid"/>
          </a:ln>
        </p:spPr>
        <p:txBody>
          <a:bodyPr wrap="square" lIns="114300" tIns="95250" rIns="114300" bIns="95250" anchor="ctr">
            <a:noAutofit/>
          </a:bodyPr>
          <a:lstStyle>
            <a:defPPr algn="ctr">
              <a:defRPr sz="1725" b="0">
                <a:solidFill>
                  <a:srgbClr val="15253B"/>
                </a:solidFill>
                <a:latin typeface="DejaVu Sans"/>
                <a:ea typeface="DejaVu Sans"/>
                <a:cs typeface="DejaVu Sans"/>
              </a:defRPr>
            </a:defPPr>
          </a:lstStyle>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Gateway 2</a:t>
            </a:r>
          </a:p>
          <a:p>
            <a:pPr algn="ctr">
              <a:buNone/>
              <a:defRPr sz="1725" b="0">
                <a:solidFill>
                  <a:srgbClr val="15253B"/>
                </a:solidFill>
                <a:latin typeface="DejaVu Sans"/>
                <a:ea typeface="DejaVu Sans"/>
                <a:cs typeface="DejaVu Sans"/>
              </a:defRPr>
            </a:pPr>
            <a:r>
              <a:rPr sz="1725" b="0">
                <a:solidFill>
                  <a:srgbClr val="15253B"/>
                </a:solidFill>
                <a:latin typeface="DejaVu Sans"/>
                <a:ea typeface="DejaVu Sans"/>
                <a:cs typeface="DejaVu Sans"/>
              </a:rPr>
              <a:t>Group g2</a:t>
            </a:r>
            <a:br>
              <a:rPr sz="1725" b="0">
                <a:solidFill>
                  <a:srgbClr val="15253B"/>
                </a:solidFill>
                <a:latin typeface="DejaVu Sans"/>
                <a:ea typeface="DejaVu Sans"/>
                <a:cs typeface="DejaVu Sans"/>
              </a:rPr>
            </a:br>
            <a:r>
              <a:rPr sz="1725" b="0">
                <a:solidFill>
                  <a:srgbClr val="15253B"/>
                </a:solidFill>
                <a:latin typeface="DejaVu Sans"/>
                <a:ea typeface="DejaVu Sans"/>
                <a:cs typeface="DejaVu Sans"/>
              </a:rPr>
              <a:t>Socket B</a:t>
            </a:r>
          </a:p>
        </p:txBody>
      </p:sp>
      <p:cxnSp>
        <p:nvCxnSpPr>
          <p:cNvPr id="20" name="diagram-line-230">
            <a:extLst>
              <a:ext uri="{FF2B5EF4-FFF2-40B4-BE49-F238E27FC236}">
                <a16:creationId xmlns:a16="http://schemas.microsoft.com/office/drawing/2014/main" id="{7B2ADE76-FA5F-4895-A486-0E6FECE28E81}"/>
              </a:ext>
            </a:extLst>
          </p:cNvPr>
          <p:cNvCxnSpPr/>
          <p:nvPr/>
        </p:nvCxnSpPr>
        <p:spPr>
          <a:xfrm>
            <a:off x="8610600" y="3686175"/>
            <a:ext cx="523875" cy="95"/>
          </a:xfrm>
          <a:prstGeom prst="straightConnector1">
            <a:avLst/>
          </a:prstGeom>
          <a:ln w="20955">
            <a:solidFill>
              <a:srgbClr val="007E82"/>
            </a:solidFill>
            <a:prstDash val="solid"/>
          </a:ln>
        </p:spPr>
      </p:cxnSp>
      <p:cxnSp>
        <p:nvCxnSpPr>
          <p:cNvPr id="21" name="diagram-line-231">
            <a:extLst>
              <a:ext uri="{FF2B5EF4-FFF2-40B4-BE49-F238E27FC236}">
                <a16:creationId xmlns:a16="http://schemas.microsoft.com/office/drawing/2014/main" id="{90EFE215-5FC4-4722-807B-774FD3576242}"/>
              </a:ext>
            </a:extLst>
          </p:cNvPr>
          <p:cNvCxnSpPr/>
          <p:nvPr/>
        </p:nvCxnSpPr>
        <p:spPr>
          <a:xfrm>
            <a:off x="9134475" y="3219450"/>
            <a:ext cx="95" cy="466725"/>
          </a:xfrm>
          <a:prstGeom prst="straightConnector1">
            <a:avLst/>
          </a:prstGeom>
          <a:ln w="20955">
            <a:solidFill>
              <a:srgbClr val="007E82"/>
            </a:solidFill>
            <a:prstDash val="solid"/>
          </a:ln>
        </p:spPr>
      </p:cxnSp>
      <p:cxnSp>
        <p:nvCxnSpPr>
          <p:cNvPr id="22" name="diagram-line-232">
            <a:extLst>
              <a:ext uri="{FF2B5EF4-FFF2-40B4-BE49-F238E27FC236}">
                <a16:creationId xmlns:a16="http://schemas.microsoft.com/office/drawing/2014/main" id="{05538A71-050B-484B-8323-641327F9EE60}"/>
              </a:ext>
            </a:extLst>
          </p:cNvPr>
          <p:cNvCxnSpPr/>
          <p:nvPr/>
        </p:nvCxnSpPr>
        <p:spPr>
          <a:xfrm>
            <a:off x="9134475" y="3219450"/>
            <a:ext cx="609600" cy="95"/>
          </a:xfrm>
          <a:prstGeom prst="straightConnector1">
            <a:avLst/>
          </a:prstGeom>
          <a:ln w="20955">
            <a:solidFill>
              <a:srgbClr val="007E82"/>
            </a:solidFill>
            <a:prstDash val="solid"/>
            <a:tailEnd type="triangle" w="med" len="med"/>
          </a:ln>
        </p:spPr>
      </p:cxnSp>
      <p:cxnSp>
        <p:nvCxnSpPr>
          <p:cNvPr id="23" name="diagram-line-233">
            <a:extLst>
              <a:ext uri="{FF2B5EF4-FFF2-40B4-BE49-F238E27FC236}">
                <a16:creationId xmlns:a16="http://schemas.microsoft.com/office/drawing/2014/main" id="{F16C16CC-19C1-4C9E-BC2A-A20F8A834967}"/>
              </a:ext>
            </a:extLst>
          </p:cNvPr>
          <p:cNvCxnSpPr/>
          <p:nvPr/>
        </p:nvCxnSpPr>
        <p:spPr>
          <a:xfrm>
            <a:off x="8610600" y="3686175"/>
            <a:ext cx="523875" cy="95"/>
          </a:xfrm>
          <a:prstGeom prst="straightConnector1">
            <a:avLst/>
          </a:prstGeom>
          <a:ln w="20955">
            <a:solidFill>
              <a:srgbClr val="007E82"/>
            </a:solidFill>
            <a:prstDash val="solid"/>
          </a:ln>
        </p:spPr>
      </p:cxnSp>
      <p:cxnSp>
        <p:nvCxnSpPr>
          <p:cNvPr id="24" name="diagram-line-234">
            <a:extLst>
              <a:ext uri="{FF2B5EF4-FFF2-40B4-BE49-F238E27FC236}">
                <a16:creationId xmlns:a16="http://schemas.microsoft.com/office/drawing/2014/main" id="{E575CF69-945D-4F04-B82C-806F9F461558}"/>
              </a:ext>
            </a:extLst>
          </p:cNvPr>
          <p:cNvCxnSpPr/>
          <p:nvPr/>
        </p:nvCxnSpPr>
        <p:spPr>
          <a:xfrm>
            <a:off x="9134475" y="3686175"/>
            <a:ext cx="95" cy="1400175"/>
          </a:xfrm>
          <a:prstGeom prst="straightConnector1">
            <a:avLst/>
          </a:prstGeom>
          <a:ln w="20955">
            <a:solidFill>
              <a:srgbClr val="007E82"/>
            </a:solidFill>
            <a:prstDash val="solid"/>
          </a:ln>
        </p:spPr>
      </p:cxnSp>
      <p:cxnSp>
        <p:nvCxnSpPr>
          <p:cNvPr id="25" name="diagram-line-235">
            <a:extLst>
              <a:ext uri="{FF2B5EF4-FFF2-40B4-BE49-F238E27FC236}">
                <a16:creationId xmlns:a16="http://schemas.microsoft.com/office/drawing/2014/main" id="{706BFF1A-5207-4196-AC26-88849BF72F76}"/>
              </a:ext>
            </a:extLst>
          </p:cNvPr>
          <p:cNvCxnSpPr/>
          <p:nvPr/>
        </p:nvCxnSpPr>
        <p:spPr>
          <a:xfrm>
            <a:off x="9134475" y="5086350"/>
            <a:ext cx="609600" cy="95"/>
          </a:xfrm>
          <a:prstGeom prst="straightConnector1">
            <a:avLst/>
          </a:prstGeom>
          <a:ln w="20955">
            <a:solidFill>
              <a:srgbClr val="007E82"/>
            </a:solidFill>
            <a:prstDash val="solid"/>
            <a:tailEnd type="triangle" w="med" len="med"/>
          </a:ln>
        </p:spPr>
      </p:cxnSp>
      <p:sp>
        <p:nvSpPr>
          <p:cNvPr id="26" name="text-236">
            <a:extLst>
              <a:ext uri="{FF2B5EF4-FFF2-40B4-BE49-F238E27FC236}">
                <a16:creationId xmlns:a16="http://schemas.microsoft.com/office/drawing/2014/main" id="{631845DE-6823-4440-84C0-E4BB7B3E03D1}"/>
              </a:ext>
            </a:extLst>
          </p:cNvPr>
          <p:cNvSpPr>
            <a:spLocks noGrp="1"/>
          </p:cNvSpPr>
          <p:nvPr/>
        </p:nvSpPr>
        <p:spPr>
          <a:xfrm>
            <a:off x="609600" y="5905500"/>
            <a:ext cx="10972800" cy="514350"/>
          </a:xfrm>
          <a:prstGeom prst="rect">
            <a:avLst/>
          </a:prstGeom>
          <a:noFill/>
          <a:ln w="0">
            <a:noFill/>
            <a:prstDash val="solid"/>
          </a:ln>
        </p:spPr>
        <p:txBody>
          <a:bodyPr wrap="square" lIns="0" tIns="0" rIns="0" bIns="0" anchor="t">
            <a:noAutofit/>
          </a:bodyPr>
          <a:lstStyle>
            <a:defPPr algn="l">
              <a:defRPr sz="1800" b="0">
                <a:solidFill>
                  <a:srgbClr val="516177"/>
                </a:solidFill>
                <a:latin typeface="DejaVu Sans"/>
                <a:ea typeface="DejaVu Sans"/>
                <a:cs typeface="DejaVu Sans"/>
              </a:defRPr>
            </a:defPPr>
          </a:lstStyle>
          <a:p>
            <a:pPr algn="l">
              <a:buNone/>
              <a:defRPr sz="1800" b="0">
                <a:solidFill>
                  <a:srgbClr val="516177"/>
                </a:solidFill>
                <a:latin typeface="DejaVu Sans"/>
                <a:ea typeface="DejaVu Sans"/>
                <a:cs typeface="DejaVu Sans"/>
              </a:defRPr>
            </a:pPr>
            <a:r>
              <a:rPr sz="1800" b="0">
                <a:solidFill>
                  <a:srgbClr val="516177"/>
                </a:solidFill>
                <a:latin typeface="DejaVu Sans"/>
                <a:ea typeface="DejaVu Sans"/>
                <a:cs typeface="DejaVu Sans"/>
              </a:rPr>
              <a:t>Mỗi group đọc đủ event rồi chỉ phát các socket local.</a:t>
            </a:r>
          </a:p>
          <a:p>
            <a:pPr algn="l">
              <a:buNone/>
              <a:defRPr sz="1800" b="0">
                <a:solidFill>
                  <a:srgbClr val="516177"/>
                </a:solidFill>
                <a:latin typeface="DejaVu Sans"/>
                <a:ea typeface="DejaVu Sans"/>
                <a:cs typeface="DejaVu Sans"/>
              </a:defRPr>
            </a:pPr>
            <a:r>
              <a:rPr sz="1800" b="0">
                <a:solidFill>
                  <a:srgbClr val="516177"/>
                </a:solidFill>
                <a:latin typeface="DejaVu Sans"/>
                <a:ea typeface="DejaVu Sans"/>
                <a:cs typeface="DejaVu Sans"/>
              </a:rPr>
              <a:t>Chi phí đọc tăng theo số gateway. Quy mô lớn có thể cân nhắc routing user / node.</a:t>
            </a:r>
          </a:p>
        </p:txBody>
      </p:sp>
    </p:spTree>
    <p:extLst>
      <p:ext uri="{BB962C8B-B14F-4D97-AF65-F5344CB8AC3E}">
        <p14:creationId xmlns:p14="http://schemas.microsoft.com/office/powerpoint/2010/main" val="75142802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11186</Words>
  <Application>Microsoft Office PowerPoint</Application>
  <DocSecurity>0</DocSecurity>
  <PresentationFormat>Widescreen</PresentationFormat>
  <Paragraphs>693</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Quốc Đại Đào</cp:lastModifiedBy>
  <cp:revision>1</cp:revision>
  <dcterms:created xsi:type="dcterms:W3CDTF">2026-10-15T09:19:54Z</dcterms:created>
  <dcterms:modified xsi:type="dcterms:W3CDTF">2026-10-15T10:06:16Z</dcterms:modified>
</cp:coreProperties>
</file>